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9" r:id="rId10"/>
    <p:sldId id="260" r:id="rId11"/>
    <p:sldId id="261" r:id="rId12"/>
    <p:sldId id="262" r:id="rId13"/>
    <p:sldId id="263" r:id="rId14"/>
    <p:sldId id="264" r:id="rId15"/>
    <p:sldId id="267" r:id="rId18"/>
    <p:sldId id="268" r:id="rId19"/>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9" r:id="rId29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slide" Target="slides/slide21.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slide" Target="slides/slide25.xml"/><Relationship Id="rId39" Type="http://schemas.openxmlformats.org/officeDocument/2006/relationships/slide" Target="slides/slide26.xml"/><Relationship Id="rId40" Type="http://schemas.openxmlformats.org/officeDocument/2006/relationships/slide" Target="slides/slide27.xml"/><Relationship Id="rId41" Type="http://schemas.openxmlformats.org/officeDocument/2006/relationships/slide" Target="slides/slide28.xml"/><Relationship Id="rId42" Type="http://schemas.openxmlformats.org/officeDocument/2006/relationships/slide" Target="slides/slide29.xml"/><Relationship Id="rId43" Type="http://schemas.openxmlformats.org/officeDocument/2006/relationships/slide" Target="slides/slide30.xml"/><Relationship Id="rId44" Type="http://schemas.openxmlformats.org/officeDocument/2006/relationships/slide" Target="slides/slide31.xml"/><Relationship Id="rId45" Type="http://schemas.openxmlformats.org/officeDocument/2006/relationships/slide" Target="slides/slide32.xml"/><Relationship Id="rId46" Type="http://schemas.openxmlformats.org/officeDocument/2006/relationships/slide" Target="slides/slide33.xml"/><Relationship Id="rId47" Type="http://schemas.openxmlformats.org/officeDocument/2006/relationships/slide" Target="slides/slide34.xml"/><Relationship Id="rId48" Type="http://schemas.openxmlformats.org/officeDocument/2006/relationships/slide" Target="slides/slide35.xml"/><Relationship Id="rId49" Type="http://schemas.openxmlformats.org/officeDocument/2006/relationships/slide" Target="slides/slide36.xml"/><Relationship Id="rId50" Type="http://schemas.openxmlformats.org/officeDocument/2006/relationships/slide" Target="slides/slide37.xml"/><Relationship Id="rId51" Type="http://schemas.openxmlformats.org/officeDocument/2006/relationships/slide" Target="slides/slide38.xml"/><Relationship Id="rId52" Type="http://schemas.openxmlformats.org/officeDocument/2006/relationships/slide" Target="slides/slide39.xml"/><Relationship Id="rId53" Type="http://schemas.openxmlformats.org/officeDocument/2006/relationships/slide" Target="slides/slide40.xml"/><Relationship Id="rId54" Type="http://schemas.openxmlformats.org/officeDocument/2006/relationships/slide" Target="slides/slide41.xml"/><Relationship Id="rId55" Type="http://schemas.openxmlformats.org/officeDocument/2006/relationships/slide" Target="slides/slide42.xml"/><Relationship Id="rId56" Type="http://schemas.openxmlformats.org/officeDocument/2006/relationships/slide" Target="slides/slide43.xml"/><Relationship Id="rId57" Type="http://schemas.openxmlformats.org/officeDocument/2006/relationships/slide" Target="slides/slide44.xml"/><Relationship Id="rId58" Type="http://schemas.openxmlformats.org/officeDocument/2006/relationships/slide" Target="slides/slide45.xml"/><Relationship Id="rId59" Type="http://schemas.openxmlformats.org/officeDocument/2006/relationships/slide" Target="slides/slide46.xml"/><Relationship Id="rId60" Type="http://schemas.openxmlformats.org/officeDocument/2006/relationships/slide" Target="slides/slide47.xml"/><Relationship Id="rId61" Type="http://schemas.openxmlformats.org/officeDocument/2006/relationships/slide" Target="slides/slide48.xml"/><Relationship Id="rId62" Type="http://schemas.openxmlformats.org/officeDocument/2006/relationships/slide" Target="slides/slide49.xml"/><Relationship Id="rId63" Type="http://schemas.openxmlformats.org/officeDocument/2006/relationships/slide" Target="slides/slide50.xml"/><Relationship Id="rId64" Type="http://schemas.openxmlformats.org/officeDocument/2006/relationships/slide" Target="slides/slide51.xml"/><Relationship Id="rId65" Type="http://schemas.openxmlformats.org/officeDocument/2006/relationships/slide" Target="slides/slide52.xml"/><Relationship Id="rId66" Type="http://schemas.openxmlformats.org/officeDocument/2006/relationships/slide" Target="slides/slide53.xml"/><Relationship Id="rId67" Type="http://schemas.openxmlformats.org/officeDocument/2006/relationships/slide" Target="slides/slide54.xml"/><Relationship Id="rId68" Type="http://schemas.openxmlformats.org/officeDocument/2006/relationships/slide" Target="slides/slide55.xml"/><Relationship Id="rId69" Type="http://schemas.openxmlformats.org/officeDocument/2006/relationships/slide" Target="slides/slide56.xml"/><Relationship Id="rId70" Type="http://schemas.openxmlformats.org/officeDocument/2006/relationships/slide" Target="slides/slide57.xml"/><Relationship Id="rId71" Type="http://schemas.openxmlformats.org/officeDocument/2006/relationships/slide" Target="slides/slide58.xml"/><Relationship Id="rId72" Type="http://schemas.openxmlformats.org/officeDocument/2006/relationships/slide" Target="slides/slide59.xml"/><Relationship Id="rId73" Type="http://schemas.openxmlformats.org/officeDocument/2006/relationships/slide" Target="slides/slide60.xml"/><Relationship Id="rId74" Type="http://schemas.openxmlformats.org/officeDocument/2006/relationships/slide" Target="slides/slide61.xml"/><Relationship Id="rId75" Type="http://schemas.openxmlformats.org/officeDocument/2006/relationships/slide" Target="slides/slide62.xml"/><Relationship Id="rId76" Type="http://schemas.openxmlformats.org/officeDocument/2006/relationships/slide" Target="slides/slide63.xml"/><Relationship Id="rId77" Type="http://schemas.openxmlformats.org/officeDocument/2006/relationships/slide" Target="slides/slide64.xml"/><Relationship Id="rId78" Type="http://schemas.openxmlformats.org/officeDocument/2006/relationships/slide" Target="slides/slide65.xml"/><Relationship Id="rId79" Type="http://schemas.openxmlformats.org/officeDocument/2006/relationships/slide" Target="slides/slide66.xml"/><Relationship Id="rId80" Type="http://schemas.openxmlformats.org/officeDocument/2006/relationships/slide" Target="slides/slide67.xml"/><Relationship Id="rId81" Type="http://schemas.openxmlformats.org/officeDocument/2006/relationships/slide" Target="slides/slide68.xml"/><Relationship Id="rId82" Type="http://schemas.openxmlformats.org/officeDocument/2006/relationships/slide" Target="slides/slide69.xml"/><Relationship Id="rId83" Type="http://schemas.openxmlformats.org/officeDocument/2006/relationships/slide" Target="slides/slide70.xml"/><Relationship Id="rId84" Type="http://schemas.openxmlformats.org/officeDocument/2006/relationships/slide" Target="slides/slide71.xml"/><Relationship Id="rId85" Type="http://schemas.openxmlformats.org/officeDocument/2006/relationships/slide" Target="slides/slide72.xml"/><Relationship Id="rId86" Type="http://schemas.openxmlformats.org/officeDocument/2006/relationships/slide" Target="slides/slide73.xml"/><Relationship Id="rId87" Type="http://schemas.openxmlformats.org/officeDocument/2006/relationships/slide" Target="slides/slide74.xml"/><Relationship Id="rId88" Type="http://schemas.openxmlformats.org/officeDocument/2006/relationships/slide" Target="slides/slide75.xml"/><Relationship Id="rId89" Type="http://schemas.openxmlformats.org/officeDocument/2006/relationships/slide" Target="slides/slide76.xml"/><Relationship Id="rId90" Type="http://schemas.openxmlformats.org/officeDocument/2006/relationships/slide" Target="slides/slide77.xml"/><Relationship Id="rId91" Type="http://schemas.openxmlformats.org/officeDocument/2006/relationships/slide" Target="slides/slide78.xml"/><Relationship Id="rId92" Type="http://schemas.openxmlformats.org/officeDocument/2006/relationships/slide" Target="slides/slide79.xml"/><Relationship Id="rId93" Type="http://schemas.openxmlformats.org/officeDocument/2006/relationships/slide" Target="slides/slide80.xml"/><Relationship Id="rId94" Type="http://schemas.openxmlformats.org/officeDocument/2006/relationships/slide" Target="slides/slide81.xml"/><Relationship Id="rId95" Type="http://schemas.openxmlformats.org/officeDocument/2006/relationships/slide" Target="slides/slide82.xml"/><Relationship Id="rId96" Type="http://schemas.openxmlformats.org/officeDocument/2006/relationships/slide" Target="slides/slide83.xml"/><Relationship Id="rId97" Type="http://schemas.openxmlformats.org/officeDocument/2006/relationships/slide" Target="slides/slide84.xml"/><Relationship Id="rId98" Type="http://schemas.openxmlformats.org/officeDocument/2006/relationships/slide" Target="slides/slide85.xml"/><Relationship Id="rId99" Type="http://schemas.openxmlformats.org/officeDocument/2006/relationships/slide" Target="slides/slide86.xml"/><Relationship Id="rId100" Type="http://schemas.openxmlformats.org/officeDocument/2006/relationships/slide" Target="slides/slide87.xml"/><Relationship Id="rId101" Type="http://schemas.openxmlformats.org/officeDocument/2006/relationships/slide" Target="slides/slide88.xml"/><Relationship Id="rId102" Type="http://schemas.openxmlformats.org/officeDocument/2006/relationships/slide" Target="slides/slide89.xml"/><Relationship Id="rId103" Type="http://schemas.openxmlformats.org/officeDocument/2006/relationships/slide" Target="slides/slide90.xml"/><Relationship Id="rId104" Type="http://schemas.openxmlformats.org/officeDocument/2006/relationships/slide" Target="slides/slide91.xml"/><Relationship Id="rId105" Type="http://schemas.openxmlformats.org/officeDocument/2006/relationships/slide" Target="slides/slide92.xml"/><Relationship Id="rId106" Type="http://schemas.openxmlformats.org/officeDocument/2006/relationships/slide" Target="slides/slide93.xml"/><Relationship Id="rId107" Type="http://schemas.openxmlformats.org/officeDocument/2006/relationships/slide" Target="slides/slide94.xml"/><Relationship Id="rId108" Type="http://schemas.openxmlformats.org/officeDocument/2006/relationships/slide" Target="slides/slide95.xml"/><Relationship Id="rId109" Type="http://schemas.openxmlformats.org/officeDocument/2006/relationships/slide" Target="slides/slide96.xml"/><Relationship Id="rId110" Type="http://schemas.openxmlformats.org/officeDocument/2006/relationships/slide" Target="slides/slide97.xml"/><Relationship Id="rId111" Type="http://schemas.openxmlformats.org/officeDocument/2006/relationships/slide" Target="slides/slide98.xml"/><Relationship Id="rId112" Type="http://schemas.openxmlformats.org/officeDocument/2006/relationships/slide" Target="slides/slide99.xml"/><Relationship Id="rId113" Type="http://schemas.openxmlformats.org/officeDocument/2006/relationships/slide" Target="slides/slide100.xml"/><Relationship Id="rId114" Type="http://schemas.openxmlformats.org/officeDocument/2006/relationships/slide" Target="slides/slide101.xml"/><Relationship Id="rId115" Type="http://schemas.openxmlformats.org/officeDocument/2006/relationships/slide" Target="slides/slide102.xml"/><Relationship Id="rId116" Type="http://schemas.openxmlformats.org/officeDocument/2006/relationships/slide" Target="slides/slide103.xml"/><Relationship Id="rId117" Type="http://schemas.openxmlformats.org/officeDocument/2006/relationships/slide" Target="slides/slide104.xml"/><Relationship Id="rId118" Type="http://schemas.openxmlformats.org/officeDocument/2006/relationships/slide" Target="slides/slide105.xml"/><Relationship Id="rId119" Type="http://schemas.openxmlformats.org/officeDocument/2006/relationships/slide" Target="slides/slide106.xml"/><Relationship Id="rId120" Type="http://schemas.openxmlformats.org/officeDocument/2006/relationships/slide" Target="slides/slide107.xml"/><Relationship Id="rId121" Type="http://schemas.openxmlformats.org/officeDocument/2006/relationships/slide" Target="slides/slide108.xml"/><Relationship Id="rId122" Type="http://schemas.openxmlformats.org/officeDocument/2006/relationships/slide" Target="slides/slide109.xml"/><Relationship Id="rId123" Type="http://schemas.openxmlformats.org/officeDocument/2006/relationships/slide" Target="slides/slide110.xml"/><Relationship Id="rId124" Type="http://schemas.openxmlformats.org/officeDocument/2006/relationships/slide" Target="slides/slide111.xml"/><Relationship Id="rId125" Type="http://schemas.openxmlformats.org/officeDocument/2006/relationships/slide" Target="slides/slide112.xml"/><Relationship Id="rId126" Type="http://schemas.openxmlformats.org/officeDocument/2006/relationships/slide" Target="slides/slide113.xml"/><Relationship Id="rId127" Type="http://schemas.openxmlformats.org/officeDocument/2006/relationships/slide" Target="slides/slide114.xml"/><Relationship Id="rId128" Type="http://schemas.openxmlformats.org/officeDocument/2006/relationships/slide" Target="slides/slide115.xml"/><Relationship Id="rId129" Type="http://schemas.openxmlformats.org/officeDocument/2006/relationships/slide" Target="slides/slide116.xml"/><Relationship Id="rId130" Type="http://schemas.openxmlformats.org/officeDocument/2006/relationships/slide" Target="slides/slide117.xml"/><Relationship Id="rId131" Type="http://schemas.openxmlformats.org/officeDocument/2006/relationships/slide" Target="slides/slide118.xml"/><Relationship Id="rId132" Type="http://schemas.openxmlformats.org/officeDocument/2006/relationships/slide" Target="slides/slide119.xml"/><Relationship Id="rId133" Type="http://schemas.openxmlformats.org/officeDocument/2006/relationships/slide" Target="slides/slide120.xml"/><Relationship Id="rId134" Type="http://schemas.openxmlformats.org/officeDocument/2006/relationships/slide" Target="slides/slide121.xml"/><Relationship Id="rId135" Type="http://schemas.openxmlformats.org/officeDocument/2006/relationships/slide" Target="slides/slide122.xml"/><Relationship Id="rId136" Type="http://schemas.openxmlformats.org/officeDocument/2006/relationships/slide" Target="slides/slide123.xml"/><Relationship Id="rId137" Type="http://schemas.openxmlformats.org/officeDocument/2006/relationships/slide" Target="slides/slide124.xml"/><Relationship Id="rId138" Type="http://schemas.openxmlformats.org/officeDocument/2006/relationships/slide" Target="slides/slide125.xml"/><Relationship Id="rId139" Type="http://schemas.openxmlformats.org/officeDocument/2006/relationships/slide" Target="slides/slide126.xml"/><Relationship Id="rId140" Type="http://schemas.openxmlformats.org/officeDocument/2006/relationships/slide" Target="slides/slide127.xml"/><Relationship Id="rId141" Type="http://schemas.openxmlformats.org/officeDocument/2006/relationships/slide" Target="slides/slide128.xml"/><Relationship Id="rId142" Type="http://schemas.openxmlformats.org/officeDocument/2006/relationships/slide" Target="slides/slide129.xml"/><Relationship Id="rId143" Type="http://schemas.openxmlformats.org/officeDocument/2006/relationships/slide" Target="slides/slide130.xml"/><Relationship Id="rId144" Type="http://schemas.openxmlformats.org/officeDocument/2006/relationships/slide" Target="slides/slide131.xml"/><Relationship Id="rId145" Type="http://schemas.openxmlformats.org/officeDocument/2006/relationships/slide" Target="slides/slide132.xml"/><Relationship Id="rId146" Type="http://schemas.openxmlformats.org/officeDocument/2006/relationships/slide" Target="slides/slide133.xml"/><Relationship Id="rId147" Type="http://schemas.openxmlformats.org/officeDocument/2006/relationships/slide" Target="slides/slide134.xml"/><Relationship Id="rId148" Type="http://schemas.openxmlformats.org/officeDocument/2006/relationships/slide" Target="slides/slide135.xml"/><Relationship Id="rId149" Type="http://schemas.openxmlformats.org/officeDocument/2006/relationships/slide" Target="slides/slide136.xml"/><Relationship Id="rId150" Type="http://schemas.openxmlformats.org/officeDocument/2006/relationships/slide" Target="slides/slide137.xml"/><Relationship Id="rId151" Type="http://schemas.openxmlformats.org/officeDocument/2006/relationships/slide" Target="slides/slide138.xml"/><Relationship Id="rId152" Type="http://schemas.openxmlformats.org/officeDocument/2006/relationships/slide" Target="slides/slide139.xml"/><Relationship Id="rId153" Type="http://schemas.openxmlformats.org/officeDocument/2006/relationships/slide" Target="slides/slide140.xml"/><Relationship Id="rId154" Type="http://schemas.openxmlformats.org/officeDocument/2006/relationships/slide" Target="slides/slide141.xml"/><Relationship Id="rId155" Type="http://schemas.openxmlformats.org/officeDocument/2006/relationships/slide" Target="slides/slide142.xml"/><Relationship Id="rId156" Type="http://schemas.openxmlformats.org/officeDocument/2006/relationships/slide" Target="slides/slide143.xml"/><Relationship Id="rId157" Type="http://schemas.openxmlformats.org/officeDocument/2006/relationships/slide" Target="slides/slide144.xml"/><Relationship Id="rId158" Type="http://schemas.openxmlformats.org/officeDocument/2006/relationships/slide" Target="slides/slide145.xml"/><Relationship Id="rId159" Type="http://schemas.openxmlformats.org/officeDocument/2006/relationships/slide" Target="slides/slide146.xml"/><Relationship Id="rId160" Type="http://schemas.openxmlformats.org/officeDocument/2006/relationships/slide" Target="slides/slide147.xml"/><Relationship Id="rId161" Type="http://schemas.openxmlformats.org/officeDocument/2006/relationships/slide" Target="slides/slide148.xml"/><Relationship Id="rId162" Type="http://schemas.openxmlformats.org/officeDocument/2006/relationships/slide" Target="slides/slide149.xml"/><Relationship Id="rId163" Type="http://schemas.openxmlformats.org/officeDocument/2006/relationships/slide" Target="slides/slide150.xml"/><Relationship Id="rId164" Type="http://schemas.openxmlformats.org/officeDocument/2006/relationships/slide" Target="slides/slide151.xml"/><Relationship Id="rId165" Type="http://schemas.openxmlformats.org/officeDocument/2006/relationships/slide" Target="slides/slide152.xml"/><Relationship Id="rId166" Type="http://schemas.openxmlformats.org/officeDocument/2006/relationships/slide" Target="slides/slide153.xml"/><Relationship Id="rId167" Type="http://schemas.openxmlformats.org/officeDocument/2006/relationships/slide" Target="slides/slide154.xml"/><Relationship Id="rId168" Type="http://schemas.openxmlformats.org/officeDocument/2006/relationships/slide" Target="slides/slide155.xml"/><Relationship Id="rId169" Type="http://schemas.openxmlformats.org/officeDocument/2006/relationships/slide" Target="slides/slide156.xml"/><Relationship Id="rId170" Type="http://schemas.openxmlformats.org/officeDocument/2006/relationships/slide" Target="slides/slide157.xml"/><Relationship Id="rId171" Type="http://schemas.openxmlformats.org/officeDocument/2006/relationships/slide" Target="slides/slide158.xml"/><Relationship Id="rId172" Type="http://schemas.openxmlformats.org/officeDocument/2006/relationships/slide" Target="slides/slide159.xml"/><Relationship Id="rId173" Type="http://schemas.openxmlformats.org/officeDocument/2006/relationships/slide" Target="slides/slide160.xml"/><Relationship Id="rId174" Type="http://schemas.openxmlformats.org/officeDocument/2006/relationships/slide" Target="slides/slide161.xml"/><Relationship Id="rId175" Type="http://schemas.openxmlformats.org/officeDocument/2006/relationships/slide" Target="slides/slide162.xml"/><Relationship Id="rId176" Type="http://schemas.openxmlformats.org/officeDocument/2006/relationships/slide" Target="slides/slide163.xml"/><Relationship Id="rId177" Type="http://schemas.openxmlformats.org/officeDocument/2006/relationships/slide" Target="slides/slide164.xml"/><Relationship Id="rId178" Type="http://schemas.openxmlformats.org/officeDocument/2006/relationships/slide" Target="slides/slide165.xml"/><Relationship Id="rId179" Type="http://schemas.openxmlformats.org/officeDocument/2006/relationships/slide" Target="slides/slide166.xml"/><Relationship Id="rId180" Type="http://schemas.openxmlformats.org/officeDocument/2006/relationships/slide" Target="slides/slide167.xml"/><Relationship Id="rId181" Type="http://schemas.openxmlformats.org/officeDocument/2006/relationships/slide" Target="slides/slide168.xml"/><Relationship Id="rId182" Type="http://schemas.openxmlformats.org/officeDocument/2006/relationships/slide" Target="slides/slide169.xml"/><Relationship Id="rId183" Type="http://schemas.openxmlformats.org/officeDocument/2006/relationships/slide" Target="slides/slide170.xml"/><Relationship Id="rId184" Type="http://schemas.openxmlformats.org/officeDocument/2006/relationships/slide" Target="slides/slide171.xml"/><Relationship Id="rId185" Type="http://schemas.openxmlformats.org/officeDocument/2006/relationships/slide" Target="slides/slide172.xml"/><Relationship Id="rId186" Type="http://schemas.openxmlformats.org/officeDocument/2006/relationships/slide" Target="slides/slide173.xml"/><Relationship Id="rId187" Type="http://schemas.openxmlformats.org/officeDocument/2006/relationships/slide" Target="slides/slide174.xml"/><Relationship Id="rId188" Type="http://schemas.openxmlformats.org/officeDocument/2006/relationships/slide" Target="slides/slide175.xml"/><Relationship Id="rId189" Type="http://schemas.openxmlformats.org/officeDocument/2006/relationships/slide" Target="slides/slide176.xml"/><Relationship Id="rId190" Type="http://schemas.openxmlformats.org/officeDocument/2006/relationships/slide" Target="slides/slide177.xml"/><Relationship Id="rId191" Type="http://schemas.openxmlformats.org/officeDocument/2006/relationships/slide" Target="slides/slide178.xml"/><Relationship Id="rId192" Type="http://schemas.openxmlformats.org/officeDocument/2006/relationships/slide" Target="slides/slide179.xml"/><Relationship Id="rId193" Type="http://schemas.openxmlformats.org/officeDocument/2006/relationships/slide" Target="slides/slide180.xml"/><Relationship Id="rId194" Type="http://schemas.openxmlformats.org/officeDocument/2006/relationships/slide" Target="slides/slide181.xml"/><Relationship Id="rId195" Type="http://schemas.openxmlformats.org/officeDocument/2006/relationships/slide" Target="slides/slide182.xml"/><Relationship Id="rId196" Type="http://schemas.openxmlformats.org/officeDocument/2006/relationships/slide" Target="slides/slide183.xml"/><Relationship Id="rId197" Type="http://schemas.openxmlformats.org/officeDocument/2006/relationships/slide" Target="slides/slide184.xml"/><Relationship Id="rId198" Type="http://schemas.openxmlformats.org/officeDocument/2006/relationships/slide" Target="slides/slide185.xml"/><Relationship Id="rId199" Type="http://schemas.openxmlformats.org/officeDocument/2006/relationships/slide" Target="slides/slide186.xml"/><Relationship Id="rId200" Type="http://schemas.openxmlformats.org/officeDocument/2006/relationships/slide" Target="slides/slide187.xml"/><Relationship Id="rId201" Type="http://schemas.openxmlformats.org/officeDocument/2006/relationships/slide" Target="slides/slide188.xml"/><Relationship Id="rId202" Type="http://schemas.openxmlformats.org/officeDocument/2006/relationships/slide" Target="slides/slide189.xml"/><Relationship Id="rId203" Type="http://schemas.openxmlformats.org/officeDocument/2006/relationships/slide" Target="slides/slide190.xml"/><Relationship Id="rId204" Type="http://schemas.openxmlformats.org/officeDocument/2006/relationships/slide" Target="slides/slide191.xml"/><Relationship Id="rId205" Type="http://schemas.openxmlformats.org/officeDocument/2006/relationships/slide" Target="slides/slide192.xml"/><Relationship Id="rId206" Type="http://schemas.openxmlformats.org/officeDocument/2006/relationships/slide" Target="slides/slide193.xml"/><Relationship Id="rId207" Type="http://schemas.openxmlformats.org/officeDocument/2006/relationships/slide" Target="slides/slide194.xml"/><Relationship Id="rId208" Type="http://schemas.openxmlformats.org/officeDocument/2006/relationships/slide" Target="slides/slide195.xml"/><Relationship Id="rId209" Type="http://schemas.openxmlformats.org/officeDocument/2006/relationships/slide" Target="slides/slide196.xml"/><Relationship Id="rId210" Type="http://schemas.openxmlformats.org/officeDocument/2006/relationships/slide" Target="slides/slide197.xml"/><Relationship Id="rId211" Type="http://schemas.openxmlformats.org/officeDocument/2006/relationships/slide" Target="slides/slide198.xml"/><Relationship Id="rId212" Type="http://schemas.openxmlformats.org/officeDocument/2006/relationships/slide" Target="slides/slide199.xml"/><Relationship Id="rId213" Type="http://schemas.openxmlformats.org/officeDocument/2006/relationships/slide" Target="slides/slide200.xml"/><Relationship Id="rId214" Type="http://schemas.openxmlformats.org/officeDocument/2006/relationships/slide" Target="slides/slide201.xml"/><Relationship Id="rId215" Type="http://schemas.openxmlformats.org/officeDocument/2006/relationships/slide" Target="slides/slide202.xml"/><Relationship Id="rId216" Type="http://schemas.openxmlformats.org/officeDocument/2006/relationships/slide" Target="slides/slide203.xml"/><Relationship Id="rId217" Type="http://schemas.openxmlformats.org/officeDocument/2006/relationships/slide" Target="slides/slide204.xml"/><Relationship Id="rId218" Type="http://schemas.openxmlformats.org/officeDocument/2006/relationships/slide" Target="slides/slide205.xml"/><Relationship Id="rId219" Type="http://schemas.openxmlformats.org/officeDocument/2006/relationships/slide" Target="slides/slide206.xml"/><Relationship Id="rId220" Type="http://schemas.openxmlformats.org/officeDocument/2006/relationships/slide" Target="slides/slide207.xml"/><Relationship Id="rId221" Type="http://schemas.openxmlformats.org/officeDocument/2006/relationships/slide" Target="slides/slide208.xml"/><Relationship Id="rId222" Type="http://schemas.openxmlformats.org/officeDocument/2006/relationships/slide" Target="slides/slide209.xml"/><Relationship Id="rId223" Type="http://schemas.openxmlformats.org/officeDocument/2006/relationships/slide" Target="slides/slide210.xml"/><Relationship Id="rId224" Type="http://schemas.openxmlformats.org/officeDocument/2006/relationships/slide" Target="slides/slide211.xml"/><Relationship Id="rId225" Type="http://schemas.openxmlformats.org/officeDocument/2006/relationships/slide" Target="slides/slide212.xml"/><Relationship Id="rId226" Type="http://schemas.openxmlformats.org/officeDocument/2006/relationships/slide" Target="slides/slide213.xml"/><Relationship Id="rId227" Type="http://schemas.openxmlformats.org/officeDocument/2006/relationships/slide" Target="slides/slide214.xml"/><Relationship Id="rId228" Type="http://schemas.openxmlformats.org/officeDocument/2006/relationships/slide" Target="slides/slide215.xml"/><Relationship Id="rId229" Type="http://schemas.openxmlformats.org/officeDocument/2006/relationships/slide" Target="slides/slide216.xml"/><Relationship Id="rId230" Type="http://schemas.openxmlformats.org/officeDocument/2006/relationships/slide" Target="slides/slide217.xml"/><Relationship Id="rId231" Type="http://schemas.openxmlformats.org/officeDocument/2006/relationships/slide" Target="slides/slide218.xml"/><Relationship Id="rId232" Type="http://schemas.openxmlformats.org/officeDocument/2006/relationships/slide" Target="slides/slide219.xml"/><Relationship Id="rId233" Type="http://schemas.openxmlformats.org/officeDocument/2006/relationships/slide" Target="slides/slide220.xml"/><Relationship Id="rId234" Type="http://schemas.openxmlformats.org/officeDocument/2006/relationships/slide" Target="slides/slide221.xml"/><Relationship Id="rId235" Type="http://schemas.openxmlformats.org/officeDocument/2006/relationships/slide" Target="slides/slide222.xml"/><Relationship Id="rId236" Type="http://schemas.openxmlformats.org/officeDocument/2006/relationships/slide" Target="slides/slide223.xml"/><Relationship Id="rId237" Type="http://schemas.openxmlformats.org/officeDocument/2006/relationships/slide" Target="slides/slide224.xml"/><Relationship Id="rId238" Type="http://schemas.openxmlformats.org/officeDocument/2006/relationships/slide" Target="slides/slide225.xml"/><Relationship Id="rId239" Type="http://schemas.openxmlformats.org/officeDocument/2006/relationships/slide" Target="slides/slide226.xml"/><Relationship Id="rId240" Type="http://schemas.openxmlformats.org/officeDocument/2006/relationships/slide" Target="slides/slide227.xml"/><Relationship Id="rId241" Type="http://schemas.openxmlformats.org/officeDocument/2006/relationships/slide" Target="slides/slide228.xml"/><Relationship Id="rId242" Type="http://schemas.openxmlformats.org/officeDocument/2006/relationships/slide" Target="slides/slide229.xml"/><Relationship Id="rId243" Type="http://schemas.openxmlformats.org/officeDocument/2006/relationships/slide" Target="slides/slide230.xml"/><Relationship Id="rId244" Type="http://schemas.openxmlformats.org/officeDocument/2006/relationships/slide" Target="slides/slide231.xml"/><Relationship Id="rId245" Type="http://schemas.openxmlformats.org/officeDocument/2006/relationships/slide" Target="slides/slide232.xml"/><Relationship Id="rId246" Type="http://schemas.openxmlformats.org/officeDocument/2006/relationships/slide" Target="slides/slide233.xml"/><Relationship Id="rId247" Type="http://schemas.openxmlformats.org/officeDocument/2006/relationships/slide" Target="slides/slide234.xml"/><Relationship Id="rId248" Type="http://schemas.openxmlformats.org/officeDocument/2006/relationships/slide" Target="slides/slide235.xml"/><Relationship Id="rId249" Type="http://schemas.openxmlformats.org/officeDocument/2006/relationships/slide" Target="slides/slide236.xml"/><Relationship Id="rId250" Type="http://schemas.openxmlformats.org/officeDocument/2006/relationships/slide" Target="slides/slide237.xml"/><Relationship Id="rId251" Type="http://schemas.openxmlformats.org/officeDocument/2006/relationships/slide" Target="slides/slide238.xml"/><Relationship Id="rId252" Type="http://schemas.openxmlformats.org/officeDocument/2006/relationships/slide" Target="slides/slide239.xml"/><Relationship Id="rId253" Type="http://schemas.openxmlformats.org/officeDocument/2006/relationships/slide" Target="slides/slide240.xml"/><Relationship Id="rId254" Type="http://schemas.openxmlformats.org/officeDocument/2006/relationships/slide" Target="slides/slide241.xml"/><Relationship Id="rId255" Type="http://schemas.openxmlformats.org/officeDocument/2006/relationships/slide" Target="slides/slide242.xml"/><Relationship Id="rId256" Type="http://schemas.openxmlformats.org/officeDocument/2006/relationships/slide" Target="slides/slide243.xml"/><Relationship Id="rId257" Type="http://schemas.openxmlformats.org/officeDocument/2006/relationships/slide" Target="slides/slide244.xml"/><Relationship Id="rId258" Type="http://schemas.openxmlformats.org/officeDocument/2006/relationships/slide" Target="slides/slide245.xml"/><Relationship Id="rId259" Type="http://schemas.openxmlformats.org/officeDocument/2006/relationships/slide" Target="slides/slide246.xml"/><Relationship Id="rId260" Type="http://schemas.openxmlformats.org/officeDocument/2006/relationships/slide" Target="slides/slide247.xml"/><Relationship Id="rId261" Type="http://schemas.openxmlformats.org/officeDocument/2006/relationships/slide" Target="slides/slide248.xml"/><Relationship Id="rId262" Type="http://schemas.openxmlformats.org/officeDocument/2006/relationships/slide" Target="slides/slide249.xml"/><Relationship Id="rId263" Type="http://schemas.openxmlformats.org/officeDocument/2006/relationships/slide" Target="slides/slide250.xml"/><Relationship Id="rId264" Type="http://schemas.openxmlformats.org/officeDocument/2006/relationships/slide" Target="slides/slide251.xml"/><Relationship Id="rId265" Type="http://schemas.openxmlformats.org/officeDocument/2006/relationships/slide" Target="slides/slide252.xml"/><Relationship Id="rId266" Type="http://schemas.openxmlformats.org/officeDocument/2006/relationships/slide" Target="slides/slide253.xml"/><Relationship Id="rId267" Type="http://schemas.openxmlformats.org/officeDocument/2006/relationships/slide" Target="slides/slide254.xml"/><Relationship Id="rId268" Type="http://schemas.openxmlformats.org/officeDocument/2006/relationships/slide" Target="slides/slide255.xml"/><Relationship Id="rId269" Type="http://schemas.openxmlformats.org/officeDocument/2006/relationships/slide" Target="slides/slide256.xml"/><Relationship Id="rId270" Type="http://schemas.openxmlformats.org/officeDocument/2006/relationships/slide" Target="slides/slide257.xml"/><Relationship Id="rId271" Type="http://schemas.openxmlformats.org/officeDocument/2006/relationships/slide" Target="slides/slide258.xml"/><Relationship Id="rId272" Type="http://schemas.openxmlformats.org/officeDocument/2006/relationships/slide" Target="slides/slide259.xml"/><Relationship Id="rId273" Type="http://schemas.openxmlformats.org/officeDocument/2006/relationships/slide" Target="slides/slide260.xml"/><Relationship Id="rId274" Type="http://schemas.openxmlformats.org/officeDocument/2006/relationships/slide" Target="slides/slide261.xml"/><Relationship Id="rId275" Type="http://schemas.openxmlformats.org/officeDocument/2006/relationships/slide" Target="slides/slide262.xml"/><Relationship Id="rId276" Type="http://schemas.openxmlformats.org/officeDocument/2006/relationships/slide" Target="slides/slide263.xml"/><Relationship Id="rId277" Type="http://schemas.openxmlformats.org/officeDocument/2006/relationships/slide" Target="slides/slide264.xml"/><Relationship Id="rId278" Type="http://schemas.openxmlformats.org/officeDocument/2006/relationships/slide" Target="slides/slide265.xml"/><Relationship Id="rId279" Type="http://schemas.openxmlformats.org/officeDocument/2006/relationships/slide" Target="slides/slide266.xml"/><Relationship Id="rId280" Type="http://schemas.openxmlformats.org/officeDocument/2006/relationships/slide" Target="slides/slide267.xml"/><Relationship Id="rId281" Type="http://schemas.openxmlformats.org/officeDocument/2006/relationships/slide" Target="slides/slide268.xml"/><Relationship Id="rId282" Type="http://schemas.openxmlformats.org/officeDocument/2006/relationships/slide" Target="slides/slide269.xml"/><Relationship Id="rId283" Type="http://schemas.openxmlformats.org/officeDocument/2006/relationships/slide" Target="slides/slide270.xml"/><Relationship Id="rId284" Type="http://schemas.openxmlformats.org/officeDocument/2006/relationships/slide" Target="slides/slide271.xml"/><Relationship Id="rId285" Type="http://schemas.openxmlformats.org/officeDocument/2006/relationships/slide" Target="slides/slide272.xml"/><Relationship Id="rId290" Type="http://schemas.openxmlformats.org/officeDocument/2006/relationships/slide" Target="slides/slide27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pic>
        <p:nvPicPr>
          <p:cNvPr id="6" name="Picture 5" descr="genai-pm-badge.png"/>
          <p:cNvPicPr>
            <a:picLocks noChangeAspect="1"/>
          </p:cNvPicPr>
          <p:nvPr/>
        </p:nvPicPr>
        <p:blipFill>
          <a:blip r:embed="rId3"/>
          <a:stretch>
            <a:fillRect/>
          </a:stretch>
        </p:blipFill>
        <p:spPr>
          <a:xfrm>
            <a:off x="9692640" y="548640"/>
            <a:ext cx="1783080" cy="1220002"/>
          </a:xfrm>
          <a:prstGeom prst="rect">
            <a:avLst/>
          </a:prstGeom>
        </p:spPr>
      </p:pic>
      <p:sp>
        <p:nvSpPr>
          <p:cNvPr id="7" name="TextBox 6"/>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MASTER TRAINER SLIDES  ·  NON-WSQ</a:t>
            </a:r>
          </a:p>
        </p:txBody>
      </p:sp>
      <p:sp>
        <p:nvSpPr>
          <p:cNvPr id="8" name="TextBox 7"/>
          <p:cNvSpPr txBox="1"/>
          <p:nvPr/>
        </p:nvSpPr>
        <p:spPr>
          <a:xfrm>
            <a:off x="822960" y="2606040"/>
            <a:ext cx="10607040" cy="1737360"/>
          </a:xfrm>
          <a:prstGeom prst="rect">
            <a:avLst/>
          </a:prstGeom>
          <a:noFill/>
        </p:spPr>
        <p:txBody>
          <a:bodyPr wrap="square" anchor="t">
            <a:spAutoFit/>
          </a:bodyPr>
          <a:lstStyle/>
          <a:p>
            <a:pPr algn="l">
              <a:spcAft>
                <a:spcPts val="400"/>
              </a:spcAft>
            </a:pPr>
            <a:r>
              <a:rPr sz="4000" b="1">
                <a:solidFill>
                  <a:srgbClr val="161B26"/>
                </a:solidFill>
                <a:latin typeface="Arial"/>
              </a:rPr>
              <a:t>Generative AI for Project Management</a:t>
            </a:r>
          </a:p>
        </p:txBody>
      </p:sp>
      <p:sp>
        <p:nvSpPr>
          <p:cNvPr id="9" name="Rectangle 8"/>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C013</a:t>
            </a:r>
          </a:p>
          <a:p>
            <a:r>
              <a:rPr sz="1600" b="0">
                <a:latin typeface="Arial"/>
              </a:rPr>
              <a:t>Conducted by Tertiary Infotech Academy Pte Ltd  ·  UEN: 201200696W</a:t>
            </a:r>
          </a:p>
        </p:txBody>
      </p:sp>
      <p:sp>
        <p:nvSpPr>
          <p:cNvPr id="11" name="TextBox 10"/>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19 September 2026</a:t>
            </a:r>
          </a:p>
        </p:txBody>
      </p:sp>
      <p:sp>
        <p:nvSpPr>
          <p:cNvPr id="12" name="TextBox 11"/>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950976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3800" b="1">
                <a:solidFill>
                  <a:srgbClr val="161B26"/>
                </a:solidFill>
                <a:latin typeface="Arial"/>
              </a:rPr>
              <a:t>Welcome &amp; Housekeeping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3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EXPERTISE</a:t>
            </a:r>
          </a:p>
          <a:p>
            <a:pPr algn="l">
              <a:spcAft>
                <a:spcPts val="300"/>
              </a:spcAft>
            </a:pPr>
            <a:r>
              <a:rPr sz="1300" b="0">
                <a:solidFill>
                  <a:srgbClr val="161B26"/>
                </a:solidFill>
                <a:latin typeface="Arial"/>
              </a:rPr>
              <a:t>Project management, generative AI adoption and digital transformation.</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300" b="0">
                <a:solidFill>
                  <a:srgbClr val="161B26"/>
                </a:solidFill>
                <a:latin typeface="Arial"/>
              </a:rPr>
              <a:t>Courses on project management, business analysis and applied generative AI.</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3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Who you are</a:t>
            </a:r>
          </a:p>
          <a:p>
            <a:pPr algn="l">
              <a:spcAft>
                <a:spcPts val="300"/>
              </a:spcAft>
            </a:pPr>
            <a:r>
              <a:rPr sz="1200" b="0">
                <a:solidFill>
                  <a:srgbClr val="5B6372"/>
                </a:solidFill>
                <a:latin typeface="Arial"/>
              </a:rPr>
              <a:t>Your name, organisation and role.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What you run</a:t>
            </a:r>
          </a:p>
          <a:p>
            <a:pPr algn="l">
              <a:spcAft>
                <a:spcPts val="300"/>
              </a:spcAft>
            </a:pPr>
            <a:r>
              <a:rPr sz="1200" b="0">
                <a:solidFill>
                  <a:srgbClr val="5B6372"/>
                </a:solidFill>
                <a:latin typeface="Arial"/>
              </a:rPr>
              <a:t>The kind of projects you manage — size, industry and team.</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What you use</a:t>
            </a:r>
          </a:p>
          <a:p>
            <a:pPr algn="l">
              <a:spcAft>
                <a:spcPts val="300"/>
              </a:spcAft>
            </a:pPr>
            <a:r>
              <a:rPr sz="1200" b="0">
                <a:solidFill>
                  <a:srgbClr val="5B6372"/>
                </a:solidFill>
                <a:latin typeface="Arial"/>
              </a:rPr>
              <a:t>Which GenAI tools you already use, and what for.</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What you want</a:t>
            </a:r>
          </a:p>
          <a:p>
            <a:pPr algn="l">
              <a:spcAft>
                <a:spcPts val="300"/>
              </a:spcAft>
            </a:pPr>
            <a:r>
              <a:rPr sz="1200" b="0">
                <a:solidFill>
                  <a:srgbClr val="5B6372"/>
                </a:solidFill>
                <a:latin typeface="Arial"/>
              </a:rPr>
              <a:t>One project task you would most like GenAI to take off your hands.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Full attendance — attend both days to get the most from the course.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  ·  LMS / TMS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Download Your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6766560" cy="397763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766560" cy="4754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1984248"/>
            <a:ext cx="155448" cy="155448"/>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34440" y="1984248"/>
            <a:ext cx="155448" cy="1554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508760" y="1984248"/>
            <a:ext cx="155448" cy="1554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920240" y="1938528"/>
            <a:ext cx="5349240"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57400" y="1938528"/>
            <a:ext cx="5212080" cy="274320"/>
          </a:xfrm>
          <a:prstGeom prst="rect">
            <a:avLst/>
          </a:prstGeom>
          <a:noFill/>
        </p:spPr>
        <p:txBody>
          <a:bodyPr wrap="square" anchor="ctr">
            <a:spAutoFit/>
          </a:bodyPr>
          <a:lstStyle/>
          <a:p>
            <a:pPr algn="l">
              <a:spcAft>
                <a:spcPts val="400"/>
              </a:spcAft>
            </a:pPr>
            <a:r>
              <a:rPr sz="1100" b="0">
                <a:solidFill>
                  <a:srgbClr val="5B6372"/>
                </a:solidFill>
                <a:latin typeface="Arial"/>
              </a:rPr>
              <a:t>🔒  lms-tms.tertiaryinfotech.com</a:t>
            </a:r>
          </a:p>
        </p:txBody>
      </p:sp>
      <p:sp>
        <p:nvSpPr>
          <p:cNvPr id="14" name="TextBox 13"/>
          <p:cNvSpPr txBox="1"/>
          <p:nvPr/>
        </p:nvSpPr>
        <p:spPr>
          <a:xfrm>
            <a:off x="1051560" y="2487168"/>
            <a:ext cx="6217920" cy="365760"/>
          </a:xfrm>
          <a:prstGeom prst="rect">
            <a:avLst/>
          </a:prstGeom>
          <a:noFill/>
        </p:spPr>
        <p:txBody>
          <a:bodyPr wrap="square" anchor="t">
            <a:spAutoFit/>
          </a:bodyPr>
          <a:lstStyle/>
          <a:p>
            <a:pPr algn="l">
              <a:spcAft>
                <a:spcPts val="400"/>
              </a:spcAft>
            </a:pPr>
            <a:r>
              <a:rPr sz="1200" b="1">
                <a:solidFill>
                  <a:srgbClr val="161B26"/>
                </a:solidFill>
                <a:latin typeface="Arial"/>
              </a:rPr>
              <a:t>My Courses  ›  Generative AI for Project Management</a:t>
            </a:r>
          </a:p>
        </p:txBody>
      </p:sp>
      <p:sp>
        <p:nvSpPr>
          <p:cNvPr id="15" name="Rectangle 14"/>
          <p:cNvSpPr/>
          <p:nvPr/>
        </p:nvSpPr>
        <p:spPr>
          <a:xfrm>
            <a:off x="1051560" y="2971800"/>
            <a:ext cx="6217920" cy="53035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88720" y="2971800"/>
            <a:ext cx="457200" cy="530352"/>
          </a:xfrm>
          <a:prstGeom prst="rect">
            <a:avLst/>
          </a:prstGeom>
          <a:noFill/>
        </p:spPr>
        <p:txBody>
          <a:bodyPr wrap="square" anchor="ctr">
            <a:spAutoFit/>
          </a:bodyPr>
          <a:lstStyle/>
          <a:p>
            <a:pPr algn="l">
              <a:spcAft>
                <a:spcPts val="400"/>
              </a:spcAft>
            </a:pPr>
            <a:r>
              <a:rPr sz="1700" b="0">
                <a:solidFill>
                  <a:srgbClr val="161B26"/>
                </a:solidFill>
                <a:latin typeface="Arial"/>
              </a:rPr>
              <a:t>📊</a:t>
            </a:r>
          </a:p>
        </p:txBody>
      </p:sp>
      <p:sp>
        <p:nvSpPr>
          <p:cNvPr id="17" name="TextBox 16"/>
          <p:cNvSpPr txBox="1"/>
          <p:nvPr/>
        </p:nvSpPr>
        <p:spPr>
          <a:xfrm>
            <a:off x="1691640" y="2971800"/>
            <a:ext cx="3657600" cy="530352"/>
          </a:xfrm>
          <a:prstGeom prst="rect">
            <a:avLst/>
          </a:prstGeom>
          <a:noFill/>
        </p:spPr>
        <p:txBody>
          <a:bodyPr wrap="square" anchor="ctr">
            <a:spAutoFit/>
          </a:bodyPr>
          <a:lstStyle/>
          <a:p>
            <a:pPr algn="l">
              <a:spcAft>
                <a:spcPts val="400"/>
              </a:spcAft>
            </a:pPr>
            <a:r>
              <a:rPr sz="1300" b="0">
                <a:solidFill>
                  <a:srgbClr val="161B26"/>
                </a:solidFill>
                <a:latin typeface="Arial"/>
              </a:rPr>
              <a:t>Trainer Slides (PPT)</a:t>
            </a:r>
          </a:p>
        </p:txBody>
      </p:sp>
      <p:sp>
        <p:nvSpPr>
          <p:cNvPr id="18" name="Rectangle 17"/>
          <p:cNvSpPr/>
          <p:nvPr/>
        </p:nvSpPr>
        <p:spPr>
          <a:xfrm>
            <a:off x="6126480" y="3090672"/>
            <a:ext cx="1051560" cy="2926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6480" y="3090672"/>
            <a:ext cx="1051560" cy="292608"/>
          </a:xfrm>
          <a:prstGeom prst="rect">
            <a:avLst/>
          </a:prstGeom>
          <a:noFill/>
        </p:spPr>
        <p:txBody>
          <a:bodyPr wrap="square" anchor="ctr">
            <a:spAutoFit/>
          </a:bodyPr>
          <a:lstStyle/>
          <a:p>
            <a:pPr algn="ctr">
              <a:spcAft>
                <a:spcPts val="400"/>
              </a:spcAft>
            </a:pPr>
            <a:r>
              <a:rPr sz="1000" b="1">
                <a:solidFill>
                  <a:srgbClr val="FFFFFF"/>
                </a:solidFill>
                <a:latin typeface="Arial"/>
              </a:rPr>
              <a:t>Download</a:t>
            </a:r>
          </a:p>
        </p:txBody>
      </p:sp>
      <p:sp>
        <p:nvSpPr>
          <p:cNvPr id="20" name="Rectangle 19"/>
          <p:cNvSpPr/>
          <p:nvPr/>
        </p:nvSpPr>
        <p:spPr>
          <a:xfrm>
            <a:off x="1051560" y="3630168"/>
            <a:ext cx="6217920" cy="53035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88720" y="3630168"/>
            <a:ext cx="457200" cy="530352"/>
          </a:xfrm>
          <a:prstGeom prst="rect">
            <a:avLst/>
          </a:prstGeom>
          <a:noFill/>
        </p:spPr>
        <p:txBody>
          <a:bodyPr wrap="square" anchor="ctr">
            <a:spAutoFit/>
          </a:bodyPr>
          <a:lstStyle/>
          <a:p>
            <a:pPr algn="l">
              <a:spcAft>
                <a:spcPts val="400"/>
              </a:spcAft>
            </a:pPr>
            <a:r>
              <a:rPr sz="1700" b="0">
                <a:solidFill>
                  <a:srgbClr val="161B26"/>
                </a:solidFill>
                <a:latin typeface="Arial"/>
              </a:rPr>
              <a:t>📕</a:t>
            </a:r>
          </a:p>
        </p:txBody>
      </p:sp>
      <p:sp>
        <p:nvSpPr>
          <p:cNvPr id="22" name="TextBox 21"/>
          <p:cNvSpPr txBox="1"/>
          <p:nvPr/>
        </p:nvSpPr>
        <p:spPr>
          <a:xfrm>
            <a:off x="1691640" y="3630168"/>
            <a:ext cx="3657600" cy="530352"/>
          </a:xfrm>
          <a:prstGeom prst="rect">
            <a:avLst/>
          </a:prstGeom>
          <a:noFill/>
        </p:spPr>
        <p:txBody>
          <a:bodyPr wrap="square" anchor="ctr">
            <a:spAutoFit/>
          </a:bodyPr>
          <a:lstStyle/>
          <a:p>
            <a:pPr algn="l">
              <a:spcAft>
                <a:spcPts val="400"/>
              </a:spcAft>
            </a:pPr>
            <a:r>
              <a:rPr sz="1300" b="0">
                <a:solidFill>
                  <a:srgbClr val="161B26"/>
                </a:solidFill>
                <a:latin typeface="Arial"/>
              </a:rPr>
              <a:t>Learner Guide (PDF)</a:t>
            </a:r>
          </a:p>
        </p:txBody>
      </p:sp>
      <p:sp>
        <p:nvSpPr>
          <p:cNvPr id="23" name="Rectangle 22"/>
          <p:cNvSpPr/>
          <p:nvPr/>
        </p:nvSpPr>
        <p:spPr>
          <a:xfrm>
            <a:off x="6126480" y="3749040"/>
            <a:ext cx="1051560" cy="2926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26480" y="3749040"/>
            <a:ext cx="1051560" cy="292608"/>
          </a:xfrm>
          <a:prstGeom prst="rect">
            <a:avLst/>
          </a:prstGeom>
          <a:noFill/>
        </p:spPr>
        <p:txBody>
          <a:bodyPr wrap="square" anchor="ctr">
            <a:spAutoFit/>
          </a:bodyPr>
          <a:lstStyle/>
          <a:p>
            <a:pPr algn="ctr">
              <a:spcAft>
                <a:spcPts val="400"/>
              </a:spcAft>
            </a:pPr>
            <a:r>
              <a:rPr sz="1000" b="1">
                <a:solidFill>
                  <a:srgbClr val="FFFFFF"/>
                </a:solidFill>
                <a:latin typeface="Arial"/>
              </a:rPr>
              <a:t>Download</a:t>
            </a:r>
          </a:p>
        </p:txBody>
      </p:sp>
      <p:sp>
        <p:nvSpPr>
          <p:cNvPr id="25" name="Rectangle 24"/>
          <p:cNvSpPr/>
          <p:nvPr/>
        </p:nvSpPr>
        <p:spPr>
          <a:xfrm>
            <a:off x="1051560" y="4288536"/>
            <a:ext cx="6217920" cy="53035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88720" y="4288536"/>
            <a:ext cx="457200" cy="530352"/>
          </a:xfrm>
          <a:prstGeom prst="rect">
            <a:avLst/>
          </a:prstGeom>
          <a:noFill/>
        </p:spPr>
        <p:txBody>
          <a:bodyPr wrap="square" anchor="ctr">
            <a:spAutoFit/>
          </a:bodyPr>
          <a:lstStyle/>
          <a:p>
            <a:pPr algn="l">
              <a:spcAft>
                <a:spcPts val="400"/>
              </a:spcAft>
            </a:pPr>
            <a:r>
              <a:rPr sz="1700" b="0">
                <a:solidFill>
                  <a:srgbClr val="161B26"/>
                </a:solidFill>
                <a:latin typeface="Arial"/>
              </a:rPr>
              <a:t>🗓</a:t>
            </a:r>
          </a:p>
        </p:txBody>
      </p:sp>
      <p:sp>
        <p:nvSpPr>
          <p:cNvPr id="27" name="TextBox 26"/>
          <p:cNvSpPr txBox="1"/>
          <p:nvPr/>
        </p:nvSpPr>
        <p:spPr>
          <a:xfrm>
            <a:off x="1691640" y="4288536"/>
            <a:ext cx="3657600" cy="530352"/>
          </a:xfrm>
          <a:prstGeom prst="rect">
            <a:avLst/>
          </a:prstGeom>
          <a:noFill/>
        </p:spPr>
        <p:txBody>
          <a:bodyPr wrap="square" anchor="ctr">
            <a:spAutoFit/>
          </a:bodyPr>
          <a:lstStyle/>
          <a:p>
            <a:pPr algn="l">
              <a:spcAft>
                <a:spcPts val="400"/>
              </a:spcAft>
            </a:pPr>
            <a:r>
              <a:rPr sz="1300" b="0">
                <a:solidFill>
                  <a:srgbClr val="161B26"/>
                </a:solidFill>
                <a:latin typeface="Arial"/>
              </a:rPr>
              <a:t>Lesson Plan (PDF)</a:t>
            </a:r>
          </a:p>
        </p:txBody>
      </p:sp>
      <p:sp>
        <p:nvSpPr>
          <p:cNvPr id="28" name="Rectangle 27"/>
          <p:cNvSpPr/>
          <p:nvPr/>
        </p:nvSpPr>
        <p:spPr>
          <a:xfrm>
            <a:off x="6126480" y="4407408"/>
            <a:ext cx="1051560" cy="2926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26480" y="4407408"/>
            <a:ext cx="1051560" cy="292608"/>
          </a:xfrm>
          <a:prstGeom prst="rect">
            <a:avLst/>
          </a:prstGeom>
          <a:noFill/>
        </p:spPr>
        <p:txBody>
          <a:bodyPr wrap="square" anchor="ctr">
            <a:spAutoFit/>
          </a:bodyPr>
          <a:lstStyle/>
          <a:p>
            <a:pPr algn="ctr">
              <a:spcAft>
                <a:spcPts val="400"/>
              </a:spcAft>
            </a:pPr>
            <a:r>
              <a:rPr sz="1000" b="1">
                <a:solidFill>
                  <a:srgbClr val="FFFFFF"/>
                </a:solidFill>
                <a:latin typeface="Arial"/>
              </a:rPr>
              <a:t>Download</a:t>
            </a:r>
          </a:p>
        </p:txBody>
      </p:sp>
      <p:sp>
        <p:nvSpPr>
          <p:cNvPr id="30" name="Rectangle 29"/>
          <p:cNvSpPr/>
          <p:nvPr/>
        </p:nvSpPr>
        <p:spPr>
          <a:xfrm>
            <a:off x="1051560" y="4946904"/>
            <a:ext cx="6217920" cy="53035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88720" y="4946904"/>
            <a:ext cx="457200" cy="530352"/>
          </a:xfrm>
          <a:prstGeom prst="rect">
            <a:avLst/>
          </a:prstGeom>
          <a:noFill/>
        </p:spPr>
        <p:txBody>
          <a:bodyPr wrap="square" anchor="ctr">
            <a:spAutoFit/>
          </a:bodyPr>
          <a:lstStyle/>
          <a:p>
            <a:pPr algn="l">
              <a:spcAft>
                <a:spcPts val="400"/>
              </a:spcAft>
            </a:pPr>
            <a:r>
              <a:rPr sz="1700" b="0">
                <a:solidFill>
                  <a:srgbClr val="161B26"/>
                </a:solidFill>
                <a:latin typeface="Arial"/>
              </a:rPr>
              <a:t>🧪</a:t>
            </a:r>
          </a:p>
        </p:txBody>
      </p:sp>
      <p:sp>
        <p:nvSpPr>
          <p:cNvPr id="32" name="TextBox 31"/>
          <p:cNvSpPr txBox="1"/>
          <p:nvPr/>
        </p:nvSpPr>
        <p:spPr>
          <a:xfrm>
            <a:off x="1691640" y="4946904"/>
            <a:ext cx="3657600" cy="530352"/>
          </a:xfrm>
          <a:prstGeom prst="rect">
            <a:avLst/>
          </a:prstGeom>
          <a:noFill/>
        </p:spPr>
        <p:txBody>
          <a:bodyPr wrap="square" anchor="ctr">
            <a:spAutoFit/>
          </a:bodyPr>
          <a:lstStyle/>
          <a:p>
            <a:pPr algn="l">
              <a:spcAft>
                <a:spcPts val="400"/>
              </a:spcAft>
            </a:pPr>
            <a:r>
              <a:rPr sz="1300" b="0">
                <a:solidFill>
                  <a:srgbClr val="161B26"/>
                </a:solidFill>
                <a:latin typeface="Arial"/>
              </a:rPr>
              <a:t>Activities &amp; Templates</a:t>
            </a:r>
          </a:p>
        </p:txBody>
      </p:sp>
      <p:sp>
        <p:nvSpPr>
          <p:cNvPr id="33" name="Rectangle 32"/>
          <p:cNvSpPr/>
          <p:nvPr/>
        </p:nvSpPr>
        <p:spPr>
          <a:xfrm>
            <a:off x="6126480" y="5065776"/>
            <a:ext cx="1051560" cy="2926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26480" y="5065776"/>
            <a:ext cx="1051560" cy="292608"/>
          </a:xfrm>
          <a:prstGeom prst="rect">
            <a:avLst/>
          </a:prstGeom>
          <a:noFill/>
        </p:spPr>
        <p:txBody>
          <a:bodyPr wrap="square" anchor="ctr">
            <a:spAutoFit/>
          </a:bodyPr>
          <a:lstStyle/>
          <a:p>
            <a:pPr algn="ctr">
              <a:spcAft>
                <a:spcPts val="400"/>
              </a:spcAft>
            </a:pPr>
            <a:r>
              <a:rPr sz="1000" b="1">
                <a:solidFill>
                  <a:srgbClr val="FFFFFF"/>
                </a:solidFill>
                <a:latin typeface="Arial"/>
              </a:rPr>
              <a:t>Download</a:t>
            </a:r>
          </a:p>
        </p:txBody>
      </p:sp>
      <p:sp>
        <p:nvSpPr>
          <p:cNvPr id="35" name="Oval 34"/>
          <p:cNvSpPr/>
          <p:nvPr/>
        </p:nvSpPr>
        <p:spPr>
          <a:xfrm>
            <a:off x="7863840" y="1874519"/>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63840" y="187451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37" name="TextBox 36"/>
          <p:cNvSpPr txBox="1"/>
          <p:nvPr/>
        </p:nvSpPr>
        <p:spPr>
          <a:xfrm>
            <a:off x="8485632" y="1847087"/>
            <a:ext cx="3108960" cy="548640"/>
          </a:xfrm>
          <a:prstGeom prst="rect">
            <a:avLst/>
          </a:prstGeom>
          <a:noFill/>
        </p:spPr>
        <p:txBody>
          <a:bodyPr wrap="square" anchor="ctr">
            <a:spAutoFit/>
          </a:bodyPr>
          <a:lstStyle/>
          <a:p>
            <a:pPr algn="l">
              <a:spcAft>
                <a:spcPts val="400"/>
              </a:spcAft>
            </a:pPr>
            <a:r>
              <a:rPr sz="1300" b="0">
                <a:solidFill>
                  <a:srgbClr val="161B26"/>
                </a:solidFill>
                <a:latin typeface="Arial"/>
              </a:rPr>
              <a:t>Go to lms-tms.tertiaryinfotech.com</a:t>
            </a:r>
          </a:p>
        </p:txBody>
      </p:sp>
      <p:sp>
        <p:nvSpPr>
          <p:cNvPr id="38" name="Oval 37"/>
          <p:cNvSpPr/>
          <p:nvPr/>
        </p:nvSpPr>
        <p:spPr>
          <a:xfrm>
            <a:off x="7863840" y="2660903"/>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0" y="266090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40" name="TextBox 39"/>
          <p:cNvSpPr txBox="1"/>
          <p:nvPr/>
        </p:nvSpPr>
        <p:spPr>
          <a:xfrm>
            <a:off x="8485632" y="2633471"/>
            <a:ext cx="3108960" cy="548640"/>
          </a:xfrm>
          <a:prstGeom prst="rect">
            <a:avLst/>
          </a:prstGeom>
          <a:noFill/>
        </p:spPr>
        <p:txBody>
          <a:bodyPr wrap="square" anchor="ctr">
            <a:spAutoFit/>
          </a:bodyPr>
          <a:lstStyle/>
          <a:p>
            <a:pPr algn="l">
              <a:spcAft>
                <a:spcPts val="400"/>
              </a:spcAft>
            </a:pPr>
            <a:r>
              <a:rPr sz="1300" b="0">
                <a:solidFill>
                  <a:srgbClr val="161B26"/>
                </a:solidFill>
                <a:latin typeface="Arial"/>
              </a:rPr>
              <a:t>Log in with the account emailed to you</a:t>
            </a:r>
          </a:p>
        </p:txBody>
      </p:sp>
      <p:sp>
        <p:nvSpPr>
          <p:cNvPr id="41" name="Oval 40"/>
          <p:cNvSpPr/>
          <p:nvPr/>
        </p:nvSpPr>
        <p:spPr>
          <a:xfrm>
            <a:off x="7863840" y="3447287"/>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863840" y="344728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43" name="TextBox 42"/>
          <p:cNvSpPr txBox="1"/>
          <p:nvPr/>
        </p:nvSpPr>
        <p:spPr>
          <a:xfrm>
            <a:off x="8485632" y="3419855"/>
            <a:ext cx="3108960" cy="548640"/>
          </a:xfrm>
          <a:prstGeom prst="rect">
            <a:avLst/>
          </a:prstGeom>
          <a:noFill/>
        </p:spPr>
        <p:txBody>
          <a:bodyPr wrap="square" anchor="ctr">
            <a:spAutoFit/>
          </a:bodyPr>
          <a:lstStyle/>
          <a:p>
            <a:pPr algn="l">
              <a:spcAft>
                <a:spcPts val="400"/>
              </a:spcAft>
            </a:pPr>
            <a:r>
              <a:rPr sz="1300" b="0">
                <a:solidFill>
                  <a:srgbClr val="161B26"/>
                </a:solidFill>
                <a:latin typeface="Arial"/>
              </a:rPr>
              <a:t>Open this course from My Courses</a:t>
            </a:r>
          </a:p>
        </p:txBody>
      </p:sp>
      <p:sp>
        <p:nvSpPr>
          <p:cNvPr id="44" name="Oval 43"/>
          <p:cNvSpPr/>
          <p:nvPr/>
        </p:nvSpPr>
        <p:spPr>
          <a:xfrm>
            <a:off x="7863840" y="4233671"/>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863840" y="4233671"/>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46" name="TextBox 45"/>
          <p:cNvSpPr txBox="1"/>
          <p:nvPr/>
        </p:nvSpPr>
        <p:spPr>
          <a:xfrm>
            <a:off x="8485632" y="4206239"/>
            <a:ext cx="3108960" cy="548640"/>
          </a:xfrm>
          <a:prstGeom prst="rect">
            <a:avLst/>
          </a:prstGeom>
          <a:noFill/>
        </p:spPr>
        <p:txBody>
          <a:bodyPr wrap="square" anchor="ctr">
            <a:spAutoFit/>
          </a:bodyPr>
          <a:lstStyle/>
          <a:p>
            <a:pPr algn="l">
              <a:spcAft>
                <a:spcPts val="400"/>
              </a:spcAft>
            </a:pPr>
            <a:r>
              <a:rPr sz="1300" b="0">
                <a:solidFill>
                  <a:srgbClr val="161B26"/>
                </a:solidFill>
                <a:latin typeface="Arial"/>
              </a:rPr>
              <a:t>Download the slides, Learner Guide and templates</a:t>
            </a:r>
          </a:p>
        </p:txBody>
      </p:sp>
      <p:sp>
        <p:nvSpPr>
          <p:cNvPr id="47" name="Oval 46"/>
          <p:cNvSpPr/>
          <p:nvPr/>
        </p:nvSpPr>
        <p:spPr>
          <a:xfrm>
            <a:off x="7863840" y="5020055"/>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863840" y="5020055"/>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49" name="TextBox 48"/>
          <p:cNvSpPr txBox="1"/>
          <p:nvPr/>
        </p:nvSpPr>
        <p:spPr>
          <a:xfrm>
            <a:off x="8485632" y="4992623"/>
            <a:ext cx="3108960" cy="548640"/>
          </a:xfrm>
          <a:prstGeom prst="rect">
            <a:avLst/>
          </a:prstGeom>
          <a:noFill/>
        </p:spPr>
        <p:txBody>
          <a:bodyPr wrap="square" anchor="ctr">
            <a:spAutoFit/>
          </a:bodyPr>
          <a:lstStyle/>
          <a:p>
            <a:pPr algn="l">
              <a:spcAft>
                <a:spcPts val="400"/>
              </a:spcAft>
            </a:pPr>
            <a:r>
              <a:rPr sz="1300" b="0">
                <a:solidFill>
                  <a:srgbClr val="161B26"/>
                </a:solidFill>
                <a:latin typeface="Arial"/>
              </a:rPr>
              <a:t>Keep them open — refer to them during the activities</a:t>
            </a:r>
          </a:p>
        </p:txBody>
      </p:sp>
      <p:sp>
        <p:nvSpPr>
          <p:cNvPr id="50" name="TextBox 4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51" name="TextBox 5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2" name="TextBox 5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TEMPLATE PACK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Download the Project Management Templates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What's in the pack</a:t>
            </a:r>
          </a:p>
          <a:p>
            <a:pPr algn="l">
              <a:spcAft>
                <a:spcPts val="300"/>
              </a:spcAft>
            </a:pPr>
            <a:r>
              <a:rPr sz="1100" b="0">
                <a:solidFill>
                  <a:srgbClr val="5B6372"/>
                </a:solidFill>
                <a:latin typeface="Arial"/>
              </a:rPr>
              <a:t>Charter, RTM, WBS and WBS Dictionary, Gantt, schedule network diagram, RACI, SEAM, tornado chart, decision tree, check sheet and control chart.</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Where to get it</a:t>
            </a:r>
          </a:p>
          <a:p>
            <a:pPr algn="l">
              <a:spcAft>
                <a:spcPts val="300"/>
              </a:spcAft>
            </a:pPr>
            <a:r>
              <a:rPr sz="1100" b="0">
                <a:solidFill>
                  <a:srgbClr val="5B6372"/>
                </a:solidFill>
                <a:latin typeface="Arial"/>
              </a:rPr>
              <a:t>The shared course template pack link is on the LMS and in your Learner Guide.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87952"/>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When to download</a:t>
            </a:r>
          </a:p>
          <a:p>
            <a:pPr algn="l">
              <a:spcAft>
                <a:spcPts val="300"/>
              </a:spcAft>
            </a:pPr>
            <a:r>
              <a:rPr sz="1100" b="0">
                <a:solidFill>
                  <a:srgbClr val="5B6372"/>
                </a:solidFill>
                <a:latin typeface="Arial"/>
              </a:rPr>
              <a:t>Before the first activity — you will use these templates throughout both days.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87952"/>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Formats</a:t>
            </a:r>
          </a:p>
          <a:p>
            <a:pPr algn="l">
              <a:spcAft>
                <a:spcPts val="300"/>
              </a:spcAft>
            </a:pPr>
            <a:r>
              <a:rPr sz="1100" b="0">
                <a:solidFill>
                  <a:srgbClr val="5B6372"/>
                </a:solidFill>
                <a:latin typeface="Arial"/>
              </a:rPr>
              <a:t>Excel, Word and PowerPoint — open them in Office or Google Workspace.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THREE TOPICS  ·  25 GenAI ACTIVITIES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Course Outline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640080"/>
          </a:xfrm>
          <a:prstGeom prst="rect">
            <a:avLst/>
          </a:prstGeom>
          <a:noFill/>
        </p:spPr>
        <p:txBody>
          <a:bodyPr wrap="square" anchor="t">
            <a:spAutoFit/>
          </a:bodyPr>
          <a:lstStyle/>
          <a:p>
            <a:pPr algn="l">
              <a:spcAft>
                <a:spcPts val="400"/>
              </a:spcAft>
            </a:pPr>
            <a:r>
              <a:rPr sz="1800" b="1">
                <a:solidFill>
                  <a:srgbClr val="1F6FEB"/>
                </a:solidFill>
                <a:latin typeface="Arial"/>
              </a:rPr>
              <a:t>Topic 1 — Initiation &amp; Planning</a:t>
            </a:r>
          </a:p>
        </p:txBody>
      </p:sp>
      <p:sp>
        <p:nvSpPr>
          <p:cNvPr id="10" name="TextBox 9"/>
          <p:cNvSpPr txBox="1"/>
          <p:nvPr/>
        </p:nvSpPr>
        <p:spPr>
          <a:xfrm>
            <a:off x="1005840" y="2743200"/>
            <a:ext cx="2926080" cy="3063240"/>
          </a:xfrm>
          <a:prstGeom prst="rect">
            <a:avLst/>
          </a:prstGeom>
          <a:noFill/>
        </p:spPr>
        <p:txBody>
          <a:bodyPr wrap="square">
            <a:spAutoFit/>
          </a:bodyPr>
          <a:lstStyle/>
          <a:p>
            <a:pPr>
              <a:spcAft>
                <a:spcPts val="900"/>
              </a:spcAft>
            </a:pPr>
            <a:r>
              <a:rPr sz="1300">
                <a:solidFill>
                  <a:srgbClr val="161B26"/>
                </a:solidFill>
                <a:latin typeface="Arial"/>
              </a:rPr>
              <a:t>•  Project &amp; GenAI fundamentals</a:t>
            </a:r>
          </a:p>
          <a:p>
            <a:pPr>
              <a:spcAft>
                <a:spcPts val="900"/>
              </a:spcAft>
            </a:pPr>
            <a:r>
              <a:rPr sz="1300">
                <a:solidFill>
                  <a:srgbClr val="161B26"/>
                </a:solidFill>
                <a:latin typeface="Arial"/>
              </a:rPr>
              <a:t>•  10 prompting patterns</a:t>
            </a:r>
          </a:p>
          <a:p>
            <a:pPr>
              <a:spcAft>
                <a:spcPts val="900"/>
              </a:spcAft>
            </a:pPr>
            <a:r>
              <a:rPr sz="1300">
                <a:solidFill>
                  <a:srgbClr val="161B26"/>
                </a:solidFill>
                <a:latin typeface="Arial"/>
              </a:rPr>
              <a:t>•  Charter &amp; business case</a:t>
            </a:r>
          </a:p>
          <a:p>
            <a:pPr>
              <a:spcAft>
                <a:spcPts val="900"/>
              </a:spcAft>
            </a:pPr>
            <a:r>
              <a:rPr sz="1300">
                <a:solidFill>
                  <a:srgbClr val="161B26"/>
                </a:solidFill>
                <a:latin typeface="Arial"/>
              </a:rPr>
              <a:t>•  Stakeholders &amp; RACI</a:t>
            </a:r>
          </a:p>
          <a:p>
            <a:pPr>
              <a:spcAft>
                <a:spcPts val="900"/>
              </a:spcAft>
            </a:pPr>
            <a:r>
              <a:rPr sz="1300">
                <a:solidFill>
                  <a:srgbClr val="161B26"/>
                </a:solidFill>
                <a:latin typeface="Arial"/>
              </a:rPr>
              <a:t>•  Requirements &amp; RTM</a:t>
            </a:r>
          </a:p>
          <a:p>
            <a:pPr>
              <a:spcAft>
                <a:spcPts val="900"/>
              </a:spcAft>
            </a:pPr>
            <a:r>
              <a:rPr sz="1300">
                <a:solidFill>
                  <a:srgbClr val="161B26"/>
                </a:solidFill>
                <a:latin typeface="Arial"/>
              </a:rPr>
              <a:t>•  WBS &amp; WBS dictionary</a:t>
            </a:r>
          </a:p>
          <a:p>
            <a:pPr>
              <a:spcAft>
                <a:spcPts val="900"/>
              </a:spcAft>
            </a:pPr>
            <a:r>
              <a:rPr sz="1300">
                <a:solidFill>
                  <a:srgbClr val="161B26"/>
                </a:solidFill>
                <a:latin typeface="Arial"/>
              </a:rPr>
              <a:t>•  Schedule &amp; critical path</a:t>
            </a:r>
          </a:p>
          <a:p>
            <a:pPr>
              <a:spcAft>
                <a:spcPts val="900"/>
              </a:spcAft>
            </a:pPr>
            <a:r>
              <a:rPr sz="1300">
                <a:solidFill>
                  <a:srgbClr val="161B26"/>
                </a:solidFill>
                <a:latin typeface="Arial"/>
              </a:rPr>
              <a:t>•  Cost &amp; budget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640080"/>
          </a:xfrm>
          <a:prstGeom prst="rect">
            <a:avLst/>
          </a:prstGeom>
          <a:noFill/>
        </p:spPr>
        <p:txBody>
          <a:bodyPr wrap="square" anchor="t">
            <a:spAutoFit/>
          </a:bodyPr>
          <a:lstStyle/>
          <a:p>
            <a:pPr algn="l">
              <a:spcAft>
                <a:spcPts val="400"/>
              </a:spcAft>
            </a:pPr>
            <a:r>
              <a:rPr sz="1800" b="1">
                <a:solidFill>
                  <a:srgbClr val="10B981"/>
                </a:solidFill>
                <a:latin typeface="Arial"/>
              </a:rPr>
              <a:t>Topic 2 — Execution &amp; Delivery</a:t>
            </a:r>
          </a:p>
        </p:txBody>
      </p:sp>
      <p:sp>
        <p:nvSpPr>
          <p:cNvPr id="14" name="TextBox 13"/>
          <p:cNvSpPr txBox="1"/>
          <p:nvPr/>
        </p:nvSpPr>
        <p:spPr>
          <a:xfrm>
            <a:off x="4800600" y="2743200"/>
            <a:ext cx="2926080" cy="3063240"/>
          </a:xfrm>
          <a:prstGeom prst="rect">
            <a:avLst/>
          </a:prstGeom>
          <a:noFill/>
        </p:spPr>
        <p:txBody>
          <a:bodyPr wrap="square">
            <a:spAutoFit/>
          </a:bodyPr>
          <a:lstStyle/>
          <a:p>
            <a:pPr>
              <a:spcAft>
                <a:spcPts val="900"/>
              </a:spcAft>
            </a:pPr>
            <a:r>
              <a:rPr sz="1300">
                <a:solidFill>
                  <a:srgbClr val="161B26"/>
                </a:solidFill>
                <a:latin typeface="Arial"/>
              </a:rPr>
              <a:t>•  Direct &amp; manage work</a:t>
            </a:r>
          </a:p>
          <a:p>
            <a:pPr>
              <a:spcAft>
                <a:spcPts val="900"/>
              </a:spcAft>
            </a:pPr>
            <a:r>
              <a:rPr sz="1300">
                <a:solidFill>
                  <a:srgbClr val="161B26"/>
                </a:solidFill>
                <a:latin typeface="Arial"/>
              </a:rPr>
              <a:t>•  Manage project knowledge</a:t>
            </a:r>
          </a:p>
          <a:p>
            <a:pPr>
              <a:spcAft>
                <a:spcPts val="900"/>
              </a:spcAft>
            </a:pPr>
            <a:r>
              <a:rPr sz="1300">
                <a:solidFill>
                  <a:srgbClr val="161B26"/>
                </a:solidFill>
                <a:latin typeface="Arial"/>
              </a:rPr>
              <a:t>•  Quality &amp; root cause analysis</a:t>
            </a:r>
          </a:p>
          <a:p>
            <a:pPr>
              <a:spcAft>
                <a:spcPts val="900"/>
              </a:spcAft>
            </a:pPr>
            <a:r>
              <a:rPr sz="1300">
                <a:solidFill>
                  <a:srgbClr val="161B26"/>
                </a:solidFill>
                <a:latin typeface="Arial"/>
              </a:rPr>
              <a:t>•  PDCA &amp; DMAIC</a:t>
            </a:r>
          </a:p>
          <a:p>
            <a:pPr>
              <a:spcAft>
                <a:spcPts val="900"/>
              </a:spcAft>
            </a:pPr>
            <a:r>
              <a:rPr sz="1300">
                <a:solidFill>
                  <a:srgbClr val="161B26"/>
                </a:solidFill>
                <a:latin typeface="Arial"/>
              </a:rPr>
              <a:t>•  Optimise resources &amp; budget</a:t>
            </a:r>
          </a:p>
          <a:p>
            <a:pPr>
              <a:spcAft>
                <a:spcPts val="900"/>
              </a:spcAft>
            </a:pPr>
            <a:r>
              <a:rPr sz="1300">
                <a:solidFill>
                  <a:srgbClr val="161B26"/>
                </a:solidFill>
                <a:latin typeface="Arial"/>
              </a:rPr>
              <a:t>•  Develop &amp; manage the team</a:t>
            </a:r>
          </a:p>
          <a:p>
            <a:pPr>
              <a:spcAft>
                <a:spcPts val="900"/>
              </a:spcAft>
            </a:pPr>
            <a:r>
              <a:rPr sz="1300">
                <a:solidFill>
                  <a:srgbClr val="161B26"/>
                </a:solidFill>
                <a:latin typeface="Arial"/>
              </a:rPr>
              <a:t>•  Manage communications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640080"/>
          </a:xfrm>
          <a:prstGeom prst="rect">
            <a:avLst/>
          </a:prstGeom>
          <a:noFill/>
        </p:spPr>
        <p:txBody>
          <a:bodyPr wrap="square" anchor="t">
            <a:spAutoFit/>
          </a:bodyPr>
          <a:lstStyle/>
          <a:p>
            <a:pPr algn="l">
              <a:spcAft>
                <a:spcPts val="400"/>
              </a:spcAft>
            </a:pPr>
            <a:r>
              <a:rPr sz="1800" b="1">
                <a:solidFill>
                  <a:srgbClr val="7C3AED"/>
                </a:solidFill>
                <a:latin typeface="Arial"/>
              </a:rPr>
              <a:t>Topic 3 — Risk &amp; Closure</a:t>
            </a:r>
          </a:p>
        </p:txBody>
      </p:sp>
      <p:sp>
        <p:nvSpPr>
          <p:cNvPr id="18" name="TextBox 17"/>
          <p:cNvSpPr txBox="1"/>
          <p:nvPr/>
        </p:nvSpPr>
        <p:spPr>
          <a:xfrm>
            <a:off x="8595360" y="2743200"/>
            <a:ext cx="2926080" cy="3063240"/>
          </a:xfrm>
          <a:prstGeom prst="rect">
            <a:avLst/>
          </a:prstGeom>
          <a:noFill/>
        </p:spPr>
        <p:txBody>
          <a:bodyPr wrap="square">
            <a:spAutoFit/>
          </a:bodyPr>
          <a:lstStyle/>
          <a:p>
            <a:pPr>
              <a:spcAft>
                <a:spcPts val="900"/>
              </a:spcAft>
            </a:pPr>
            <a:r>
              <a:rPr sz="1300">
                <a:solidFill>
                  <a:srgbClr val="161B26"/>
                </a:solidFill>
                <a:latin typeface="Arial"/>
              </a:rPr>
              <a:t>•  Identify &amp; analyse risk</a:t>
            </a:r>
          </a:p>
          <a:p>
            <a:pPr>
              <a:spcAft>
                <a:spcPts val="900"/>
              </a:spcAft>
            </a:pPr>
            <a:r>
              <a:rPr sz="1300">
                <a:solidFill>
                  <a:srgbClr val="161B26"/>
                </a:solidFill>
                <a:latin typeface="Arial"/>
              </a:rPr>
              <a:t>•  Tornado &amp; decision trees</a:t>
            </a:r>
          </a:p>
          <a:p>
            <a:pPr>
              <a:spcAft>
                <a:spcPts val="900"/>
              </a:spcAft>
            </a:pPr>
            <a:r>
              <a:rPr sz="1300">
                <a:solidFill>
                  <a:srgbClr val="161B26"/>
                </a:solidFill>
                <a:latin typeface="Arial"/>
              </a:rPr>
              <a:t>•  Plan risk responses</a:t>
            </a:r>
          </a:p>
          <a:p>
            <a:pPr>
              <a:spcAft>
                <a:spcPts val="900"/>
              </a:spcAft>
            </a:pPr>
            <a:r>
              <a:rPr sz="1300">
                <a:solidFill>
                  <a:srgbClr val="161B26"/>
                </a:solidFill>
                <a:latin typeface="Arial"/>
              </a:rPr>
              <a:t>•  Procurement &amp; contracts</a:t>
            </a:r>
          </a:p>
          <a:p>
            <a:pPr>
              <a:spcAft>
                <a:spcPts val="900"/>
              </a:spcAft>
            </a:pPr>
            <a:r>
              <a:rPr sz="1300">
                <a:solidFill>
                  <a:srgbClr val="161B26"/>
                </a:solidFill>
                <a:latin typeface="Arial"/>
              </a:rPr>
              <a:t>•  Monitor &amp; control change</a:t>
            </a:r>
          </a:p>
          <a:p>
            <a:pPr>
              <a:spcAft>
                <a:spcPts val="900"/>
              </a:spcAft>
            </a:pPr>
            <a:r>
              <a:rPr sz="1300">
                <a:solidFill>
                  <a:srgbClr val="161B26"/>
                </a:solidFill>
                <a:latin typeface="Arial"/>
              </a:rPr>
              <a:t>•  Earned value analysis</a:t>
            </a:r>
          </a:p>
          <a:p>
            <a:pPr>
              <a:spcAft>
                <a:spcPts val="900"/>
              </a:spcAft>
            </a:pPr>
            <a:r>
              <a:rPr sz="1300">
                <a:solidFill>
                  <a:srgbClr val="161B26"/>
                </a:solidFill>
                <a:latin typeface="Arial"/>
              </a:rPr>
              <a:t>•  Control quality</a:t>
            </a:r>
          </a:p>
          <a:p>
            <a:pPr>
              <a:spcAft>
                <a:spcPts val="900"/>
              </a:spcAft>
            </a:pPr>
            <a:r>
              <a:rPr sz="1300">
                <a:solidFill>
                  <a:srgbClr val="161B26"/>
                </a:solidFill>
                <a:latin typeface="Arial"/>
              </a:rPr>
              <a:t>•  Close the project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9:30am – 5:30pm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2 Days, 7.5 Instructional Hours per Day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36208" y="1783080"/>
            <a:ext cx="517550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36208" y="1783080"/>
            <a:ext cx="517550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011680"/>
            <a:ext cx="4754880" cy="365760"/>
          </a:xfrm>
          <a:prstGeom prst="rect">
            <a:avLst/>
          </a:prstGeom>
          <a:noFill/>
        </p:spPr>
        <p:txBody>
          <a:bodyPr wrap="square" anchor="t">
            <a:spAutoFit/>
          </a:bodyPr>
          <a:lstStyle/>
          <a:p>
            <a:pPr algn="l">
              <a:spcAft>
                <a:spcPts val="400"/>
              </a:spcAft>
            </a:pPr>
            <a:r>
              <a:rPr sz="1700" b="1">
                <a:solidFill>
                  <a:srgbClr val="1F6FEB"/>
                </a:solidFill>
                <a:latin typeface="Arial"/>
              </a:rPr>
              <a:t>Day 1</a:t>
            </a:r>
          </a:p>
        </p:txBody>
      </p:sp>
      <p:sp>
        <p:nvSpPr>
          <p:cNvPr id="12" name="TextBox 11"/>
          <p:cNvSpPr txBox="1"/>
          <p:nvPr/>
        </p:nvSpPr>
        <p:spPr>
          <a:xfrm>
            <a:off x="6464808" y="2011680"/>
            <a:ext cx="4663440" cy="365760"/>
          </a:xfrm>
          <a:prstGeom prst="rect">
            <a:avLst/>
          </a:prstGeom>
          <a:noFill/>
        </p:spPr>
        <p:txBody>
          <a:bodyPr wrap="square" anchor="t">
            <a:spAutoFit/>
          </a:bodyPr>
          <a:lstStyle/>
          <a:p>
            <a:pPr algn="l">
              <a:spcAft>
                <a:spcPts val="400"/>
              </a:spcAft>
            </a:pPr>
            <a:r>
              <a:rPr sz="1700" b="1">
                <a:solidFill>
                  <a:srgbClr val="10B981"/>
                </a:solidFill>
                <a:latin typeface="Arial"/>
              </a:rPr>
              <a:t>Day 2</a:t>
            </a:r>
          </a:p>
        </p:txBody>
      </p:sp>
      <p:sp>
        <p:nvSpPr>
          <p:cNvPr id="13" name="TextBox 12"/>
          <p:cNvSpPr txBox="1"/>
          <p:nvPr/>
        </p:nvSpPr>
        <p:spPr>
          <a:xfrm>
            <a:off x="1005840" y="2514600"/>
            <a:ext cx="4754880" cy="3383280"/>
          </a:xfrm>
          <a:prstGeom prst="rect">
            <a:avLst/>
          </a:prstGeom>
          <a:noFill/>
        </p:spPr>
        <p:txBody>
          <a:bodyPr wrap="square">
            <a:spAutoFit/>
          </a:bodyPr>
          <a:lstStyle/>
          <a:p>
            <a:pPr>
              <a:spcAft>
                <a:spcPts val="1000"/>
              </a:spcAft>
            </a:pPr>
            <a:r>
              <a:rPr sz="1500">
                <a:solidFill>
                  <a:srgbClr val="161B26"/>
                </a:solidFill>
                <a:latin typeface="Arial"/>
              </a:rPr>
              <a:t>•  Day 1 — Initiation &amp; Planning with GenAI</a:t>
            </a:r>
          </a:p>
          <a:p>
            <a:pPr>
              <a:spcAft>
                <a:spcPts val="1000"/>
              </a:spcAft>
            </a:pPr>
            <a:r>
              <a:rPr sz="1300">
                <a:solidFill>
                  <a:srgbClr val="5B6372"/>
                </a:solidFill>
                <a:latin typeface="Arial"/>
              </a:rPr>
              <a:t>–  Introduction, ground rules and course outline</a:t>
            </a:r>
          </a:p>
          <a:p>
            <a:pPr>
              <a:spcAft>
                <a:spcPts val="1000"/>
              </a:spcAft>
            </a:pPr>
            <a:r>
              <a:rPr sz="1300">
                <a:solidFill>
                  <a:srgbClr val="5B6372"/>
                </a:solidFill>
                <a:latin typeface="Arial"/>
              </a:rPr>
              <a:t>–  Topic 1: Project Initiation and Planning with GenAI</a:t>
            </a:r>
          </a:p>
          <a:p>
            <a:pPr>
              <a:spcAft>
                <a:spcPts val="1000"/>
              </a:spcAft>
            </a:pPr>
            <a:r>
              <a:rPr sz="1300">
                <a:solidFill>
                  <a:srgbClr val="5B6372"/>
                </a:solidFill>
                <a:latin typeface="Arial"/>
              </a:rPr>
              <a:t>–  Activities 1–10</a:t>
            </a:r>
          </a:p>
          <a:p>
            <a:pPr>
              <a:spcAft>
                <a:spcPts val="1000"/>
              </a:spcAft>
            </a:pPr>
            <a:r>
              <a:rPr sz="1300">
                <a:solidFill>
                  <a:srgbClr val="5B6372"/>
                </a:solidFill>
                <a:latin typeface="Arial"/>
              </a:rPr>
              <a:t>–  Lunch 1:00–1:30pm</a:t>
            </a:r>
          </a:p>
          <a:p>
            <a:pPr>
              <a:spcAft>
                <a:spcPts val="1000"/>
              </a:spcAft>
            </a:pPr>
            <a:r>
              <a:rPr sz="1300">
                <a:solidFill>
                  <a:srgbClr val="5B6372"/>
                </a:solidFill>
                <a:latin typeface="Arial"/>
              </a:rPr>
              <a:t>–  End of Day 1</a:t>
            </a:r>
          </a:p>
        </p:txBody>
      </p:sp>
      <p:sp>
        <p:nvSpPr>
          <p:cNvPr id="14" name="TextBox 13"/>
          <p:cNvSpPr txBox="1"/>
          <p:nvPr/>
        </p:nvSpPr>
        <p:spPr>
          <a:xfrm>
            <a:off x="6464808" y="2514600"/>
            <a:ext cx="4709160" cy="3383280"/>
          </a:xfrm>
          <a:prstGeom prst="rect">
            <a:avLst/>
          </a:prstGeom>
          <a:noFill/>
        </p:spPr>
        <p:txBody>
          <a:bodyPr wrap="square">
            <a:spAutoFit/>
          </a:bodyPr>
          <a:lstStyle/>
          <a:p>
            <a:pPr>
              <a:spcAft>
                <a:spcPts val="1000"/>
              </a:spcAft>
            </a:pPr>
            <a:r>
              <a:rPr sz="1500">
                <a:solidFill>
                  <a:srgbClr val="161B26"/>
                </a:solidFill>
                <a:latin typeface="Arial"/>
              </a:rPr>
              <a:t>•  Day 2 — Execution, Risk &amp; Closure with GenAI</a:t>
            </a:r>
          </a:p>
          <a:p>
            <a:pPr>
              <a:spcAft>
                <a:spcPts val="1000"/>
              </a:spcAft>
            </a:pPr>
            <a:r>
              <a:rPr sz="1300">
                <a:solidFill>
                  <a:srgbClr val="5B6372"/>
                </a:solidFill>
                <a:latin typeface="Arial"/>
              </a:rPr>
              <a:t>–  Day 1 recap</a:t>
            </a:r>
          </a:p>
          <a:p>
            <a:pPr>
              <a:spcAft>
                <a:spcPts val="1000"/>
              </a:spcAft>
            </a:pPr>
            <a:r>
              <a:rPr sz="1300">
                <a:solidFill>
                  <a:srgbClr val="5B6372"/>
                </a:solidFill>
                <a:latin typeface="Arial"/>
              </a:rPr>
              <a:t>–  Topic 2: Project Execution and Delivery with GenAI (Activities 11–17)</a:t>
            </a:r>
          </a:p>
          <a:p>
            <a:pPr>
              <a:spcAft>
                <a:spcPts val="1000"/>
              </a:spcAft>
            </a:pPr>
            <a:r>
              <a:rPr sz="1300">
                <a:solidFill>
                  <a:srgbClr val="5B6372"/>
                </a:solidFill>
                <a:latin typeface="Arial"/>
              </a:rPr>
              <a:t>–  Topic 3: Managing Project Risks with GenAI (Activities 18–25)</a:t>
            </a:r>
          </a:p>
          <a:p>
            <a:pPr>
              <a:spcAft>
                <a:spcPts val="1000"/>
              </a:spcAft>
            </a:pPr>
            <a:r>
              <a:rPr sz="1300">
                <a:solidFill>
                  <a:srgbClr val="5B6372"/>
                </a:solidFill>
                <a:latin typeface="Arial"/>
              </a:rPr>
              <a:t>–  Course recap and feedback</a:t>
            </a:r>
          </a:p>
          <a:p>
            <a:pPr>
              <a:spcAft>
                <a:spcPts val="1000"/>
              </a:spcAft>
            </a:pPr>
            <a:r>
              <a:rPr sz="1300">
                <a:solidFill>
                  <a:srgbClr val="5B6372"/>
                </a:solidFill>
                <a:latin typeface="Arial"/>
              </a:rPr>
              <a:t>–  End of Day 2</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9509760" cy="548640"/>
          </a:xfrm>
          <a:prstGeom prst="rect">
            <a:avLst/>
          </a:prstGeom>
          <a:noFill/>
        </p:spPr>
        <p:txBody>
          <a:bodyPr wrap="square" anchor="t">
            <a:spAutoFit/>
          </a:bodyPr>
          <a:lstStyle/>
          <a:p>
            <a:pPr algn="l">
              <a:spcAft>
                <a:spcPts val="400"/>
              </a:spcAft>
            </a:pPr>
            <a:r>
              <a:rPr sz="1800" b="1">
                <a:solidFill>
                  <a:srgbClr val="1F6FEB"/>
                </a:solidFill>
                <a:latin typeface="Arial"/>
              </a:rPr>
              <a:t>FOUNDATIONS</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3800" b="1">
                <a:solidFill>
                  <a:srgbClr val="161B26"/>
                </a:solidFill>
                <a:latin typeface="Arial"/>
              </a:rPr>
              <a:t>Projects, Project Management &amp; GenAI</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DEFINITION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is a Project?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Creates something unique</a:t>
            </a:r>
          </a:p>
          <a:p>
            <a:pPr algn="l">
              <a:spcAft>
                <a:spcPts val="300"/>
              </a:spcAft>
            </a:pPr>
            <a:r>
              <a:rPr sz="1200" b="0">
                <a:solidFill>
                  <a:srgbClr val="5B6372"/>
                </a:solidFill>
                <a:latin typeface="Arial"/>
              </a:rPr>
              <a:t>A unique product, service or result — not business as usual.</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Is time-limited</a:t>
            </a:r>
          </a:p>
          <a:p>
            <a:pPr algn="l">
              <a:spcAft>
                <a:spcPts val="300"/>
              </a:spcAft>
            </a:pPr>
            <a:r>
              <a:rPr sz="1200" b="0">
                <a:solidFill>
                  <a:srgbClr val="5B6372"/>
                </a:solidFill>
                <a:latin typeface="Arial"/>
              </a:rPr>
              <a:t>It has a definite beginning and a definite end.</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Drives change</a:t>
            </a:r>
          </a:p>
          <a:p>
            <a:pPr algn="l">
              <a:spcAft>
                <a:spcPts val="300"/>
              </a:spcAft>
            </a:pPr>
            <a:r>
              <a:rPr sz="1200" b="0">
                <a:solidFill>
                  <a:srgbClr val="5B6372"/>
                </a:solidFill>
                <a:latin typeface="Arial"/>
              </a:rPr>
              <a:t>It moves the organisation from a current state to a future state.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Enables value creation</a:t>
            </a:r>
          </a:p>
          <a:p>
            <a:pPr algn="l">
              <a:spcAft>
                <a:spcPts val="300"/>
              </a:spcAft>
            </a:pPr>
            <a:r>
              <a:rPr sz="1200" b="0">
                <a:solidFill>
                  <a:srgbClr val="5B6372"/>
                </a:solidFill>
                <a:latin typeface="Arial"/>
              </a:rPr>
              <a:t>It delivers a business benefit that justifies the investment.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IN PRACTICE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Examples of Projects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Developing a software application</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Building a new office</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Filming a motion picture</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Creating an advertising campaign</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Creating new processes within a business unit</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Rolling out a GenAI assistant to a service team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SCALE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Small Projects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36208" y="1783080"/>
            <a:ext cx="517550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36208" y="1783080"/>
            <a:ext cx="517550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011680"/>
            <a:ext cx="4754880" cy="365760"/>
          </a:xfrm>
          <a:prstGeom prst="rect">
            <a:avLst/>
          </a:prstGeom>
          <a:noFill/>
        </p:spPr>
        <p:txBody>
          <a:bodyPr wrap="square" anchor="t">
            <a:spAutoFit/>
          </a:bodyPr>
          <a:lstStyle/>
          <a:p>
            <a:pPr algn="l">
              <a:spcAft>
                <a:spcPts val="400"/>
              </a:spcAft>
            </a:pPr>
            <a:r>
              <a:rPr sz="1700" b="1">
                <a:solidFill>
                  <a:srgbClr val="1F6FEB"/>
                </a:solidFill>
                <a:latin typeface="Arial"/>
              </a:rPr>
              <a:t>What makes a project 'small'</a:t>
            </a:r>
          </a:p>
        </p:txBody>
      </p:sp>
      <p:sp>
        <p:nvSpPr>
          <p:cNvPr id="12" name="TextBox 11"/>
          <p:cNvSpPr txBox="1"/>
          <p:nvPr/>
        </p:nvSpPr>
        <p:spPr>
          <a:xfrm>
            <a:off x="6464808" y="2011680"/>
            <a:ext cx="4663440" cy="365760"/>
          </a:xfrm>
          <a:prstGeom prst="rect">
            <a:avLst/>
          </a:prstGeom>
          <a:noFill/>
        </p:spPr>
        <p:txBody>
          <a:bodyPr wrap="square" anchor="t">
            <a:spAutoFit/>
          </a:bodyPr>
          <a:lstStyle/>
          <a:p>
            <a:pPr algn="l">
              <a:spcAft>
                <a:spcPts val="400"/>
              </a:spcAft>
            </a:pPr>
            <a:r>
              <a:rPr sz="1700" b="1">
                <a:solidFill>
                  <a:srgbClr val="10B981"/>
                </a:solidFill>
                <a:latin typeface="Arial"/>
              </a:rPr>
              <a:t>Examples</a:t>
            </a:r>
          </a:p>
        </p:txBody>
      </p:sp>
      <p:sp>
        <p:nvSpPr>
          <p:cNvPr id="13" name="TextBox 12"/>
          <p:cNvSpPr txBox="1"/>
          <p:nvPr/>
        </p:nvSpPr>
        <p:spPr>
          <a:xfrm>
            <a:off x="1005840" y="2514600"/>
            <a:ext cx="4754880" cy="3383280"/>
          </a:xfrm>
          <a:prstGeom prst="rect">
            <a:avLst/>
          </a:prstGeom>
          <a:noFill/>
        </p:spPr>
        <p:txBody>
          <a:bodyPr wrap="square">
            <a:spAutoFit/>
          </a:bodyPr>
          <a:lstStyle/>
          <a:p>
            <a:pPr>
              <a:spcAft>
                <a:spcPts val="1000"/>
              </a:spcAft>
            </a:pPr>
            <a:r>
              <a:rPr sz="1500">
                <a:solidFill>
                  <a:srgbClr val="161B26"/>
                </a:solidFill>
                <a:latin typeface="Arial"/>
              </a:rPr>
              <a:t>•  Typically less than six months</a:t>
            </a:r>
          </a:p>
          <a:p>
            <a:pPr>
              <a:spcAft>
                <a:spcPts val="1000"/>
              </a:spcAft>
            </a:pPr>
            <a:r>
              <a:rPr sz="1500">
                <a:solidFill>
                  <a:srgbClr val="161B26"/>
                </a:solidFill>
                <a:latin typeface="Arial"/>
              </a:rPr>
              <a:t>•  Relatively limited resources</a:t>
            </a:r>
          </a:p>
          <a:p>
            <a:pPr>
              <a:spcAft>
                <a:spcPts val="1000"/>
              </a:spcAft>
            </a:pPr>
            <a:r>
              <a:rPr sz="1500">
                <a:solidFill>
                  <a:srgbClr val="161B26"/>
                </a:solidFill>
                <a:latin typeface="Arial"/>
              </a:rPr>
              <a:t>•  Limited interdependency with other projects</a:t>
            </a:r>
          </a:p>
          <a:p>
            <a:pPr>
              <a:spcAft>
                <a:spcPts val="1000"/>
              </a:spcAft>
            </a:pPr>
            <a:r>
              <a:rPr sz="1500">
                <a:solidFill>
                  <a:srgbClr val="161B26"/>
                </a:solidFill>
                <a:latin typeface="Arial"/>
              </a:rPr>
              <a:t>•  Limited strategic impact</a:t>
            </a:r>
          </a:p>
          <a:p>
            <a:pPr>
              <a:spcAft>
                <a:spcPts val="1000"/>
              </a:spcAft>
            </a:pPr>
            <a:r>
              <a:rPr sz="1500">
                <a:solidFill>
                  <a:srgbClr val="161B26"/>
                </a:solidFill>
                <a:latin typeface="Arial"/>
              </a:rPr>
              <a:t>•  Relatively informal — reduced documentation and process</a:t>
            </a:r>
          </a:p>
          <a:p>
            <a:pPr>
              <a:spcAft>
                <a:spcPts val="1000"/>
              </a:spcAft>
            </a:pPr>
            <a:r>
              <a:rPr sz="1500">
                <a:solidFill>
                  <a:srgbClr val="161B26"/>
                </a:solidFill>
                <a:latin typeface="Arial"/>
              </a:rPr>
              <a:t>•  The PM may have to lead AND work directly on the project</a:t>
            </a:r>
          </a:p>
          <a:p>
            <a:pPr>
              <a:spcAft>
                <a:spcPts val="1000"/>
              </a:spcAft>
            </a:pPr>
            <a:r>
              <a:rPr sz="1500">
                <a:solidFill>
                  <a:srgbClr val="161B26"/>
                </a:solidFill>
                <a:latin typeface="Arial"/>
              </a:rPr>
              <a:t>•  May be scaled into a larger but separate project</a:t>
            </a:r>
          </a:p>
        </p:txBody>
      </p:sp>
      <p:sp>
        <p:nvSpPr>
          <p:cNvPr id="14" name="TextBox 13"/>
          <p:cNvSpPr txBox="1"/>
          <p:nvPr/>
        </p:nvSpPr>
        <p:spPr>
          <a:xfrm>
            <a:off x="6464808" y="2514600"/>
            <a:ext cx="4709160" cy="3383280"/>
          </a:xfrm>
          <a:prstGeom prst="rect">
            <a:avLst/>
          </a:prstGeom>
          <a:noFill/>
        </p:spPr>
        <p:txBody>
          <a:bodyPr wrap="square">
            <a:spAutoFit/>
          </a:bodyPr>
          <a:lstStyle/>
          <a:p>
            <a:pPr>
              <a:spcAft>
                <a:spcPts val="1000"/>
              </a:spcAft>
            </a:pPr>
            <a:r>
              <a:rPr sz="1500">
                <a:solidFill>
                  <a:srgbClr val="161B26"/>
                </a:solidFill>
                <a:latin typeface="Arial"/>
              </a:rPr>
              <a:t>•  Develop a prototype to showcase an innovative idea</a:t>
            </a:r>
          </a:p>
          <a:p>
            <a:pPr>
              <a:spcAft>
                <a:spcPts val="1000"/>
              </a:spcAft>
            </a:pPr>
            <a:r>
              <a:rPr sz="1500">
                <a:solidFill>
                  <a:srgbClr val="161B26"/>
                </a:solidFill>
                <a:latin typeface="Arial"/>
              </a:rPr>
              <a:t>•  Implement a jig for product qualification</a:t>
            </a:r>
          </a:p>
          <a:p>
            <a:pPr>
              <a:spcAft>
                <a:spcPts val="1000"/>
              </a:spcAft>
            </a:pPr>
            <a:r>
              <a:rPr sz="1500">
                <a:solidFill>
                  <a:srgbClr val="161B26"/>
                </a:solidFill>
                <a:latin typeface="Arial"/>
              </a:rPr>
              <a:t>•  Construct a new pavement in the garden</a:t>
            </a:r>
          </a:p>
          <a:p>
            <a:pPr>
              <a:spcAft>
                <a:spcPts val="1000"/>
              </a:spcAft>
            </a:pPr>
            <a:r>
              <a:rPr sz="1500">
                <a:solidFill>
                  <a:srgbClr val="161B26"/>
                </a:solidFill>
                <a:latin typeface="Arial"/>
              </a:rPr>
              <a:t>•  Set up a booth for an exhibition</a:t>
            </a:r>
          </a:p>
          <a:p>
            <a:pPr>
              <a:spcAft>
                <a:spcPts val="1000"/>
              </a:spcAft>
            </a:pPr>
            <a:r>
              <a:rPr sz="1500">
                <a:solidFill>
                  <a:srgbClr val="161B26"/>
                </a:solidFill>
                <a:latin typeface="Arial"/>
              </a:rPr>
              <a:t>•  Pilot a GenAI tool with one team before rollout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REFLECTION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600" b="1">
                <a:solidFill>
                  <a:srgbClr val="161B26"/>
                </a:solidFill>
                <a:latin typeface="Arial"/>
              </a:rPr>
              <a:t>What small projects have you been involved in?</a:t>
            </a:r>
          </a:p>
        </p:txBody>
      </p:sp>
      <p:sp>
        <p:nvSpPr>
          <p:cNvPr id="6" name="TextBox 5"/>
          <p:cNvSpPr txBox="1"/>
          <p:nvPr/>
        </p:nvSpPr>
        <p:spPr>
          <a:xfrm>
            <a:off x="1024128" y="457200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Turn to the person next to you. Share one project — what made it a project rather than routine work, and what made it hard.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DEFINITION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is Project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9482328" cy="1146048"/>
          </a:xfrm>
          <a:prstGeom prst="rect">
            <a:avLst/>
          </a:prstGeom>
          <a:noFill/>
        </p:spPr>
        <p:txBody>
          <a:bodyPr wrap="square" anchor="ctr">
            <a:spAutoFit/>
          </a:bodyPr>
          <a:lstStyle/>
          <a:p>
            <a:pPr algn="l">
              <a:spcAft>
                <a:spcPts val="300"/>
              </a:spcAft>
            </a:pPr>
            <a:r>
              <a:rPr sz="1600" b="1">
                <a:solidFill>
                  <a:srgbClr val="161B26"/>
                </a:solidFill>
                <a:latin typeface="Arial"/>
              </a:rPr>
              <a:t>The practice</a:t>
            </a:r>
          </a:p>
          <a:p>
            <a:pPr algn="l">
              <a:spcAft>
                <a:spcPts val="300"/>
              </a:spcAft>
            </a:pPr>
            <a:r>
              <a:rPr sz="1200" b="0">
                <a:solidFill>
                  <a:srgbClr val="5B6372"/>
                </a:solidFill>
                <a:latin typeface="Arial"/>
              </a:rPr>
              <a:t>Initiating, planning, executing, controlling and closing the work of a team to achieve specific goals and meet specific success criteria at a specified time.</a:t>
            </a:r>
          </a:p>
        </p:txBody>
      </p:sp>
      <p:sp>
        <p:nvSpPr>
          <p:cNvPr id="12" name="Rectangle 11"/>
          <p:cNvSpPr/>
          <p:nvPr/>
        </p:nvSpPr>
        <p:spPr>
          <a:xfrm>
            <a:off x="777240" y="3313176"/>
            <a:ext cx="10634472"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3176"/>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14984" y="3712464"/>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1709928" y="3422904"/>
            <a:ext cx="9482328" cy="1146048"/>
          </a:xfrm>
          <a:prstGeom prst="rect">
            <a:avLst/>
          </a:prstGeom>
          <a:noFill/>
        </p:spPr>
        <p:txBody>
          <a:bodyPr wrap="square" anchor="ctr">
            <a:spAutoFit/>
          </a:bodyPr>
          <a:lstStyle/>
          <a:p>
            <a:pPr algn="l">
              <a:spcAft>
                <a:spcPts val="300"/>
              </a:spcAft>
            </a:pPr>
            <a:r>
              <a:rPr sz="1600" b="1">
                <a:solidFill>
                  <a:srgbClr val="161B26"/>
                </a:solidFill>
                <a:latin typeface="Arial"/>
              </a:rPr>
              <a:t>Why it exists</a:t>
            </a:r>
          </a:p>
          <a:p>
            <a:pPr algn="l">
              <a:spcAft>
                <a:spcPts val="300"/>
              </a:spcAft>
            </a:pPr>
            <a:r>
              <a:rPr sz="1200" b="0">
                <a:solidFill>
                  <a:srgbClr val="5B6372"/>
                </a:solidFill>
                <a:latin typeface="Arial"/>
              </a:rPr>
              <a:t>Projects power change and enable the organisation to achieve its business objectives.</a:t>
            </a:r>
          </a:p>
        </p:txBody>
      </p:sp>
      <p:sp>
        <p:nvSpPr>
          <p:cNvPr id="17" name="Rectangle 16"/>
          <p:cNvSpPr/>
          <p:nvPr/>
        </p:nvSpPr>
        <p:spPr>
          <a:xfrm>
            <a:off x="777240" y="4843272"/>
            <a:ext cx="10634472"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43272"/>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5242560"/>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953000"/>
            <a:ext cx="9482328" cy="1146048"/>
          </a:xfrm>
          <a:prstGeom prst="rect">
            <a:avLst/>
          </a:prstGeom>
          <a:noFill/>
        </p:spPr>
        <p:txBody>
          <a:bodyPr wrap="square" anchor="ctr">
            <a:spAutoFit/>
          </a:bodyPr>
          <a:lstStyle/>
          <a:p>
            <a:pPr algn="l">
              <a:spcAft>
                <a:spcPts val="300"/>
              </a:spcAft>
            </a:pPr>
            <a:r>
              <a:rPr sz="1600" b="1">
                <a:solidFill>
                  <a:srgbClr val="161B26"/>
                </a:solidFill>
                <a:latin typeface="Arial"/>
              </a:rPr>
              <a:t>Who is accountable</a:t>
            </a:r>
          </a:p>
          <a:p>
            <a:pPr algn="l">
              <a:spcAft>
                <a:spcPts val="300"/>
              </a:spcAft>
            </a:pPr>
            <a:r>
              <a:rPr sz="1200" b="0">
                <a:solidFill>
                  <a:srgbClr val="5B6372"/>
                </a:solidFill>
                <a:latin typeface="Arial"/>
              </a:rPr>
              <a:t>The project manager. GenAI changes HOW the work is done — never WHO is accountable for it.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CHANGE ONE, YOU CHANGE THEM ALL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Triple Constraint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Scope</a:t>
            </a:r>
          </a:p>
          <a:p>
            <a:pPr algn="l">
              <a:spcAft>
                <a:spcPts val="300"/>
              </a:spcAft>
            </a:pPr>
            <a:r>
              <a:rPr sz="1200" b="0">
                <a:solidFill>
                  <a:srgbClr val="5B6372"/>
                </a:solidFill>
                <a:latin typeface="Arial"/>
              </a:rPr>
              <a:t>What the project will deliver.</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Time</a:t>
            </a:r>
          </a:p>
          <a:p>
            <a:pPr algn="l">
              <a:spcAft>
                <a:spcPts val="300"/>
              </a:spcAft>
            </a:pPr>
            <a:r>
              <a:rPr sz="1200" b="0">
                <a:solidFill>
                  <a:srgbClr val="5B6372"/>
                </a:solidFill>
                <a:latin typeface="Arial"/>
              </a:rPr>
              <a:t>When it must be delivered.</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Cost</a:t>
            </a:r>
          </a:p>
          <a:p>
            <a:pPr algn="l">
              <a:spcAft>
                <a:spcPts val="300"/>
              </a:spcAft>
            </a:pPr>
            <a:r>
              <a:rPr sz="1200" b="0">
                <a:solidFill>
                  <a:srgbClr val="5B6372"/>
                </a:solidFill>
                <a:latin typeface="Arial"/>
              </a:rPr>
              <a:t>What the organisation will spend.</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Quality</a:t>
            </a:r>
          </a:p>
          <a:p>
            <a:pPr algn="l">
              <a:spcAft>
                <a:spcPts val="300"/>
              </a:spcAft>
            </a:pPr>
            <a:r>
              <a:rPr sz="1200" b="0">
                <a:solidFill>
                  <a:srgbClr val="5B6372"/>
                </a:solidFill>
                <a:latin typeface="Arial"/>
              </a:rPr>
              <a:t>Sits at the centre — change any one constraint and quality is what usually absorbs it.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PMI TALENT TRIANGLE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Project Manager Competencies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640080"/>
          </a:xfrm>
          <a:prstGeom prst="rect">
            <a:avLst/>
          </a:prstGeom>
          <a:noFill/>
        </p:spPr>
        <p:txBody>
          <a:bodyPr wrap="square" anchor="t">
            <a:spAutoFit/>
          </a:bodyPr>
          <a:lstStyle/>
          <a:p>
            <a:pPr algn="l">
              <a:spcAft>
                <a:spcPts val="400"/>
              </a:spcAft>
            </a:pPr>
            <a:r>
              <a:rPr sz="1800" b="1">
                <a:solidFill>
                  <a:srgbClr val="1F6FEB"/>
                </a:solidFill>
                <a:latin typeface="Arial"/>
              </a:rPr>
              <a:t>Ways of Working</a:t>
            </a:r>
          </a:p>
        </p:txBody>
      </p:sp>
      <p:sp>
        <p:nvSpPr>
          <p:cNvPr id="10" name="TextBox 9"/>
          <p:cNvSpPr txBox="1"/>
          <p:nvPr/>
        </p:nvSpPr>
        <p:spPr>
          <a:xfrm>
            <a:off x="1005840" y="2743200"/>
            <a:ext cx="2926080" cy="3063240"/>
          </a:xfrm>
          <a:prstGeom prst="rect">
            <a:avLst/>
          </a:prstGeom>
          <a:noFill/>
        </p:spPr>
        <p:txBody>
          <a:bodyPr wrap="square">
            <a:spAutoFit/>
          </a:bodyPr>
          <a:lstStyle/>
          <a:p>
            <a:pPr>
              <a:spcAft>
                <a:spcPts val="900"/>
              </a:spcAft>
            </a:pPr>
            <a:r>
              <a:rPr sz="1300">
                <a:solidFill>
                  <a:srgbClr val="161B26"/>
                </a:solidFill>
                <a:latin typeface="Arial"/>
              </a:rPr>
              <a:t>•  Agile, Waterfall and hybrid</a:t>
            </a:r>
          </a:p>
          <a:p>
            <a:pPr>
              <a:spcAft>
                <a:spcPts val="900"/>
              </a:spcAft>
            </a:pPr>
            <a:r>
              <a:rPr sz="1300">
                <a:solidFill>
                  <a:srgbClr val="161B26"/>
                </a:solidFill>
                <a:latin typeface="Arial"/>
              </a:rPr>
              <a:t>•  Tailoring the method to the environment</a:t>
            </a:r>
          </a:p>
          <a:p>
            <a:pPr>
              <a:spcAft>
                <a:spcPts val="900"/>
              </a:spcAft>
            </a:pPr>
            <a:r>
              <a:rPr sz="1300">
                <a:solidFill>
                  <a:srgbClr val="161B26"/>
                </a:solidFill>
                <a:latin typeface="Arial"/>
              </a:rPr>
              <a:t>•  Knowing which approach fits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640080"/>
          </a:xfrm>
          <a:prstGeom prst="rect">
            <a:avLst/>
          </a:prstGeom>
          <a:noFill/>
        </p:spPr>
        <p:txBody>
          <a:bodyPr wrap="square" anchor="t">
            <a:spAutoFit/>
          </a:bodyPr>
          <a:lstStyle/>
          <a:p>
            <a:pPr algn="l">
              <a:spcAft>
                <a:spcPts val="400"/>
              </a:spcAft>
            </a:pPr>
            <a:r>
              <a:rPr sz="1800" b="1">
                <a:solidFill>
                  <a:srgbClr val="10B981"/>
                </a:solidFill>
                <a:latin typeface="Arial"/>
              </a:rPr>
              <a:t>Power Skills</a:t>
            </a:r>
          </a:p>
        </p:txBody>
      </p:sp>
      <p:sp>
        <p:nvSpPr>
          <p:cNvPr id="14" name="TextBox 13"/>
          <p:cNvSpPr txBox="1"/>
          <p:nvPr/>
        </p:nvSpPr>
        <p:spPr>
          <a:xfrm>
            <a:off x="4800600" y="2743200"/>
            <a:ext cx="2926080" cy="3063240"/>
          </a:xfrm>
          <a:prstGeom prst="rect">
            <a:avLst/>
          </a:prstGeom>
          <a:noFill/>
        </p:spPr>
        <p:txBody>
          <a:bodyPr wrap="square">
            <a:spAutoFit/>
          </a:bodyPr>
          <a:lstStyle/>
          <a:p>
            <a:pPr>
              <a:spcAft>
                <a:spcPts val="900"/>
              </a:spcAft>
            </a:pPr>
            <a:r>
              <a:rPr sz="1300">
                <a:solidFill>
                  <a:srgbClr val="161B26"/>
                </a:solidFill>
                <a:latin typeface="Arial"/>
              </a:rPr>
              <a:t>•  Collaborative leadership</a:t>
            </a:r>
          </a:p>
          <a:p>
            <a:pPr>
              <a:spcAft>
                <a:spcPts val="900"/>
              </a:spcAft>
            </a:pPr>
            <a:r>
              <a:rPr sz="1300">
                <a:solidFill>
                  <a:srgbClr val="161B26"/>
                </a:solidFill>
                <a:latin typeface="Arial"/>
              </a:rPr>
              <a:t>•  Effective communication</a:t>
            </a:r>
          </a:p>
          <a:p>
            <a:pPr>
              <a:spcAft>
                <a:spcPts val="900"/>
              </a:spcAft>
            </a:pPr>
            <a:r>
              <a:rPr sz="1300">
                <a:solidFill>
                  <a:srgbClr val="161B26"/>
                </a:solidFill>
                <a:latin typeface="Arial"/>
              </a:rPr>
              <a:t>•  Influence without authority</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640080"/>
          </a:xfrm>
          <a:prstGeom prst="rect">
            <a:avLst/>
          </a:prstGeom>
          <a:noFill/>
        </p:spPr>
        <p:txBody>
          <a:bodyPr wrap="square" anchor="t">
            <a:spAutoFit/>
          </a:bodyPr>
          <a:lstStyle/>
          <a:p>
            <a:pPr algn="l">
              <a:spcAft>
                <a:spcPts val="400"/>
              </a:spcAft>
            </a:pPr>
            <a:r>
              <a:rPr sz="1800" b="1">
                <a:solidFill>
                  <a:srgbClr val="7C3AED"/>
                </a:solidFill>
                <a:latin typeface="Arial"/>
              </a:rPr>
              <a:t>Business Acumen</a:t>
            </a:r>
          </a:p>
        </p:txBody>
      </p:sp>
      <p:sp>
        <p:nvSpPr>
          <p:cNvPr id="18" name="TextBox 17"/>
          <p:cNvSpPr txBox="1"/>
          <p:nvPr/>
        </p:nvSpPr>
        <p:spPr>
          <a:xfrm>
            <a:off x="8595360" y="2743200"/>
            <a:ext cx="2926080" cy="3063240"/>
          </a:xfrm>
          <a:prstGeom prst="rect">
            <a:avLst/>
          </a:prstGeom>
          <a:noFill/>
        </p:spPr>
        <p:txBody>
          <a:bodyPr wrap="square">
            <a:spAutoFit/>
          </a:bodyPr>
          <a:lstStyle/>
          <a:p>
            <a:pPr>
              <a:spcAft>
                <a:spcPts val="900"/>
              </a:spcAft>
            </a:pPr>
            <a:r>
              <a:rPr sz="1300">
                <a:solidFill>
                  <a:srgbClr val="161B26"/>
                </a:solidFill>
                <a:latin typeface="Arial"/>
              </a:rPr>
              <a:t>•  Priority and cost vs benefit</a:t>
            </a:r>
          </a:p>
          <a:p>
            <a:pPr>
              <a:spcAft>
                <a:spcPts val="900"/>
              </a:spcAft>
            </a:pPr>
            <a:r>
              <a:rPr sz="1300">
                <a:solidFill>
                  <a:srgbClr val="161B26"/>
                </a:solidFill>
                <a:latin typeface="Arial"/>
              </a:rPr>
              <a:t>•  Making good business decisions</a:t>
            </a:r>
          </a:p>
          <a:p>
            <a:pPr>
              <a:spcAft>
                <a:spcPts val="900"/>
              </a:spcAft>
            </a:pPr>
            <a:r>
              <a:rPr sz="1300">
                <a:solidFill>
                  <a:srgbClr val="161B26"/>
                </a:solidFill>
                <a:latin typeface="Arial"/>
              </a:rPr>
              <a:t>•  Continuous learning</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PMBOK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12 Project Management Principles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545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5455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1799844"/>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179984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399288"/>
          </a:xfrm>
          <a:prstGeom prst="rect">
            <a:avLst/>
          </a:prstGeom>
          <a:noFill/>
        </p:spPr>
        <p:txBody>
          <a:bodyPr wrap="square" anchor="ctr">
            <a:spAutoFit/>
          </a:bodyPr>
          <a:lstStyle/>
          <a:p>
            <a:pPr algn="l">
              <a:spcAft>
                <a:spcPts val="400"/>
              </a:spcAft>
            </a:pPr>
            <a:r>
              <a:rPr sz="1300" b="0">
                <a:solidFill>
                  <a:srgbClr val="161B26"/>
                </a:solidFill>
                <a:latin typeface="Arial"/>
              </a:rPr>
              <a:t>Be a diligent, respectful and caring steward</a:t>
            </a:r>
          </a:p>
        </p:txBody>
      </p:sp>
      <p:sp>
        <p:nvSpPr>
          <p:cNvPr id="12" name="Rectangle 11"/>
          <p:cNvSpPr/>
          <p:nvPr/>
        </p:nvSpPr>
        <p:spPr>
          <a:xfrm>
            <a:off x="6231636" y="1783080"/>
            <a:ext cx="5180076" cy="545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5455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1799844"/>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179984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399288"/>
          </a:xfrm>
          <a:prstGeom prst="rect">
            <a:avLst/>
          </a:prstGeom>
          <a:noFill/>
        </p:spPr>
        <p:txBody>
          <a:bodyPr wrap="square" anchor="ctr">
            <a:spAutoFit/>
          </a:bodyPr>
          <a:lstStyle/>
          <a:p>
            <a:pPr algn="l">
              <a:spcAft>
                <a:spcPts val="400"/>
              </a:spcAft>
            </a:pPr>
            <a:r>
              <a:rPr sz="1300" b="0">
                <a:solidFill>
                  <a:srgbClr val="161B26"/>
                </a:solidFill>
                <a:latin typeface="Arial"/>
              </a:rPr>
              <a:t>Create a collaborative project team environment</a:t>
            </a:r>
          </a:p>
        </p:txBody>
      </p:sp>
      <p:sp>
        <p:nvSpPr>
          <p:cNvPr id="17" name="Rectangle 16"/>
          <p:cNvSpPr/>
          <p:nvPr/>
        </p:nvSpPr>
        <p:spPr>
          <a:xfrm>
            <a:off x="777240" y="2548128"/>
            <a:ext cx="5180076" cy="545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548128"/>
            <a:ext cx="91440" cy="5455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2564892"/>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2639568"/>
            <a:ext cx="4027932" cy="399288"/>
          </a:xfrm>
          <a:prstGeom prst="rect">
            <a:avLst/>
          </a:prstGeom>
          <a:noFill/>
        </p:spPr>
        <p:txBody>
          <a:bodyPr wrap="square" anchor="ctr">
            <a:spAutoFit/>
          </a:bodyPr>
          <a:lstStyle/>
          <a:p>
            <a:pPr algn="l">
              <a:spcAft>
                <a:spcPts val="400"/>
              </a:spcAft>
            </a:pPr>
            <a:r>
              <a:rPr sz="1300" b="0">
                <a:solidFill>
                  <a:srgbClr val="161B26"/>
                </a:solidFill>
                <a:latin typeface="Arial"/>
              </a:rPr>
              <a:t>Effectively engage with stakeholders</a:t>
            </a:r>
          </a:p>
        </p:txBody>
      </p:sp>
      <p:sp>
        <p:nvSpPr>
          <p:cNvPr id="22" name="Rectangle 21"/>
          <p:cNvSpPr/>
          <p:nvPr/>
        </p:nvSpPr>
        <p:spPr>
          <a:xfrm>
            <a:off x="6231636" y="2548128"/>
            <a:ext cx="5180076" cy="545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548128"/>
            <a:ext cx="91440" cy="5455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2564892"/>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2639568"/>
            <a:ext cx="4027932" cy="399288"/>
          </a:xfrm>
          <a:prstGeom prst="rect">
            <a:avLst/>
          </a:prstGeom>
          <a:noFill/>
        </p:spPr>
        <p:txBody>
          <a:bodyPr wrap="square" anchor="ctr">
            <a:spAutoFit/>
          </a:bodyPr>
          <a:lstStyle/>
          <a:p>
            <a:pPr algn="l">
              <a:spcAft>
                <a:spcPts val="400"/>
              </a:spcAft>
            </a:pPr>
            <a:r>
              <a:rPr sz="1300" b="0">
                <a:solidFill>
                  <a:srgbClr val="161B26"/>
                </a:solidFill>
                <a:latin typeface="Arial"/>
              </a:rPr>
              <a:t>Focus on value</a:t>
            </a:r>
          </a:p>
        </p:txBody>
      </p:sp>
      <p:sp>
        <p:nvSpPr>
          <p:cNvPr id="27" name="Rectangle 26"/>
          <p:cNvSpPr/>
          <p:nvPr/>
        </p:nvSpPr>
        <p:spPr>
          <a:xfrm>
            <a:off x="777240" y="3313176"/>
            <a:ext cx="5180076" cy="545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3313176"/>
            <a:ext cx="91440" cy="5455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332994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332994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3404616"/>
            <a:ext cx="4027932" cy="399288"/>
          </a:xfrm>
          <a:prstGeom prst="rect">
            <a:avLst/>
          </a:prstGeom>
          <a:noFill/>
        </p:spPr>
        <p:txBody>
          <a:bodyPr wrap="square" anchor="ctr">
            <a:spAutoFit/>
          </a:bodyPr>
          <a:lstStyle/>
          <a:p>
            <a:pPr algn="l">
              <a:spcAft>
                <a:spcPts val="400"/>
              </a:spcAft>
            </a:pPr>
            <a:r>
              <a:rPr sz="1300" b="0">
                <a:solidFill>
                  <a:srgbClr val="161B26"/>
                </a:solidFill>
                <a:latin typeface="Arial"/>
              </a:rPr>
              <a:t>Recognise, evaluate and respond to system interactions</a:t>
            </a:r>
          </a:p>
        </p:txBody>
      </p:sp>
      <p:sp>
        <p:nvSpPr>
          <p:cNvPr id="32" name="Rectangle 31"/>
          <p:cNvSpPr/>
          <p:nvPr/>
        </p:nvSpPr>
        <p:spPr>
          <a:xfrm>
            <a:off x="6231636" y="3313176"/>
            <a:ext cx="5180076" cy="545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3313176"/>
            <a:ext cx="91440" cy="5455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332994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332994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3404616"/>
            <a:ext cx="4027932" cy="399288"/>
          </a:xfrm>
          <a:prstGeom prst="rect">
            <a:avLst/>
          </a:prstGeom>
          <a:noFill/>
        </p:spPr>
        <p:txBody>
          <a:bodyPr wrap="square" anchor="ctr">
            <a:spAutoFit/>
          </a:bodyPr>
          <a:lstStyle/>
          <a:p>
            <a:pPr algn="l">
              <a:spcAft>
                <a:spcPts val="400"/>
              </a:spcAft>
            </a:pPr>
            <a:r>
              <a:rPr sz="1300" b="0">
                <a:solidFill>
                  <a:srgbClr val="161B26"/>
                </a:solidFill>
                <a:latin typeface="Arial"/>
              </a:rPr>
              <a:t>Demonstrate leadership behaviours</a:t>
            </a:r>
          </a:p>
        </p:txBody>
      </p:sp>
      <p:sp>
        <p:nvSpPr>
          <p:cNvPr id="37" name="Rectangle 36"/>
          <p:cNvSpPr/>
          <p:nvPr/>
        </p:nvSpPr>
        <p:spPr>
          <a:xfrm>
            <a:off x="777240" y="4078224"/>
            <a:ext cx="5180076" cy="545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4078224"/>
            <a:ext cx="91440" cy="5455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14984" y="4094988"/>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14984" y="409498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1" name="TextBox 40"/>
          <p:cNvSpPr txBox="1"/>
          <p:nvPr/>
        </p:nvSpPr>
        <p:spPr>
          <a:xfrm>
            <a:off x="1709928" y="4169664"/>
            <a:ext cx="4027932" cy="399288"/>
          </a:xfrm>
          <a:prstGeom prst="rect">
            <a:avLst/>
          </a:prstGeom>
          <a:noFill/>
        </p:spPr>
        <p:txBody>
          <a:bodyPr wrap="square" anchor="ctr">
            <a:spAutoFit/>
          </a:bodyPr>
          <a:lstStyle/>
          <a:p>
            <a:pPr algn="l">
              <a:spcAft>
                <a:spcPts val="400"/>
              </a:spcAft>
            </a:pPr>
            <a:r>
              <a:rPr sz="1300" b="0">
                <a:solidFill>
                  <a:srgbClr val="161B26"/>
                </a:solidFill>
                <a:latin typeface="Arial"/>
              </a:rPr>
              <a:t>Tailor based on context</a:t>
            </a:r>
          </a:p>
        </p:txBody>
      </p:sp>
      <p:sp>
        <p:nvSpPr>
          <p:cNvPr id="42" name="Rectangle 41"/>
          <p:cNvSpPr/>
          <p:nvPr/>
        </p:nvSpPr>
        <p:spPr>
          <a:xfrm>
            <a:off x="6231636" y="4078224"/>
            <a:ext cx="5180076" cy="545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4078224"/>
            <a:ext cx="91440" cy="5455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69380" y="4094988"/>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69380" y="409498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6" name="TextBox 45"/>
          <p:cNvSpPr txBox="1"/>
          <p:nvPr/>
        </p:nvSpPr>
        <p:spPr>
          <a:xfrm>
            <a:off x="7164324" y="4169664"/>
            <a:ext cx="4027932" cy="399288"/>
          </a:xfrm>
          <a:prstGeom prst="rect">
            <a:avLst/>
          </a:prstGeom>
          <a:noFill/>
        </p:spPr>
        <p:txBody>
          <a:bodyPr wrap="square" anchor="ctr">
            <a:spAutoFit/>
          </a:bodyPr>
          <a:lstStyle/>
          <a:p>
            <a:pPr algn="l">
              <a:spcAft>
                <a:spcPts val="400"/>
              </a:spcAft>
            </a:pPr>
            <a:r>
              <a:rPr sz="1300" b="0">
                <a:solidFill>
                  <a:srgbClr val="161B26"/>
                </a:solidFill>
                <a:latin typeface="Arial"/>
              </a:rPr>
              <a:t>Build quality into processes and deliverables</a:t>
            </a:r>
          </a:p>
        </p:txBody>
      </p:sp>
      <p:sp>
        <p:nvSpPr>
          <p:cNvPr id="47" name="Rectangle 46"/>
          <p:cNvSpPr/>
          <p:nvPr/>
        </p:nvSpPr>
        <p:spPr>
          <a:xfrm>
            <a:off x="777240" y="4843272"/>
            <a:ext cx="5180076" cy="545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77240" y="4843272"/>
            <a:ext cx="91440" cy="5455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014984" y="4860036"/>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9</a:t>
            </a:r>
          </a:p>
        </p:txBody>
      </p:sp>
      <p:sp>
        <p:nvSpPr>
          <p:cNvPr id="51" name="TextBox 50"/>
          <p:cNvSpPr txBox="1"/>
          <p:nvPr/>
        </p:nvSpPr>
        <p:spPr>
          <a:xfrm>
            <a:off x="1709928" y="4934712"/>
            <a:ext cx="4027932" cy="399288"/>
          </a:xfrm>
          <a:prstGeom prst="rect">
            <a:avLst/>
          </a:prstGeom>
          <a:noFill/>
        </p:spPr>
        <p:txBody>
          <a:bodyPr wrap="square" anchor="ctr">
            <a:spAutoFit/>
          </a:bodyPr>
          <a:lstStyle/>
          <a:p>
            <a:pPr algn="l">
              <a:spcAft>
                <a:spcPts val="400"/>
              </a:spcAft>
            </a:pPr>
            <a:r>
              <a:rPr sz="1300" b="0">
                <a:solidFill>
                  <a:srgbClr val="161B26"/>
                </a:solidFill>
                <a:latin typeface="Arial"/>
              </a:rPr>
              <a:t>Navigate complexity</a:t>
            </a:r>
          </a:p>
        </p:txBody>
      </p:sp>
      <p:sp>
        <p:nvSpPr>
          <p:cNvPr id="52" name="Rectangle 51"/>
          <p:cNvSpPr/>
          <p:nvPr/>
        </p:nvSpPr>
        <p:spPr>
          <a:xfrm>
            <a:off x="6231636" y="4843272"/>
            <a:ext cx="5180076" cy="545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231636" y="4843272"/>
            <a:ext cx="91440" cy="5455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6469380" y="486003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10</a:t>
            </a:r>
          </a:p>
        </p:txBody>
      </p:sp>
      <p:sp>
        <p:nvSpPr>
          <p:cNvPr id="56" name="TextBox 55"/>
          <p:cNvSpPr txBox="1"/>
          <p:nvPr/>
        </p:nvSpPr>
        <p:spPr>
          <a:xfrm>
            <a:off x="7164324" y="4934712"/>
            <a:ext cx="4027932" cy="399288"/>
          </a:xfrm>
          <a:prstGeom prst="rect">
            <a:avLst/>
          </a:prstGeom>
          <a:noFill/>
        </p:spPr>
        <p:txBody>
          <a:bodyPr wrap="square" anchor="ctr">
            <a:spAutoFit/>
          </a:bodyPr>
          <a:lstStyle/>
          <a:p>
            <a:pPr algn="l">
              <a:spcAft>
                <a:spcPts val="400"/>
              </a:spcAft>
            </a:pPr>
            <a:r>
              <a:rPr sz="1300" b="0">
                <a:solidFill>
                  <a:srgbClr val="161B26"/>
                </a:solidFill>
                <a:latin typeface="Arial"/>
              </a:rPr>
              <a:t>Optimise risk responses</a:t>
            </a:r>
          </a:p>
        </p:txBody>
      </p:sp>
      <p:sp>
        <p:nvSpPr>
          <p:cNvPr id="57" name="Rectangle 56"/>
          <p:cNvSpPr/>
          <p:nvPr/>
        </p:nvSpPr>
        <p:spPr>
          <a:xfrm>
            <a:off x="777240" y="5608320"/>
            <a:ext cx="5180076" cy="545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77240" y="5608320"/>
            <a:ext cx="91440" cy="5455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1014984" y="562508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14984" y="562508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11</a:t>
            </a:r>
          </a:p>
        </p:txBody>
      </p:sp>
      <p:sp>
        <p:nvSpPr>
          <p:cNvPr id="61" name="TextBox 60"/>
          <p:cNvSpPr txBox="1"/>
          <p:nvPr/>
        </p:nvSpPr>
        <p:spPr>
          <a:xfrm>
            <a:off x="1709928" y="5699760"/>
            <a:ext cx="4027932" cy="399288"/>
          </a:xfrm>
          <a:prstGeom prst="rect">
            <a:avLst/>
          </a:prstGeom>
          <a:noFill/>
        </p:spPr>
        <p:txBody>
          <a:bodyPr wrap="square" anchor="ctr">
            <a:spAutoFit/>
          </a:bodyPr>
          <a:lstStyle/>
          <a:p>
            <a:pPr algn="l">
              <a:spcAft>
                <a:spcPts val="400"/>
              </a:spcAft>
            </a:pPr>
            <a:r>
              <a:rPr sz="1300" b="0">
                <a:solidFill>
                  <a:srgbClr val="161B26"/>
                </a:solidFill>
                <a:latin typeface="Arial"/>
              </a:rPr>
              <a:t>Embrace adaptability and resilience</a:t>
            </a:r>
          </a:p>
        </p:txBody>
      </p:sp>
      <p:sp>
        <p:nvSpPr>
          <p:cNvPr id="62" name="Rectangle 61"/>
          <p:cNvSpPr/>
          <p:nvPr/>
        </p:nvSpPr>
        <p:spPr>
          <a:xfrm>
            <a:off x="6231636" y="5608320"/>
            <a:ext cx="5180076" cy="545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231636" y="5608320"/>
            <a:ext cx="91440" cy="5455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6469380" y="562508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469380" y="562508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12</a:t>
            </a:r>
          </a:p>
        </p:txBody>
      </p:sp>
      <p:sp>
        <p:nvSpPr>
          <p:cNvPr id="66" name="TextBox 65"/>
          <p:cNvSpPr txBox="1"/>
          <p:nvPr/>
        </p:nvSpPr>
        <p:spPr>
          <a:xfrm>
            <a:off x="7164324" y="5699760"/>
            <a:ext cx="4027932" cy="399288"/>
          </a:xfrm>
          <a:prstGeom prst="rect">
            <a:avLst/>
          </a:prstGeom>
          <a:noFill/>
        </p:spPr>
        <p:txBody>
          <a:bodyPr wrap="square" anchor="ctr">
            <a:spAutoFit/>
          </a:bodyPr>
          <a:lstStyle/>
          <a:p>
            <a:pPr algn="l">
              <a:spcAft>
                <a:spcPts val="400"/>
              </a:spcAft>
            </a:pPr>
            <a:r>
              <a:rPr sz="1300" b="0">
                <a:solidFill>
                  <a:srgbClr val="161B26"/>
                </a:solidFill>
                <a:latin typeface="Arial"/>
              </a:rPr>
              <a:t>Enable change to achieve the envisioned future state</a:t>
            </a:r>
          </a:p>
        </p:txBody>
      </p:sp>
      <p:sp>
        <p:nvSpPr>
          <p:cNvPr id="67" name="TextBox 6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68" name="TextBox 6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9" name="TextBox 6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ACTUALLY DRIVES OUTCOMES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Project Success Depends 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Organisational project maturity</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Project manager effectiveness</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Funding and resource availability</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Team member skill levels</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Collaboration and communication with stakeholders</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Understanding of the core problem and related needs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TWO DIFFERENT THINGS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Project Life Cycles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36208" y="1783080"/>
            <a:ext cx="517550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36208" y="1783080"/>
            <a:ext cx="517550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011680"/>
            <a:ext cx="4754880" cy="365760"/>
          </a:xfrm>
          <a:prstGeom prst="rect">
            <a:avLst/>
          </a:prstGeom>
          <a:noFill/>
        </p:spPr>
        <p:txBody>
          <a:bodyPr wrap="square" anchor="t">
            <a:spAutoFit/>
          </a:bodyPr>
          <a:lstStyle/>
          <a:p>
            <a:pPr algn="l">
              <a:spcAft>
                <a:spcPts val="400"/>
              </a:spcAft>
            </a:pPr>
            <a:r>
              <a:rPr sz="1700" b="1">
                <a:solidFill>
                  <a:srgbClr val="1F6FEB"/>
                </a:solidFill>
                <a:latin typeface="Arial"/>
              </a:rPr>
              <a:t>How the project is structured</a:t>
            </a:r>
          </a:p>
        </p:txBody>
      </p:sp>
      <p:sp>
        <p:nvSpPr>
          <p:cNvPr id="12" name="TextBox 11"/>
          <p:cNvSpPr txBox="1"/>
          <p:nvPr/>
        </p:nvSpPr>
        <p:spPr>
          <a:xfrm>
            <a:off x="6464808" y="2011680"/>
            <a:ext cx="4663440" cy="365760"/>
          </a:xfrm>
          <a:prstGeom prst="rect">
            <a:avLst/>
          </a:prstGeom>
          <a:noFill/>
        </p:spPr>
        <p:txBody>
          <a:bodyPr wrap="square" anchor="t">
            <a:spAutoFit/>
          </a:bodyPr>
          <a:lstStyle/>
          <a:p>
            <a:pPr algn="l">
              <a:spcAft>
                <a:spcPts val="400"/>
              </a:spcAft>
            </a:pPr>
            <a:r>
              <a:rPr sz="1700" b="1">
                <a:solidFill>
                  <a:srgbClr val="10B981"/>
                </a:solidFill>
                <a:latin typeface="Arial"/>
              </a:rPr>
              <a:t>How you deliver</a:t>
            </a:r>
          </a:p>
        </p:txBody>
      </p:sp>
      <p:sp>
        <p:nvSpPr>
          <p:cNvPr id="13" name="TextBox 12"/>
          <p:cNvSpPr txBox="1"/>
          <p:nvPr/>
        </p:nvSpPr>
        <p:spPr>
          <a:xfrm>
            <a:off x="1005840" y="2514600"/>
            <a:ext cx="4754880" cy="3383280"/>
          </a:xfrm>
          <a:prstGeom prst="rect">
            <a:avLst/>
          </a:prstGeom>
          <a:noFill/>
        </p:spPr>
        <p:txBody>
          <a:bodyPr wrap="square">
            <a:spAutoFit/>
          </a:bodyPr>
          <a:lstStyle/>
          <a:p>
            <a:pPr>
              <a:spcAft>
                <a:spcPts val="1000"/>
              </a:spcAft>
            </a:pPr>
            <a:r>
              <a:rPr sz="1500">
                <a:solidFill>
                  <a:srgbClr val="161B26"/>
                </a:solidFill>
                <a:latin typeface="Arial"/>
              </a:rPr>
              <a:t>•  Project Life Cycle</a:t>
            </a:r>
          </a:p>
          <a:p>
            <a:pPr>
              <a:spcAft>
                <a:spcPts val="1000"/>
              </a:spcAft>
            </a:pPr>
            <a:r>
              <a:rPr sz="1300">
                <a:solidFill>
                  <a:srgbClr val="5B6372"/>
                </a:solidFill>
                <a:latin typeface="Arial"/>
              </a:rPr>
              <a:t>–  The phases the project passes through</a:t>
            </a:r>
          </a:p>
          <a:p>
            <a:pPr>
              <a:spcAft>
                <a:spcPts val="1000"/>
              </a:spcAft>
            </a:pPr>
            <a:r>
              <a:rPr sz="1300">
                <a:solidFill>
                  <a:srgbClr val="5B6372"/>
                </a:solidFill>
                <a:latin typeface="Arial"/>
              </a:rPr>
              <a:t>–  May have phase gates — review performance against objectives</a:t>
            </a:r>
          </a:p>
          <a:p>
            <a:pPr>
              <a:spcAft>
                <a:spcPts val="1000"/>
              </a:spcAft>
            </a:pPr>
            <a:r>
              <a:rPr sz="1300">
                <a:solidFill>
                  <a:srgbClr val="5B6372"/>
                </a:solidFill>
                <a:latin typeface="Arial"/>
              </a:rPr>
              <a:t>–  At each gate: proceed, change or stop</a:t>
            </a:r>
          </a:p>
        </p:txBody>
      </p:sp>
      <p:sp>
        <p:nvSpPr>
          <p:cNvPr id="14" name="TextBox 13"/>
          <p:cNvSpPr txBox="1"/>
          <p:nvPr/>
        </p:nvSpPr>
        <p:spPr>
          <a:xfrm>
            <a:off x="6464808" y="2514600"/>
            <a:ext cx="4709160" cy="3383280"/>
          </a:xfrm>
          <a:prstGeom prst="rect">
            <a:avLst/>
          </a:prstGeom>
          <a:noFill/>
        </p:spPr>
        <p:txBody>
          <a:bodyPr wrap="square">
            <a:spAutoFit/>
          </a:bodyPr>
          <a:lstStyle/>
          <a:p>
            <a:pPr>
              <a:spcAft>
                <a:spcPts val="1000"/>
              </a:spcAft>
            </a:pPr>
            <a:r>
              <a:rPr sz="1500">
                <a:solidFill>
                  <a:srgbClr val="161B26"/>
                </a:solidFill>
                <a:latin typeface="Arial"/>
              </a:rPr>
              <a:t>•  Development Life Cycle</a:t>
            </a:r>
          </a:p>
          <a:p>
            <a:pPr>
              <a:spcAft>
                <a:spcPts val="1000"/>
              </a:spcAft>
            </a:pPr>
            <a:r>
              <a:rPr sz="1300">
                <a:solidFill>
                  <a:srgbClr val="5B6372"/>
                </a:solidFill>
                <a:latin typeface="Arial"/>
              </a:rPr>
              <a:t>–  Predictive (Waterfall)</a:t>
            </a:r>
          </a:p>
          <a:p>
            <a:pPr>
              <a:spcAft>
                <a:spcPts val="1000"/>
              </a:spcAft>
            </a:pPr>
            <a:r>
              <a:rPr sz="1300">
                <a:solidFill>
                  <a:srgbClr val="5B6372"/>
                </a:solidFill>
                <a:latin typeface="Arial"/>
              </a:rPr>
              <a:t>–  Iterative</a:t>
            </a:r>
          </a:p>
          <a:p>
            <a:pPr>
              <a:spcAft>
                <a:spcPts val="1000"/>
              </a:spcAft>
            </a:pPr>
            <a:r>
              <a:rPr sz="1300">
                <a:solidFill>
                  <a:srgbClr val="5B6372"/>
                </a:solidFill>
                <a:latin typeface="Arial"/>
              </a:rPr>
              <a:t>–  Incremental</a:t>
            </a:r>
          </a:p>
          <a:p>
            <a:pPr>
              <a:spcAft>
                <a:spcPts val="1000"/>
              </a:spcAft>
            </a:pPr>
            <a:r>
              <a:rPr sz="1300">
                <a:solidFill>
                  <a:srgbClr val="5B6372"/>
                </a:solidFill>
                <a:latin typeface="Arial"/>
              </a:rPr>
              <a:t>–  Agile</a:t>
            </a:r>
          </a:p>
          <a:p>
            <a:pPr>
              <a:spcAft>
                <a:spcPts val="1000"/>
              </a:spcAft>
            </a:pPr>
            <a:r>
              <a:rPr sz="1300">
                <a:solidFill>
                  <a:srgbClr val="5B6372"/>
                </a:solidFill>
                <a:latin typeface="Arial"/>
              </a:rPr>
              <a:t>–  Hybrid</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CHOOSING YOUR APPROACH</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Waterfall vs Agile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36208" y="1783080"/>
            <a:ext cx="517550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36208" y="1783080"/>
            <a:ext cx="517550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011680"/>
            <a:ext cx="4754880" cy="365760"/>
          </a:xfrm>
          <a:prstGeom prst="rect">
            <a:avLst/>
          </a:prstGeom>
          <a:noFill/>
        </p:spPr>
        <p:txBody>
          <a:bodyPr wrap="square" anchor="t">
            <a:spAutoFit/>
          </a:bodyPr>
          <a:lstStyle/>
          <a:p>
            <a:pPr algn="l">
              <a:spcAft>
                <a:spcPts val="400"/>
              </a:spcAft>
            </a:pPr>
            <a:r>
              <a:rPr sz="1700" b="1">
                <a:solidFill>
                  <a:srgbClr val="1F6FEB"/>
                </a:solidFill>
                <a:latin typeface="Arial"/>
              </a:rPr>
              <a:t>Predictive</a:t>
            </a:r>
          </a:p>
        </p:txBody>
      </p:sp>
      <p:sp>
        <p:nvSpPr>
          <p:cNvPr id="12" name="TextBox 11"/>
          <p:cNvSpPr txBox="1"/>
          <p:nvPr/>
        </p:nvSpPr>
        <p:spPr>
          <a:xfrm>
            <a:off x="6464808" y="2011680"/>
            <a:ext cx="4663440" cy="365760"/>
          </a:xfrm>
          <a:prstGeom prst="rect">
            <a:avLst/>
          </a:prstGeom>
          <a:noFill/>
        </p:spPr>
        <p:txBody>
          <a:bodyPr wrap="square" anchor="t">
            <a:spAutoFit/>
          </a:bodyPr>
          <a:lstStyle/>
          <a:p>
            <a:pPr algn="l">
              <a:spcAft>
                <a:spcPts val="400"/>
              </a:spcAft>
            </a:pPr>
            <a:r>
              <a:rPr sz="1700" b="1">
                <a:solidFill>
                  <a:srgbClr val="10B981"/>
                </a:solidFill>
                <a:latin typeface="Arial"/>
              </a:rPr>
              <a:t>Adaptive</a:t>
            </a:r>
          </a:p>
        </p:txBody>
      </p:sp>
      <p:sp>
        <p:nvSpPr>
          <p:cNvPr id="13" name="TextBox 12"/>
          <p:cNvSpPr txBox="1"/>
          <p:nvPr/>
        </p:nvSpPr>
        <p:spPr>
          <a:xfrm>
            <a:off x="1005840" y="2514600"/>
            <a:ext cx="4754880" cy="3383280"/>
          </a:xfrm>
          <a:prstGeom prst="rect">
            <a:avLst/>
          </a:prstGeom>
          <a:noFill/>
        </p:spPr>
        <p:txBody>
          <a:bodyPr wrap="square">
            <a:spAutoFit/>
          </a:bodyPr>
          <a:lstStyle/>
          <a:p>
            <a:pPr>
              <a:spcAft>
                <a:spcPts val="1000"/>
              </a:spcAft>
            </a:pPr>
            <a:r>
              <a:rPr sz="1500">
                <a:solidFill>
                  <a:srgbClr val="161B26"/>
                </a:solidFill>
                <a:latin typeface="Arial"/>
              </a:rPr>
              <a:t>•  Predictive / Waterfall</a:t>
            </a:r>
          </a:p>
          <a:p>
            <a:pPr>
              <a:spcAft>
                <a:spcPts val="1000"/>
              </a:spcAft>
            </a:pPr>
            <a:r>
              <a:rPr sz="1300">
                <a:solidFill>
                  <a:srgbClr val="5B6372"/>
                </a:solidFill>
                <a:latin typeface="Arial"/>
              </a:rPr>
              <a:t>–  Requirements fixed up front</a:t>
            </a:r>
          </a:p>
          <a:p>
            <a:pPr>
              <a:spcAft>
                <a:spcPts val="1000"/>
              </a:spcAft>
            </a:pPr>
            <a:r>
              <a:rPr sz="1300">
                <a:solidFill>
                  <a:srgbClr val="5B6372"/>
                </a:solidFill>
                <a:latin typeface="Arial"/>
              </a:rPr>
              <a:t>–  Performs each process once for the whole product</a:t>
            </a:r>
          </a:p>
          <a:p>
            <a:pPr>
              <a:spcAft>
                <a:spcPts val="1000"/>
              </a:spcAft>
            </a:pPr>
            <a:r>
              <a:rPr sz="1300">
                <a:solidFill>
                  <a:srgbClr val="5B6372"/>
                </a:solidFill>
                <a:latin typeface="Arial"/>
              </a:rPr>
              <a:t>–  Change is controlled through change requests</a:t>
            </a:r>
          </a:p>
          <a:p>
            <a:pPr>
              <a:spcAft>
                <a:spcPts val="1000"/>
              </a:spcAft>
            </a:pPr>
            <a:r>
              <a:rPr sz="1300">
                <a:solidFill>
                  <a:srgbClr val="5B6372"/>
                </a:solidFill>
                <a:latin typeface="Arial"/>
              </a:rPr>
              <a:t>–  Suits well-understood, stable work</a:t>
            </a:r>
          </a:p>
        </p:txBody>
      </p:sp>
      <p:sp>
        <p:nvSpPr>
          <p:cNvPr id="14" name="TextBox 13"/>
          <p:cNvSpPr txBox="1"/>
          <p:nvPr/>
        </p:nvSpPr>
        <p:spPr>
          <a:xfrm>
            <a:off x="6464808" y="2514600"/>
            <a:ext cx="4709160" cy="3383280"/>
          </a:xfrm>
          <a:prstGeom prst="rect">
            <a:avLst/>
          </a:prstGeom>
          <a:noFill/>
        </p:spPr>
        <p:txBody>
          <a:bodyPr wrap="square">
            <a:spAutoFit/>
          </a:bodyPr>
          <a:lstStyle/>
          <a:p>
            <a:pPr>
              <a:spcAft>
                <a:spcPts val="1000"/>
              </a:spcAft>
            </a:pPr>
            <a:r>
              <a:rPr sz="1500">
                <a:solidFill>
                  <a:srgbClr val="161B26"/>
                </a:solidFill>
                <a:latin typeface="Arial"/>
              </a:rPr>
              <a:t>•  Adaptive / Agile</a:t>
            </a:r>
          </a:p>
          <a:p>
            <a:pPr>
              <a:spcAft>
                <a:spcPts val="1000"/>
              </a:spcAft>
            </a:pPr>
            <a:r>
              <a:rPr sz="1300">
                <a:solidFill>
                  <a:srgbClr val="5B6372"/>
                </a:solidFill>
                <a:latin typeface="Arial"/>
              </a:rPr>
              <a:t>–  Requirements emerge and are re-prioritised</a:t>
            </a:r>
          </a:p>
          <a:p>
            <a:pPr>
              <a:spcAft>
                <a:spcPts val="1000"/>
              </a:spcAft>
            </a:pPr>
            <a:r>
              <a:rPr sz="1300">
                <a:solidFill>
                  <a:srgbClr val="5B6372"/>
                </a:solidFill>
                <a:latin typeface="Arial"/>
              </a:rPr>
              <a:t>–  Performs each process once per increment</a:t>
            </a:r>
          </a:p>
          <a:p>
            <a:pPr>
              <a:spcAft>
                <a:spcPts val="1000"/>
              </a:spcAft>
            </a:pPr>
            <a:r>
              <a:rPr sz="1300">
                <a:solidFill>
                  <a:srgbClr val="5B6372"/>
                </a:solidFill>
                <a:latin typeface="Arial"/>
              </a:rPr>
              <a:t>–  Change is expected and welcomed</a:t>
            </a:r>
          </a:p>
          <a:p>
            <a:pPr>
              <a:spcAft>
                <a:spcPts val="1000"/>
              </a:spcAft>
            </a:pPr>
            <a:r>
              <a:rPr sz="1300">
                <a:solidFill>
                  <a:srgbClr val="5B6372"/>
                </a:solidFill>
                <a:latin typeface="Arial"/>
              </a:rPr>
              <a:t>–  Suits high-uncertainty work</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AGILE ACTUALLY MEANS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Agile = Incremental + Iterative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Incremental</a:t>
            </a:r>
          </a:p>
          <a:p>
            <a:pPr algn="l">
              <a:spcAft>
                <a:spcPts val="300"/>
              </a:spcAft>
            </a:pPr>
            <a:r>
              <a:rPr sz="1200" b="0">
                <a:solidFill>
                  <a:srgbClr val="5B6372"/>
                </a:solidFill>
                <a:latin typeface="Arial"/>
              </a:rPr>
              <a:t>Small, regular releases of working value rather than one big-bang delivery.</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Iterative</a:t>
            </a:r>
          </a:p>
          <a:p>
            <a:pPr algn="l">
              <a:spcAft>
                <a:spcPts val="300"/>
              </a:spcAft>
            </a:pPr>
            <a:r>
              <a:rPr sz="1200" b="0">
                <a:solidFill>
                  <a:srgbClr val="5B6372"/>
                </a:solidFill>
                <a:latin typeface="Arial"/>
              </a:rPr>
              <a:t>Reflecting and improving regularly — each cycle makes the product better.</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High uncertainty</a:t>
            </a:r>
          </a:p>
          <a:p>
            <a:pPr algn="l">
              <a:spcAft>
                <a:spcPts val="300"/>
              </a:spcAft>
            </a:pPr>
            <a:r>
              <a:rPr sz="1200" b="0">
                <a:solidFill>
                  <a:srgbClr val="5B6372"/>
                </a:solidFill>
                <a:latin typeface="Arial"/>
              </a:rPr>
              <a:t>Agile suits work where the requirements cannot be fully known up front.</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Many origins</a:t>
            </a:r>
          </a:p>
          <a:p>
            <a:pPr algn="l">
              <a:spcAft>
                <a:spcPts val="300"/>
              </a:spcAft>
            </a:pPr>
            <a:r>
              <a:rPr sz="1200" b="0">
                <a:solidFill>
                  <a:srgbClr val="5B6372"/>
                </a:solidFill>
                <a:latin typeface="Arial"/>
              </a:rPr>
              <a:t>Agile draws on Scrum, XP, Kanban, Lean and DSDM.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WHO DOES THE 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Project Team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36208" y="1783080"/>
            <a:ext cx="517550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36208" y="1783080"/>
            <a:ext cx="517550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011680"/>
            <a:ext cx="4754880" cy="365760"/>
          </a:xfrm>
          <a:prstGeom prst="rect">
            <a:avLst/>
          </a:prstGeom>
          <a:noFill/>
        </p:spPr>
        <p:txBody>
          <a:bodyPr wrap="square" anchor="t">
            <a:spAutoFit/>
          </a:bodyPr>
          <a:lstStyle/>
          <a:p>
            <a:pPr algn="l">
              <a:spcAft>
                <a:spcPts val="400"/>
              </a:spcAft>
            </a:pPr>
            <a:r>
              <a:rPr sz="1700" b="1">
                <a:solidFill>
                  <a:srgbClr val="1F6FEB"/>
                </a:solidFill>
                <a:latin typeface="Arial"/>
              </a:rPr>
              <a:t>Makeup</a:t>
            </a:r>
          </a:p>
        </p:txBody>
      </p:sp>
      <p:sp>
        <p:nvSpPr>
          <p:cNvPr id="12" name="TextBox 11"/>
          <p:cNvSpPr txBox="1"/>
          <p:nvPr/>
        </p:nvSpPr>
        <p:spPr>
          <a:xfrm>
            <a:off x="6464808" y="2011680"/>
            <a:ext cx="4663440" cy="365760"/>
          </a:xfrm>
          <a:prstGeom prst="rect">
            <a:avLst/>
          </a:prstGeom>
          <a:noFill/>
        </p:spPr>
        <p:txBody>
          <a:bodyPr wrap="square" anchor="t">
            <a:spAutoFit/>
          </a:bodyPr>
          <a:lstStyle/>
          <a:p>
            <a:pPr algn="l">
              <a:spcAft>
                <a:spcPts val="400"/>
              </a:spcAft>
            </a:pPr>
            <a:r>
              <a:rPr sz="1700" b="1">
                <a:solidFill>
                  <a:srgbClr val="10B981"/>
                </a:solidFill>
                <a:latin typeface="Arial"/>
              </a:rPr>
              <a:t>Skills</a:t>
            </a:r>
          </a:p>
        </p:txBody>
      </p:sp>
      <p:sp>
        <p:nvSpPr>
          <p:cNvPr id="13" name="TextBox 12"/>
          <p:cNvSpPr txBox="1"/>
          <p:nvPr/>
        </p:nvSpPr>
        <p:spPr>
          <a:xfrm>
            <a:off x="1005840" y="2514600"/>
            <a:ext cx="4754880" cy="3383280"/>
          </a:xfrm>
          <a:prstGeom prst="rect">
            <a:avLst/>
          </a:prstGeom>
          <a:noFill/>
        </p:spPr>
        <p:txBody>
          <a:bodyPr wrap="square">
            <a:spAutoFit/>
          </a:bodyPr>
          <a:lstStyle/>
          <a:p>
            <a:pPr>
              <a:spcAft>
                <a:spcPts val="1000"/>
              </a:spcAft>
            </a:pPr>
            <a:r>
              <a:rPr sz="1500">
                <a:solidFill>
                  <a:srgbClr val="161B26"/>
                </a:solidFill>
                <a:latin typeface="Arial"/>
              </a:rPr>
              <a:t>•  Team makeup varies</a:t>
            </a:r>
          </a:p>
          <a:p>
            <a:pPr>
              <a:spcAft>
                <a:spcPts val="1000"/>
              </a:spcAft>
            </a:pPr>
            <a:r>
              <a:rPr sz="1300">
                <a:solidFill>
                  <a:srgbClr val="5B6372"/>
                </a:solidFill>
                <a:latin typeface="Arial"/>
              </a:rPr>
              <a:t>–  By organisational culture, location and scope</a:t>
            </a:r>
          </a:p>
          <a:p>
            <a:pPr>
              <a:spcAft>
                <a:spcPts val="1000"/>
              </a:spcAft>
            </a:pPr>
            <a:r>
              <a:rPr sz="1300">
                <a:solidFill>
                  <a:srgbClr val="5B6372"/>
                </a:solidFill>
                <a:latin typeface="Arial"/>
              </a:rPr>
              <a:t>–  Full-time or part-time members</a:t>
            </a:r>
          </a:p>
          <a:p>
            <a:pPr>
              <a:spcAft>
                <a:spcPts val="1000"/>
              </a:spcAft>
            </a:pPr>
            <a:r>
              <a:rPr sz="1300">
                <a:solidFill>
                  <a:srgbClr val="5B6372"/>
                </a:solidFill>
                <a:latin typeface="Arial"/>
              </a:rPr>
              <a:t>–  Includes generalists and specialists</a:t>
            </a:r>
          </a:p>
          <a:p>
            <a:pPr>
              <a:spcAft>
                <a:spcPts val="1000"/>
              </a:spcAft>
            </a:pPr>
            <a:r>
              <a:rPr sz="1300">
                <a:solidFill>
                  <a:srgbClr val="5B6372"/>
                </a:solidFill>
                <a:latin typeface="Arial"/>
              </a:rPr>
              <a:t>–  Co-location helps — learning by osmosis</a:t>
            </a:r>
          </a:p>
        </p:txBody>
      </p:sp>
      <p:sp>
        <p:nvSpPr>
          <p:cNvPr id="14" name="TextBox 13"/>
          <p:cNvSpPr txBox="1"/>
          <p:nvPr/>
        </p:nvSpPr>
        <p:spPr>
          <a:xfrm>
            <a:off x="6464808" y="2514600"/>
            <a:ext cx="4709160" cy="3383280"/>
          </a:xfrm>
          <a:prstGeom prst="rect">
            <a:avLst/>
          </a:prstGeom>
          <a:noFill/>
        </p:spPr>
        <p:txBody>
          <a:bodyPr wrap="square">
            <a:spAutoFit/>
          </a:bodyPr>
          <a:lstStyle/>
          <a:p>
            <a:pPr>
              <a:spcAft>
                <a:spcPts val="1000"/>
              </a:spcAft>
            </a:pPr>
            <a:r>
              <a:rPr sz="1500">
                <a:solidFill>
                  <a:srgbClr val="161B26"/>
                </a:solidFill>
                <a:latin typeface="Arial"/>
              </a:rPr>
              <a:t>•  Skill requirements</a:t>
            </a:r>
          </a:p>
          <a:p>
            <a:pPr>
              <a:spcAft>
                <a:spcPts val="1000"/>
              </a:spcAft>
            </a:pPr>
            <a:r>
              <a:rPr sz="1300">
                <a:solidFill>
                  <a:srgbClr val="5B6372"/>
                </a:solidFill>
                <a:latin typeface="Arial"/>
              </a:rPr>
              <a:t>–  Ensure relevant skill sets are present</a:t>
            </a:r>
          </a:p>
          <a:p>
            <a:pPr>
              <a:spcAft>
                <a:spcPts val="1000"/>
              </a:spcAft>
            </a:pPr>
            <a:r>
              <a:rPr sz="1300">
                <a:solidFill>
                  <a:srgbClr val="5B6372"/>
                </a:solidFill>
                <a:latin typeface="Arial"/>
              </a:rPr>
              <a:t>–  Avoid single points of failure</a:t>
            </a:r>
          </a:p>
          <a:p>
            <a:pPr>
              <a:spcAft>
                <a:spcPts val="1000"/>
              </a:spcAft>
            </a:pPr>
            <a:r>
              <a:rPr sz="1300">
                <a:solidFill>
                  <a:srgbClr val="5B6372"/>
                </a:solidFill>
                <a:latin typeface="Arial"/>
              </a:rPr>
              <a:t>–  Create cross-functional teams</a:t>
            </a:r>
          </a:p>
          <a:p>
            <a:pPr>
              <a:spcAft>
                <a:spcPts val="1000"/>
              </a:spcAft>
            </a:pPr>
            <a:r>
              <a:rPr sz="1300">
                <a:solidFill>
                  <a:srgbClr val="5B6372"/>
                </a:solidFill>
                <a:latin typeface="Arial"/>
              </a:rPr>
              <a:t>–  Use generalising specialists — 'T-shaped' people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9509760" cy="548640"/>
          </a:xfrm>
          <a:prstGeom prst="rect">
            <a:avLst/>
          </a:prstGeom>
          <a:noFill/>
        </p:spPr>
        <p:txBody>
          <a:bodyPr wrap="square" anchor="t">
            <a:spAutoFit/>
          </a:bodyPr>
          <a:lstStyle/>
          <a:p>
            <a:pPr algn="l">
              <a:spcAft>
                <a:spcPts val="400"/>
              </a:spcAft>
            </a:pPr>
            <a:r>
              <a:rPr sz="1800" b="1">
                <a:solidFill>
                  <a:srgbClr val="1F6FEB"/>
                </a:solidFill>
                <a:latin typeface="Arial"/>
              </a:rPr>
              <a:t>GENERATIVE AI</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3800" b="1">
                <a:solidFill>
                  <a:srgbClr val="161B26"/>
                </a:solidFill>
                <a:latin typeface="Arial"/>
              </a:rPr>
              <a:t>GenAI for the Project Manager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ESSENTIALS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is Generative 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Creates new content</a:t>
            </a:r>
          </a:p>
          <a:p>
            <a:pPr algn="l">
              <a:spcAft>
                <a:spcPts val="300"/>
              </a:spcAft>
            </a:pPr>
            <a:r>
              <a:rPr sz="1200" b="0">
                <a:solidFill>
                  <a:srgbClr val="5B6372"/>
                </a:solidFill>
                <a:latin typeface="Arial"/>
              </a:rPr>
              <a:t>GenAI tools generate text, images, code, tables and ideas from a prompt.</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Trained on patterns</a:t>
            </a:r>
          </a:p>
          <a:p>
            <a:pPr algn="l">
              <a:spcAft>
                <a:spcPts val="300"/>
              </a:spcAft>
            </a:pPr>
            <a:r>
              <a:rPr sz="1200" b="0">
                <a:solidFill>
                  <a:srgbClr val="5B6372"/>
                </a:solidFill>
                <a:latin typeface="Arial"/>
              </a:rPr>
              <a:t>They predict likely output from patterns in training data — they do not 'know' your project.</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Conversational</a:t>
            </a:r>
          </a:p>
          <a:p>
            <a:pPr algn="l">
              <a:spcAft>
                <a:spcPts val="300"/>
              </a:spcAft>
            </a:pPr>
            <a:r>
              <a:rPr sz="1200" b="0">
                <a:solidFill>
                  <a:srgbClr val="5B6372"/>
                </a:solidFill>
                <a:latin typeface="Arial"/>
              </a:rPr>
              <a:t>You refine the output by refining the prompt — it is a dialogue, not a search box.</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Confidently wrong</a:t>
            </a:r>
          </a:p>
          <a:p>
            <a:pPr algn="l">
              <a:spcAft>
                <a:spcPts val="300"/>
              </a:spcAft>
            </a:pPr>
            <a:r>
              <a:rPr sz="1200" b="0">
                <a:solidFill>
                  <a:srgbClr val="5B6372"/>
                </a:solidFill>
                <a:latin typeface="Arial"/>
              </a:rPr>
              <a:t>They will produce fluent, plausible output that is factually wrong. Verification is your job.</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YOUR TOOLKIT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GenAI Tools You'll Use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9860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187634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187634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9482328" cy="534009"/>
          </a:xfrm>
          <a:prstGeom prst="rect">
            <a:avLst/>
          </a:prstGeom>
          <a:noFill/>
        </p:spPr>
        <p:txBody>
          <a:bodyPr wrap="square" anchor="ctr">
            <a:spAutoFit/>
          </a:bodyPr>
          <a:lstStyle/>
          <a:p>
            <a:pPr algn="l">
              <a:spcAft>
                <a:spcPts val="300"/>
              </a:spcAft>
            </a:pPr>
            <a:r>
              <a:rPr sz="1500" b="1">
                <a:solidFill>
                  <a:srgbClr val="161B26"/>
                </a:solidFill>
                <a:latin typeface="Arial"/>
              </a:rPr>
              <a:t>ChatGPT</a:t>
            </a:r>
          </a:p>
          <a:p>
            <a:pPr algn="l">
              <a:spcAft>
                <a:spcPts val="300"/>
              </a:spcAft>
            </a:pPr>
            <a:r>
              <a:rPr sz="1100" b="0">
                <a:solidFill>
                  <a:srgbClr val="5B6372"/>
                </a:solidFill>
                <a:latin typeface="Arial"/>
              </a:rPr>
              <a:t>chat.openai.com — general drafting, tables, analysis.</a:t>
            </a:r>
          </a:p>
        </p:txBody>
      </p:sp>
      <p:sp>
        <p:nvSpPr>
          <p:cNvPr id="12" name="Rectangle 11"/>
          <p:cNvSpPr/>
          <p:nvPr/>
        </p:nvSpPr>
        <p:spPr>
          <a:xfrm>
            <a:off x="777240" y="2701137"/>
            <a:ext cx="10634472"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1137"/>
            <a:ext cx="91440" cy="69860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14984" y="2794405"/>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4" y="2794405"/>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1709928" y="2810865"/>
            <a:ext cx="9482328" cy="534009"/>
          </a:xfrm>
          <a:prstGeom prst="rect">
            <a:avLst/>
          </a:prstGeom>
          <a:noFill/>
        </p:spPr>
        <p:txBody>
          <a:bodyPr wrap="square" anchor="ctr">
            <a:spAutoFit/>
          </a:bodyPr>
          <a:lstStyle/>
          <a:p>
            <a:pPr algn="l">
              <a:spcAft>
                <a:spcPts val="300"/>
              </a:spcAft>
            </a:pPr>
            <a:r>
              <a:rPr sz="1500" b="1">
                <a:solidFill>
                  <a:srgbClr val="161B26"/>
                </a:solidFill>
                <a:latin typeface="Arial"/>
              </a:rPr>
              <a:t>Claude</a:t>
            </a:r>
          </a:p>
          <a:p>
            <a:pPr algn="l">
              <a:spcAft>
                <a:spcPts val="300"/>
              </a:spcAft>
            </a:pPr>
            <a:r>
              <a:rPr sz="1100" b="0">
                <a:solidFill>
                  <a:srgbClr val="5B6372"/>
                </a:solidFill>
                <a:latin typeface="Arial"/>
              </a:rPr>
              <a:t>claude.ai — long documents, structured reasoning, critique.</a:t>
            </a:r>
          </a:p>
        </p:txBody>
      </p:sp>
      <p:sp>
        <p:nvSpPr>
          <p:cNvPr id="17" name="Rectangle 16"/>
          <p:cNvSpPr/>
          <p:nvPr/>
        </p:nvSpPr>
        <p:spPr>
          <a:xfrm>
            <a:off x="777240" y="3619194"/>
            <a:ext cx="10634472"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19194"/>
            <a:ext cx="91440" cy="69860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2"/>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728922"/>
            <a:ext cx="9482328" cy="534009"/>
          </a:xfrm>
          <a:prstGeom prst="rect">
            <a:avLst/>
          </a:prstGeom>
          <a:noFill/>
        </p:spPr>
        <p:txBody>
          <a:bodyPr wrap="square" anchor="ctr">
            <a:spAutoFit/>
          </a:bodyPr>
          <a:lstStyle/>
          <a:p>
            <a:pPr algn="l">
              <a:spcAft>
                <a:spcPts val="300"/>
              </a:spcAft>
            </a:pPr>
            <a:r>
              <a:rPr sz="1500" b="1">
                <a:solidFill>
                  <a:srgbClr val="161B26"/>
                </a:solidFill>
                <a:latin typeface="Arial"/>
              </a:rPr>
              <a:t>Gemini</a:t>
            </a:r>
          </a:p>
          <a:p>
            <a:pPr algn="l">
              <a:spcAft>
                <a:spcPts val="300"/>
              </a:spcAft>
            </a:pPr>
            <a:r>
              <a:rPr sz="1100" b="0">
                <a:solidFill>
                  <a:srgbClr val="5B6372"/>
                </a:solidFill>
                <a:latin typeface="Arial"/>
              </a:rPr>
              <a:t>gemini.google.com — research-backed drafting and Workspace integration.</a:t>
            </a:r>
          </a:p>
        </p:txBody>
      </p:sp>
      <p:sp>
        <p:nvSpPr>
          <p:cNvPr id="22" name="Rectangle 21"/>
          <p:cNvSpPr/>
          <p:nvPr/>
        </p:nvSpPr>
        <p:spPr>
          <a:xfrm>
            <a:off x="777240" y="4537251"/>
            <a:ext cx="10634472"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37251"/>
            <a:ext cx="91440" cy="69860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14984" y="4630519"/>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4984" y="4630519"/>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1709928" y="4646979"/>
            <a:ext cx="9482328" cy="534009"/>
          </a:xfrm>
          <a:prstGeom prst="rect">
            <a:avLst/>
          </a:prstGeom>
          <a:noFill/>
        </p:spPr>
        <p:txBody>
          <a:bodyPr wrap="square" anchor="ctr">
            <a:spAutoFit/>
          </a:bodyPr>
          <a:lstStyle/>
          <a:p>
            <a:pPr algn="l">
              <a:spcAft>
                <a:spcPts val="300"/>
              </a:spcAft>
            </a:pPr>
            <a:r>
              <a:rPr sz="1500" b="1">
                <a:solidFill>
                  <a:srgbClr val="161B26"/>
                </a:solidFill>
                <a:latin typeface="Arial"/>
              </a:rPr>
              <a:t>Microsoft Copilot</a:t>
            </a:r>
          </a:p>
          <a:p>
            <a:pPr algn="l">
              <a:spcAft>
                <a:spcPts val="300"/>
              </a:spcAft>
            </a:pPr>
            <a:r>
              <a:rPr sz="1100" b="0">
                <a:solidFill>
                  <a:srgbClr val="5B6372"/>
                </a:solidFill>
                <a:latin typeface="Arial"/>
              </a:rPr>
              <a:t>copilot.microsoft.com — drafting inside Office documents.</a:t>
            </a:r>
          </a:p>
        </p:txBody>
      </p:sp>
      <p:sp>
        <p:nvSpPr>
          <p:cNvPr id="27" name="Rectangle 26"/>
          <p:cNvSpPr/>
          <p:nvPr/>
        </p:nvSpPr>
        <p:spPr>
          <a:xfrm>
            <a:off x="777240" y="5455308"/>
            <a:ext cx="10634472"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55308"/>
            <a:ext cx="91440" cy="69860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548576"/>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54857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5565036"/>
            <a:ext cx="9482328" cy="534009"/>
          </a:xfrm>
          <a:prstGeom prst="rect">
            <a:avLst/>
          </a:prstGeom>
          <a:noFill/>
        </p:spPr>
        <p:txBody>
          <a:bodyPr wrap="square" anchor="ctr">
            <a:spAutoFit/>
          </a:bodyPr>
          <a:lstStyle/>
          <a:p>
            <a:pPr algn="l">
              <a:spcAft>
                <a:spcPts val="300"/>
              </a:spcAft>
            </a:pPr>
            <a:r>
              <a:rPr sz="1500" b="1">
                <a:solidFill>
                  <a:srgbClr val="161B26"/>
                </a:solidFill>
                <a:latin typeface="Arial"/>
              </a:rPr>
              <a:t>Project Manager Buddy GPT</a:t>
            </a:r>
          </a:p>
          <a:p>
            <a:pPr algn="l">
              <a:spcAft>
                <a:spcPts val="300"/>
              </a:spcAft>
            </a:pPr>
            <a:r>
              <a:rPr sz="1100" b="0">
                <a:solidFill>
                  <a:srgbClr val="5B6372"/>
                </a:solidFill>
                <a:latin typeface="Arial"/>
              </a:rPr>
              <a:t>A purpose-built PM GPT used throughout this course.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YOUR COURSE GPT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Project Manager Buddy GPT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What it is</a:t>
            </a:r>
          </a:p>
          <a:p>
            <a:pPr algn="l">
              <a:spcAft>
                <a:spcPts val="300"/>
              </a:spcAft>
            </a:pPr>
            <a:r>
              <a:rPr sz="1100" b="0">
                <a:solidFill>
                  <a:srgbClr val="5B6372"/>
                </a:solidFill>
                <a:latin typeface="Arial"/>
              </a:rPr>
              <a:t>A purpose-built GPT for project management, used throughout this course's activities.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Why use it</a:t>
            </a:r>
          </a:p>
          <a:p>
            <a:pPr algn="l">
              <a:spcAft>
                <a:spcPts val="300"/>
              </a:spcAft>
            </a:pPr>
            <a:r>
              <a:rPr sz="1100" b="0">
                <a:solidFill>
                  <a:srgbClr val="5B6372"/>
                </a:solidFill>
                <a:latin typeface="Arial"/>
              </a:rPr>
              <a:t>It already knows PM terminology, artifacts and process — so your prompts can be shorter.</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87952"/>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Where to find it</a:t>
            </a:r>
          </a:p>
          <a:p>
            <a:pPr algn="l">
              <a:spcAft>
                <a:spcPts val="300"/>
              </a:spcAft>
            </a:pPr>
            <a:r>
              <a:rPr sz="1100" b="0">
                <a:solidFill>
                  <a:srgbClr val="5B6372"/>
                </a:solidFill>
                <a:latin typeface="Arial"/>
              </a:rPr>
              <a:t>Open it from the link in your Learner Guide, or search 'Project Manager Buddy' in the GPT store.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87952"/>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Still verify</a:t>
            </a:r>
          </a:p>
          <a:p>
            <a:pPr algn="l">
              <a:spcAft>
                <a:spcPts val="300"/>
              </a:spcAft>
            </a:pPr>
            <a:r>
              <a:rPr sz="1100" b="0">
                <a:solidFill>
                  <a:srgbClr val="5B6372"/>
                </a:solidFill>
                <a:latin typeface="Arial"/>
              </a:rPr>
              <a:t>It is still a GenAI tool: it will invent figures and sources. Check everything.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051560"/>
            <a:ext cx="10058400" cy="457200"/>
          </a:xfrm>
          <a:prstGeom prst="rect">
            <a:avLst/>
          </a:prstGeom>
          <a:noFill/>
        </p:spPr>
        <p:txBody>
          <a:bodyPr wrap="square" anchor="t">
            <a:spAutoFit/>
          </a:bodyPr>
          <a:lstStyle/>
          <a:p>
            <a:pPr algn="l">
              <a:spcAft>
                <a:spcPts val="400"/>
              </a:spcAft>
            </a:pPr>
            <a:r>
              <a:rPr sz="1500" b="1">
                <a:solidFill>
                  <a:srgbClr val="7C3AED"/>
                </a:solidFill>
                <a:latin typeface="Arial"/>
              </a:rPr>
              <a:t>WHY GenAI FOR PROJECT MANAGEMENT</a:t>
            </a:r>
          </a:p>
        </p:txBody>
      </p:sp>
      <p:sp>
        <p:nvSpPr>
          <p:cNvPr id="5" name="TextBox 4"/>
          <p:cNvSpPr txBox="1"/>
          <p:nvPr/>
        </p:nvSpPr>
        <p:spPr>
          <a:xfrm>
            <a:off x="960120" y="1463040"/>
            <a:ext cx="1097280" cy="1097280"/>
          </a:xfrm>
          <a:prstGeom prst="rect">
            <a:avLst/>
          </a:prstGeom>
          <a:noFill/>
        </p:spPr>
        <p:txBody>
          <a:bodyPr wrap="square" anchor="t">
            <a:spAutoFit/>
          </a:bodyPr>
          <a:lstStyle/>
          <a:p>
            <a:pPr algn="l">
              <a:spcAft>
                <a:spcPts val="400"/>
              </a:spcAft>
            </a:pPr>
            <a:r>
              <a:rPr sz="9000" b="1">
                <a:solidFill>
                  <a:srgbClr val="E2E8F0"/>
                </a:solidFill>
                <a:latin typeface="Arial"/>
              </a:rPr>
              <a:t>“</a:t>
            </a:r>
          </a:p>
        </p:txBody>
      </p:sp>
      <p:sp>
        <p:nvSpPr>
          <p:cNvPr id="6" name="TextBox 5"/>
          <p:cNvSpPr txBox="1"/>
          <p:nvPr/>
        </p:nvSpPr>
        <p:spPr>
          <a:xfrm>
            <a:off x="1051560" y="2331720"/>
            <a:ext cx="10241280" cy="2743200"/>
          </a:xfrm>
          <a:prstGeom prst="rect">
            <a:avLst/>
          </a:prstGeom>
          <a:noFill/>
        </p:spPr>
        <p:txBody>
          <a:bodyPr wrap="square" anchor="t">
            <a:spAutoFit/>
          </a:bodyPr>
          <a:lstStyle/>
          <a:p>
            <a:pPr algn="l">
              <a:spcAft>
                <a:spcPts val="400"/>
              </a:spcAft>
            </a:pPr>
            <a:r>
              <a:rPr sz="2000" b="0">
                <a:solidFill>
                  <a:srgbClr val="161B26"/>
                </a:solidFill>
                <a:latin typeface="Arial"/>
              </a:rPr>
              <a:t>The goal of GenAI is to take a project professional's mundane tasks and make them easy, like 'here you go, this is done.' Learning to leverage it ultimately increases the value of the project professional to the organization, because not only is it saving the professional's precious time, but it is also empowering the professional to focus on strategic aspects of the job that no one else can do.</a:t>
            </a:r>
          </a:p>
        </p:txBody>
      </p:sp>
      <p:sp>
        <p:nvSpPr>
          <p:cNvPr id="7" name="Rectangle 6"/>
          <p:cNvSpPr/>
          <p:nvPr/>
        </p:nvSpPr>
        <p:spPr>
          <a:xfrm>
            <a:off x="1051560" y="5257800"/>
            <a:ext cx="1463040" cy="457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440680"/>
            <a:ext cx="10058400" cy="731520"/>
          </a:xfrm>
          <a:prstGeom prst="rect">
            <a:avLst/>
          </a:prstGeom>
          <a:noFill/>
        </p:spPr>
        <p:txBody>
          <a:bodyPr wrap="square" anchor="t">
            <a:spAutoFit/>
          </a:bodyPr>
          <a:lstStyle/>
          <a:p>
            <a:pPr algn="l">
              <a:spcAft>
                <a:spcPts val="400"/>
              </a:spcAft>
            </a:pPr>
            <a:r>
              <a:rPr sz="1400" b="0">
                <a:solidFill>
                  <a:srgbClr val="5B6372"/>
                </a:solidFill>
                <a:latin typeface="Arial"/>
              </a:rPr>
              <a:t>John Signo, VP DMT Delivery Lead, Bank of America, USA</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051560"/>
            <a:ext cx="10058400" cy="457200"/>
          </a:xfrm>
          <a:prstGeom prst="rect">
            <a:avLst/>
          </a:prstGeom>
          <a:noFill/>
        </p:spPr>
        <p:txBody>
          <a:bodyPr wrap="square" anchor="t">
            <a:spAutoFit/>
          </a:bodyPr>
          <a:lstStyle/>
          <a:p>
            <a:pPr algn="l">
              <a:spcAft>
                <a:spcPts val="400"/>
              </a:spcAft>
            </a:pPr>
            <a:r>
              <a:rPr sz="1500" b="1">
                <a:solidFill>
                  <a:srgbClr val="7C3AED"/>
                </a:solidFill>
                <a:latin typeface="Arial"/>
              </a:rPr>
              <a:t>WHY GenAI FOR PROJECT MANAGEMENT</a:t>
            </a:r>
          </a:p>
        </p:txBody>
      </p:sp>
      <p:sp>
        <p:nvSpPr>
          <p:cNvPr id="5" name="TextBox 4"/>
          <p:cNvSpPr txBox="1"/>
          <p:nvPr/>
        </p:nvSpPr>
        <p:spPr>
          <a:xfrm>
            <a:off x="960120" y="1463040"/>
            <a:ext cx="1097280" cy="1097280"/>
          </a:xfrm>
          <a:prstGeom prst="rect">
            <a:avLst/>
          </a:prstGeom>
          <a:noFill/>
        </p:spPr>
        <p:txBody>
          <a:bodyPr wrap="square" anchor="t">
            <a:spAutoFit/>
          </a:bodyPr>
          <a:lstStyle/>
          <a:p>
            <a:pPr algn="l">
              <a:spcAft>
                <a:spcPts val="400"/>
              </a:spcAft>
            </a:pPr>
            <a:r>
              <a:rPr sz="9000" b="1">
                <a:solidFill>
                  <a:srgbClr val="E2E8F0"/>
                </a:solidFill>
                <a:latin typeface="Arial"/>
              </a:rPr>
              <a:t>“</a:t>
            </a:r>
          </a:p>
        </p:txBody>
      </p:sp>
      <p:sp>
        <p:nvSpPr>
          <p:cNvPr id="6" name="TextBox 5"/>
          <p:cNvSpPr txBox="1"/>
          <p:nvPr/>
        </p:nvSpPr>
        <p:spPr>
          <a:xfrm>
            <a:off x="1051560" y="2331720"/>
            <a:ext cx="10241280" cy="2743200"/>
          </a:xfrm>
          <a:prstGeom prst="rect">
            <a:avLst/>
          </a:prstGeom>
          <a:noFill/>
        </p:spPr>
        <p:txBody>
          <a:bodyPr wrap="square" anchor="t">
            <a:spAutoFit/>
          </a:bodyPr>
          <a:lstStyle/>
          <a:p>
            <a:pPr algn="l">
              <a:spcAft>
                <a:spcPts val="400"/>
              </a:spcAft>
            </a:pPr>
            <a:r>
              <a:rPr sz="2000" b="0">
                <a:solidFill>
                  <a:srgbClr val="161B26"/>
                </a:solidFill>
                <a:latin typeface="Arial"/>
              </a:rPr>
              <a:t>I don't think GenAI can run a project, but as a reviewer of project work, it can find errors much faster than humans — reviewing schedules, plans and project boards to identify risks, scheduling challenges, unknown dependencies and mistakes.</a:t>
            </a:r>
          </a:p>
        </p:txBody>
      </p:sp>
      <p:sp>
        <p:nvSpPr>
          <p:cNvPr id="7" name="Rectangle 6"/>
          <p:cNvSpPr/>
          <p:nvPr/>
        </p:nvSpPr>
        <p:spPr>
          <a:xfrm>
            <a:off x="1051560" y="5257800"/>
            <a:ext cx="1463040" cy="457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440680"/>
            <a:ext cx="10058400" cy="731520"/>
          </a:xfrm>
          <a:prstGeom prst="rect">
            <a:avLst/>
          </a:prstGeom>
          <a:noFill/>
        </p:spPr>
        <p:txBody>
          <a:bodyPr wrap="square" anchor="t">
            <a:spAutoFit/>
          </a:bodyPr>
          <a:lstStyle/>
          <a:p>
            <a:pPr algn="l">
              <a:spcAft>
                <a:spcPts val="400"/>
              </a:spcAft>
            </a:pPr>
            <a:r>
              <a:rPr sz="1400" b="0">
                <a:solidFill>
                  <a:srgbClr val="5B6372"/>
                </a:solidFill>
                <a:latin typeface="Arial"/>
              </a:rPr>
              <a:t>John Signo, VP DMT Delivery Lead, Bank of America, USA</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051560"/>
            <a:ext cx="10058400" cy="457200"/>
          </a:xfrm>
          <a:prstGeom prst="rect">
            <a:avLst/>
          </a:prstGeom>
          <a:noFill/>
        </p:spPr>
        <p:txBody>
          <a:bodyPr wrap="square" anchor="t">
            <a:spAutoFit/>
          </a:bodyPr>
          <a:lstStyle/>
          <a:p>
            <a:pPr algn="l">
              <a:spcAft>
                <a:spcPts val="400"/>
              </a:spcAft>
            </a:pPr>
            <a:r>
              <a:rPr sz="1500" b="1">
                <a:solidFill>
                  <a:srgbClr val="7C3AED"/>
                </a:solidFill>
                <a:latin typeface="Arial"/>
              </a:rPr>
              <a:t>WHY GenAI FOR PROJECT MANAGEMENT</a:t>
            </a:r>
          </a:p>
        </p:txBody>
      </p:sp>
      <p:sp>
        <p:nvSpPr>
          <p:cNvPr id="5" name="TextBox 4"/>
          <p:cNvSpPr txBox="1"/>
          <p:nvPr/>
        </p:nvSpPr>
        <p:spPr>
          <a:xfrm>
            <a:off x="960120" y="1463040"/>
            <a:ext cx="1097280" cy="1097280"/>
          </a:xfrm>
          <a:prstGeom prst="rect">
            <a:avLst/>
          </a:prstGeom>
          <a:noFill/>
        </p:spPr>
        <p:txBody>
          <a:bodyPr wrap="square" anchor="t">
            <a:spAutoFit/>
          </a:bodyPr>
          <a:lstStyle/>
          <a:p>
            <a:pPr algn="l">
              <a:spcAft>
                <a:spcPts val="400"/>
              </a:spcAft>
            </a:pPr>
            <a:r>
              <a:rPr sz="9000" b="1">
                <a:solidFill>
                  <a:srgbClr val="E2E8F0"/>
                </a:solidFill>
                <a:latin typeface="Arial"/>
              </a:rPr>
              <a:t>“</a:t>
            </a:r>
          </a:p>
        </p:txBody>
      </p:sp>
      <p:sp>
        <p:nvSpPr>
          <p:cNvPr id="6" name="TextBox 5"/>
          <p:cNvSpPr txBox="1"/>
          <p:nvPr/>
        </p:nvSpPr>
        <p:spPr>
          <a:xfrm>
            <a:off x="1051560" y="2331720"/>
            <a:ext cx="10241280" cy="2743200"/>
          </a:xfrm>
          <a:prstGeom prst="rect">
            <a:avLst/>
          </a:prstGeom>
          <a:noFill/>
        </p:spPr>
        <p:txBody>
          <a:bodyPr wrap="square" anchor="t">
            <a:spAutoFit/>
          </a:bodyPr>
          <a:lstStyle/>
          <a:p>
            <a:pPr algn="l">
              <a:spcAft>
                <a:spcPts val="400"/>
              </a:spcAft>
            </a:pPr>
            <a:r>
              <a:rPr sz="2000" b="0">
                <a:solidFill>
                  <a:srgbClr val="161B26"/>
                </a:solidFill>
                <a:latin typeface="Arial"/>
              </a:rPr>
              <a:t>I use GenAI to augment complex decision-making — to see things from multiple angles, find innovative approaches and get intelligent suggestions I would not have reached alone.</a:t>
            </a:r>
          </a:p>
        </p:txBody>
      </p:sp>
      <p:sp>
        <p:nvSpPr>
          <p:cNvPr id="7" name="Rectangle 6"/>
          <p:cNvSpPr/>
          <p:nvPr/>
        </p:nvSpPr>
        <p:spPr>
          <a:xfrm>
            <a:off x="1051560" y="5257800"/>
            <a:ext cx="1463040" cy="457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440680"/>
            <a:ext cx="10058400" cy="731520"/>
          </a:xfrm>
          <a:prstGeom prst="rect">
            <a:avLst/>
          </a:prstGeom>
          <a:noFill/>
        </p:spPr>
        <p:txBody>
          <a:bodyPr wrap="square" anchor="t">
            <a:spAutoFit/>
          </a:bodyPr>
          <a:lstStyle/>
          <a:p>
            <a:pPr algn="l">
              <a:spcAft>
                <a:spcPts val="400"/>
              </a:spcAft>
            </a:pPr>
            <a:r>
              <a:rPr sz="1400" b="0">
                <a:solidFill>
                  <a:srgbClr val="5B6372"/>
                </a:solidFill>
                <a:latin typeface="Arial"/>
              </a:rPr>
              <a:t>Yuliya Zhevno, Project and Change Management Consultant, Re:Work Consulting, Kazakhstan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SIX HIGH-VALUE USES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Where GenAI Helps a Project Manager Most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146048"/>
          </a:xfrm>
          <a:prstGeom prst="rect">
            <a:avLst/>
          </a:prstGeom>
          <a:noFill/>
        </p:spPr>
        <p:txBody>
          <a:bodyPr wrap="square" anchor="ctr">
            <a:spAutoFit/>
          </a:bodyPr>
          <a:lstStyle/>
          <a:p>
            <a:pPr algn="l">
              <a:spcAft>
                <a:spcPts val="300"/>
              </a:spcAft>
            </a:pPr>
            <a:r>
              <a:rPr sz="1500" b="1">
                <a:solidFill>
                  <a:srgbClr val="161B26"/>
                </a:solidFill>
                <a:latin typeface="Arial"/>
              </a:rPr>
              <a:t>Drafting</a:t>
            </a:r>
          </a:p>
          <a:p>
            <a:pPr algn="l">
              <a:spcAft>
                <a:spcPts val="300"/>
              </a:spcAft>
            </a:pPr>
            <a:r>
              <a:rPr sz="1100" b="0">
                <a:solidFill>
                  <a:srgbClr val="5B6372"/>
                </a:solidFill>
                <a:latin typeface="Arial"/>
              </a:rPr>
              <a:t>Charters, plans, reports, communications — a good first draft in seconds.</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146048"/>
          </a:xfrm>
          <a:prstGeom prst="rect">
            <a:avLst/>
          </a:prstGeom>
          <a:noFill/>
        </p:spPr>
        <p:txBody>
          <a:bodyPr wrap="square" anchor="ctr">
            <a:spAutoFit/>
          </a:bodyPr>
          <a:lstStyle/>
          <a:p>
            <a:pPr algn="l">
              <a:spcAft>
                <a:spcPts val="300"/>
              </a:spcAft>
            </a:pPr>
            <a:r>
              <a:rPr sz="1500" b="1">
                <a:solidFill>
                  <a:srgbClr val="161B26"/>
                </a:solidFill>
                <a:latin typeface="Arial"/>
              </a:rPr>
              <a:t>Structuring</a:t>
            </a:r>
          </a:p>
          <a:p>
            <a:pPr algn="l">
              <a:spcAft>
                <a:spcPts val="300"/>
              </a:spcAft>
            </a:pPr>
            <a:r>
              <a:rPr sz="1100" b="0">
                <a:solidFill>
                  <a:srgbClr val="5B6372"/>
                </a:solidFill>
                <a:latin typeface="Arial"/>
              </a:rPr>
              <a:t>Turning messy input into a WBS, RTM, risk register or RACI matrix.</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22904"/>
            <a:ext cx="4027932" cy="1146048"/>
          </a:xfrm>
          <a:prstGeom prst="rect">
            <a:avLst/>
          </a:prstGeom>
          <a:noFill/>
        </p:spPr>
        <p:txBody>
          <a:bodyPr wrap="square" anchor="ctr">
            <a:spAutoFit/>
          </a:bodyPr>
          <a:lstStyle/>
          <a:p>
            <a:pPr algn="l">
              <a:spcAft>
                <a:spcPts val="300"/>
              </a:spcAft>
            </a:pPr>
            <a:r>
              <a:rPr sz="1500" b="1">
                <a:solidFill>
                  <a:srgbClr val="161B26"/>
                </a:solidFill>
                <a:latin typeface="Arial"/>
              </a:rPr>
              <a:t>Ideation</a:t>
            </a:r>
          </a:p>
          <a:p>
            <a:pPr algn="l">
              <a:spcAft>
                <a:spcPts val="300"/>
              </a:spcAft>
            </a:pPr>
            <a:r>
              <a:rPr sz="1100" b="0">
                <a:solidFill>
                  <a:srgbClr val="5B6372"/>
                </a:solidFill>
                <a:latin typeface="Arial"/>
              </a:rPr>
              <a:t>Generating risks, requirements, options and root causes you would not think of.</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22904"/>
            <a:ext cx="4027932" cy="1146048"/>
          </a:xfrm>
          <a:prstGeom prst="rect">
            <a:avLst/>
          </a:prstGeom>
          <a:noFill/>
        </p:spPr>
        <p:txBody>
          <a:bodyPr wrap="square" anchor="ctr">
            <a:spAutoFit/>
          </a:bodyPr>
          <a:lstStyle/>
          <a:p>
            <a:pPr algn="l">
              <a:spcAft>
                <a:spcPts val="300"/>
              </a:spcAft>
            </a:pPr>
            <a:r>
              <a:rPr sz="1500" b="1">
                <a:solidFill>
                  <a:srgbClr val="161B26"/>
                </a:solidFill>
                <a:latin typeface="Arial"/>
              </a:rPr>
              <a:t>Reviewing</a:t>
            </a:r>
          </a:p>
          <a:p>
            <a:pPr algn="l">
              <a:spcAft>
                <a:spcPts val="300"/>
              </a:spcAft>
            </a:pPr>
            <a:r>
              <a:rPr sz="1100" b="0">
                <a:solidFill>
                  <a:srgbClr val="5B6372"/>
                </a:solidFill>
                <a:latin typeface="Arial"/>
              </a:rPr>
              <a:t>Auditing your own plans for gaps, ambiguity and missing dependencies.</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53000"/>
            <a:ext cx="4027932" cy="1146048"/>
          </a:xfrm>
          <a:prstGeom prst="rect">
            <a:avLst/>
          </a:prstGeom>
          <a:noFill/>
        </p:spPr>
        <p:txBody>
          <a:bodyPr wrap="square" anchor="ctr">
            <a:spAutoFit/>
          </a:bodyPr>
          <a:lstStyle/>
          <a:p>
            <a:pPr algn="l">
              <a:spcAft>
                <a:spcPts val="300"/>
              </a:spcAft>
            </a:pPr>
            <a:r>
              <a:rPr sz="1500" b="1">
                <a:solidFill>
                  <a:srgbClr val="161B26"/>
                </a:solidFill>
                <a:latin typeface="Arial"/>
              </a:rPr>
              <a:t>Analysing</a:t>
            </a:r>
          </a:p>
          <a:p>
            <a:pPr algn="l">
              <a:spcAft>
                <a:spcPts val="300"/>
              </a:spcAft>
            </a:pPr>
            <a:r>
              <a:rPr sz="1100" b="0">
                <a:solidFill>
                  <a:srgbClr val="5B6372"/>
                </a:solidFill>
                <a:latin typeface="Arial"/>
              </a:rPr>
              <a:t>Comparing alternatives and explaining the trade-offs in a table.</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53000"/>
            <a:ext cx="4027932" cy="1146048"/>
          </a:xfrm>
          <a:prstGeom prst="rect">
            <a:avLst/>
          </a:prstGeom>
          <a:noFill/>
        </p:spPr>
        <p:txBody>
          <a:bodyPr wrap="square" anchor="ctr">
            <a:spAutoFit/>
          </a:bodyPr>
          <a:lstStyle/>
          <a:p>
            <a:pPr algn="l">
              <a:spcAft>
                <a:spcPts val="300"/>
              </a:spcAft>
            </a:pPr>
            <a:r>
              <a:rPr sz="1500" b="1">
                <a:solidFill>
                  <a:srgbClr val="161B26"/>
                </a:solidFill>
                <a:latin typeface="Arial"/>
              </a:rPr>
              <a:t>Communicating</a:t>
            </a:r>
          </a:p>
          <a:p>
            <a:pPr algn="l">
              <a:spcAft>
                <a:spcPts val="300"/>
              </a:spcAft>
            </a:pPr>
            <a:r>
              <a:rPr sz="1100" b="0">
                <a:solidFill>
                  <a:srgbClr val="5B6372"/>
                </a:solidFill>
                <a:latin typeface="Arial"/>
              </a:rPr>
              <a:t>Rewriting the same message for very different audiences.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KNOW THE LIMITS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GenAI Does Well — and Badly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36208" y="1783080"/>
            <a:ext cx="517550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36208" y="1783080"/>
            <a:ext cx="5175504" cy="914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011680"/>
            <a:ext cx="4754880" cy="365760"/>
          </a:xfrm>
          <a:prstGeom prst="rect">
            <a:avLst/>
          </a:prstGeom>
          <a:noFill/>
        </p:spPr>
        <p:txBody>
          <a:bodyPr wrap="square" anchor="t">
            <a:spAutoFit/>
          </a:bodyPr>
          <a:lstStyle/>
          <a:p>
            <a:pPr algn="l">
              <a:spcAft>
                <a:spcPts val="400"/>
              </a:spcAft>
            </a:pPr>
            <a:r>
              <a:rPr sz="1700" b="1">
                <a:solidFill>
                  <a:srgbClr val="10B981"/>
                </a:solidFill>
                <a:latin typeface="Arial"/>
              </a:rPr>
              <a:t>Use it for this</a:t>
            </a:r>
          </a:p>
        </p:txBody>
      </p:sp>
      <p:sp>
        <p:nvSpPr>
          <p:cNvPr id="12" name="TextBox 11"/>
          <p:cNvSpPr txBox="1"/>
          <p:nvPr/>
        </p:nvSpPr>
        <p:spPr>
          <a:xfrm>
            <a:off x="6464808" y="2011680"/>
            <a:ext cx="4663440" cy="365760"/>
          </a:xfrm>
          <a:prstGeom prst="rect">
            <a:avLst/>
          </a:prstGeom>
          <a:noFill/>
        </p:spPr>
        <p:txBody>
          <a:bodyPr wrap="square" anchor="t">
            <a:spAutoFit/>
          </a:bodyPr>
          <a:lstStyle/>
          <a:p>
            <a:pPr algn="l">
              <a:spcAft>
                <a:spcPts val="400"/>
              </a:spcAft>
            </a:pPr>
            <a:r>
              <a:rPr sz="1700" b="1">
                <a:solidFill>
                  <a:srgbClr val="E11D48"/>
                </a:solidFill>
                <a:latin typeface="Arial"/>
              </a:rPr>
              <a:t>Never trust this</a:t>
            </a:r>
          </a:p>
        </p:txBody>
      </p:sp>
      <p:sp>
        <p:nvSpPr>
          <p:cNvPr id="13" name="TextBox 12"/>
          <p:cNvSpPr txBox="1"/>
          <p:nvPr/>
        </p:nvSpPr>
        <p:spPr>
          <a:xfrm>
            <a:off x="1005840" y="2514600"/>
            <a:ext cx="4754880" cy="3383280"/>
          </a:xfrm>
          <a:prstGeom prst="rect">
            <a:avLst/>
          </a:prstGeom>
          <a:noFill/>
        </p:spPr>
        <p:txBody>
          <a:bodyPr wrap="square">
            <a:spAutoFit/>
          </a:bodyPr>
          <a:lstStyle/>
          <a:p>
            <a:pPr>
              <a:spcAft>
                <a:spcPts val="1000"/>
              </a:spcAft>
            </a:pPr>
            <a:r>
              <a:rPr sz="1400">
                <a:solidFill>
                  <a:srgbClr val="161B26"/>
                </a:solidFill>
                <a:latin typeface="Arial"/>
              </a:rPr>
              <a:t>•  Does well</a:t>
            </a:r>
          </a:p>
          <a:p>
            <a:pPr>
              <a:spcAft>
                <a:spcPts val="1000"/>
              </a:spcAft>
            </a:pPr>
            <a:r>
              <a:rPr sz="1200">
                <a:solidFill>
                  <a:srgbClr val="5B6372"/>
                </a:solidFill>
                <a:latin typeface="Arial"/>
              </a:rPr>
              <a:t>–  Producing a structured first draft fast</a:t>
            </a:r>
          </a:p>
          <a:p>
            <a:pPr>
              <a:spcAft>
                <a:spcPts val="1000"/>
              </a:spcAft>
            </a:pPr>
            <a:r>
              <a:rPr sz="1200">
                <a:solidFill>
                  <a:srgbClr val="5B6372"/>
                </a:solidFill>
                <a:latin typeface="Arial"/>
              </a:rPr>
              <a:t>–  Generating breadth — many options and ideas</a:t>
            </a:r>
          </a:p>
          <a:p>
            <a:pPr>
              <a:spcAft>
                <a:spcPts val="1000"/>
              </a:spcAft>
            </a:pPr>
            <a:r>
              <a:rPr sz="1200">
                <a:solidFill>
                  <a:srgbClr val="5B6372"/>
                </a:solidFill>
                <a:latin typeface="Arial"/>
              </a:rPr>
              <a:t>–  Reformatting and summarising</a:t>
            </a:r>
          </a:p>
          <a:p>
            <a:pPr>
              <a:spcAft>
                <a:spcPts val="1000"/>
              </a:spcAft>
            </a:pPr>
            <a:r>
              <a:rPr sz="1200">
                <a:solidFill>
                  <a:srgbClr val="5B6372"/>
                </a:solidFill>
                <a:latin typeface="Arial"/>
              </a:rPr>
              <a:t>–  Explaining a concept or technique</a:t>
            </a:r>
          </a:p>
          <a:p>
            <a:pPr>
              <a:spcAft>
                <a:spcPts val="1000"/>
              </a:spcAft>
            </a:pPr>
            <a:r>
              <a:rPr sz="1200">
                <a:solidFill>
                  <a:srgbClr val="5B6372"/>
                </a:solidFill>
                <a:latin typeface="Arial"/>
              </a:rPr>
              <a:t>–  Reviewing your work for gaps</a:t>
            </a:r>
          </a:p>
        </p:txBody>
      </p:sp>
      <p:sp>
        <p:nvSpPr>
          <p:cNvPr id="14" name="TextBox 13"/>
          <p:cNvSpPr txBox="1"/>
          <p:nvPr/>
        </p:nvSpPr>
        <p:spPr>
          <a:xfrm>
            <a:off x="6464808" y="2514600"/>
            <a:ext cx="4709160" cy="3383280"/>
          </a:xfrm>
          <a:prstGeom prst="rect">
            <a:avLst/>
          </a:prstGeom>
          <a:noFill/>
        </p:spPr>
        <p:txBody>
          <a:bodyPr wrap="square">
            <a:spAutoFit/>
          </a:bodyPr>
          <a:lstStyle/>
          <a:p>
            <a:pPr>
              <a:spcAft>
                <a:spcPts val="1000"/>
              </a:spcAft>
            </a:pPr>
            <a:r>
              <a:rPr sz="1400">
                <a:solidFill>
                  <a:srgbClr val="161B26"/>
                </a:solidFill>
                <a:latin typeface="Arial"/>
              </a:rPr>
              <a:t>•  Does badly</a:t>
            </a:r>
          </a:p>
          <a:p>
            <a:pPr>
              <a:spcAft>
                <a:spcPts val="1000"/>
              </a:spcAft>
            </a:pPr>
            <a:r>
              <a:rPr sz="1200">
                <a:solidFill>
                  <a:srgbClr val="5B6372"/>
                </a:solidFill>
                <a:latin typeface="Arial"/>
              </a:rPr>
              <a:t>–  Anything requiring facts about YOUR organisation</a:t>
            </a:r>
          </a:p>
          <a:p>
            <a:pPr>
              <a:spcAft>
                <a:spcPts val="1000"/>
              </a:spcAft>
            </a:pPr>
            <a:r>
              <a:rPr sz="1200">
                <a:solidFill>
                  <a:srgbClr val="5B6372"/>
                </a:solidFill>
                <a:latin typeface="Arial"/>
              </a:rPr>
              <a:t>–  Arithmetic — verify every calculation</a:t>
            </a:r>
          </a:p>
          <a:p>
            <a:pPr>
              <a:spcAft>
                <a:spcPts val="1000"/>
              </a:spcAft>
            </a:pPr>
            <a:r>
              <a:rPr sz="1200">
                <a:solidFill>
                  <a:srgbClr val="5B6372"/>
                </a:solidFill>
                <a:latin typeface="Arial"/>
              </a:rPr>
              <a:t>–  Citing real sources — it invents them</a:t>
            </a:r>
          </a:p>
          <a:p>
            <a:pPr>
              <a:spcAft>
                <a:spcPts val="1000"/>
              </a:spcAft>
            </a:pPr>
            <a:r>
              <a:rPr sz="1200">
                <a:solidFill>
                  <a:srgbClr val="5B6372"/>
                </a:solidFill>
                <a:latin typeface="Arial"/>
              </a:rPr>
              <a:t>–  Judging what matters in your context</a:t>
            </a:r>
          </a:p>
          <a:p>
            <a:pPr>
              <a:spcAft>
                <a:spcPts val="1000"/>
              </a:spcAft>
            </a:pPr>
            <a:r>
              <a:rPr sz="1200">
                <a:solidFill>
                  <a:srgbClr val="5B6372"/>
                </a:solidFill>
                <a:latin typeface="Arial"/>
              </a:rPr>
              <a:t>–  Anything about a specific named person</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E11D48"/>
                </a:solidFill>
                <a:latin typeface="Arial"/>
              </a:rPr>
              <a:t>THE GOLDEN RULE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600" b="1">
                <a:solidFill>
                  <a:srgbClr val="161B26"/>
                </a:solidFill>
                <a:latin typeface="Arial"/>
              </a:rPr>
              <a:t>You remain accountable for every output.</a:t>
            </a:r>
          </a:p>
        </p:txBody>
      </p:sp>
      <p:sp>
        <p:nvSpPr>
          <p:cNvPr id="6" name="TextBox 5"/>
          <p:cNvSpPr txBox="1"/>
          <p:nvPr/>
        </p:nvSpPr>
        <p:spPr>
          <a:xfrm>
            <a:off x="1024128" y="457200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GenAI drafts; you decide. Every figure, source and recommendation that leaves your hands is yours — not the model's.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E11D48"/>
                </a:solidFill>
                <a:latin typeface="Arial"/>
              </a:rPr>
              <a:t>GOVERNANCE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Using GenAI Responsibly at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Confidentiality</a:t>
            </a:r>
          </a:p>
          <a:p>
            <a:pPr algn="l">
              <a:spcAft>
                <a:spcPts val="300"/>
              </a:spcAft>
            </a:pPr>
            <a:r>
              <a:rPr sz="1000" b="0">
                <a:solidFill>
                  <a:srgbClr val="5B6372"/>
                </a:solidFill>
                <a:latin typeface="Arial"/>
              </a:rPr>
              <a:t>Never paste client data, personal data or commercially sensitive information into a public tool.</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Check your policy</a:t>
            </a:r>
          </a:p>
          <a:p>
            <a:pPr algn="l">
              <a:spcAft>
                <a:spcPts val="300"/>
              </a:spcAft>
            </a:pPr>
            <a:r>
              <a:rPr sz="1000" b="0">
                <a:solidFill>
                  <a:srgbClr val="5B6372"/>
                </a:solidFill>
                <a:latin typeface="Arial"/>
              </a:rPr>
              <a:t>Your organisation may mandate an enterprise tool with data protections.</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22904"/>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Verify facts</a:t>
            </a:r>
          </a:p>
          <a:p>
            <a:pPr algn="l">
              <a:spcAft>
                <a:spcPts val="300"/>
              </a:spcAft>
            </a:pPr>
            <a:r>
              <a:rPr sz="1000" b="0">
                <a:solidFill>
                  <a:srgbClr val="5B6372"/>
                </a:solidFill>
                <a:latin typeface="Arial"/>
              </a:rPr>
              <a:t>Treat every figure, date and citation as unverified until you check it.</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22904"/>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Disclose appropriately</a:t>
            </a:r>
          </a:p>
          <a:p>
            <a:pPr algn="l">
              <a:spcAft>
                <a:spcPts val="300"/>
              </a:spcAft>
            </a:pPr>
            <a:r>
              <a:rPr sz="1000" b="0">
                <a:solidFill>
                  <a:srgbClr val="5B6372"/>
                </a:solidFill>
                <a:latin typeface="Arial"/>
              </a:rPr>
              <a:t>Be transparent where AI materially shaped a deliverable.</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53000"/>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Bias</a:t>
            </a:r>
          </a:p>
          <a:p>
            <a:pPr algn="l">
              <a:spcAft>
                <a:spcPts val="300"/>
              </a:spcAft>
            </a:pPr>
            <a:r>
              <a:rPr sz="1000" b="0">
                <a:solidFill>
                  <a:srgbClr val="5B6372"/>
                </a:solidFill>
                <a:latin typeface="Arial"/>
              </a:rPr>
              <a:t>Output reflects patterns in training data — review recommendations about people especially carefully.</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53000"/>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Keep the human in the loop</a:t>
            </a:r>
          </a:p>
          <a:p>
            <a:pPr algn="l">
              <a:spcAft>
                <a:spcPts val="300"/>
              </a:spcAft>
            </a:pPr>
            <a:r>
              <a:rPr sz="1000" b="0">
                <a:solidFill>
                  <a:srgbClr val="5B6372"/>
                </a:solidFill>
                <a:latin typeface="Arial"/>
              </a:rPr>
              <a:t>Approval decisions stay with people, not models.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9509760" cy="548640"/>
          </a:xfrm>
          <a:prstGeom prst="rect">
            <a:avLst/>
          </a:prstGeom>
          <a:noFill/>
        </p:spPr>
        <p:txBody>
          <a:bodyPr wrap="square" anchor="t">
            <a:spAutoFit/>
          </a:bodyPr>
          <a:lstStyle/>
          <a:p>
            <a:pPr algn="l">
              <a:spcAft>
                <a:spcPts val="400"/>
              </a:spcAft>
            </a:pPr>
            <a:r>
              <a:rPr sz="1800" b="1">
                <a:solidFill>
                  <a:srgbClr val="1F6FEB"/>
                </a:solidFill>
                <a:latin typeface="Arial"/>
              </a:rPr>
              <a:t>PROMPTING</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3800" b="1">
                <a:solidFill>
                  <a:srgbClr val="161B26"/>
                </a:solidFill>
                <a:latin typeface="Arial"/>
              </a:rPr>
              <a:t>Ten Prompting Patterns for Project Managers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FIVE PARTS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Anatomy of a Good Prompt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ROLE — who the AI should act as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CONTEXT — your project, industry and constraints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TASK — exactly what to produce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FORMAT — table, list, document, length</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CHECK — mark assumptions, cite sources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OVERVIEW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Ten Patterns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9860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187634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187634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534009"/>
          </a:xfrm>
          <a:prstGeom prst="rect">
            <a:avLst/>
          </a:prstGeom>
          <a:noFill/>
        </p:spPr>
        <p:txBody>
          <a:bodyPr wrap="square" anchor="ctr">
            <a:spAutoFit/>
          </a:bodyPr>
          <a:lstStyle/>
          <a:p>
            <a:pPr algn="l">
              <a:spcAft>
                <a:spcPts val="300"/>
              </a:spcAft>
            </a:pPr>
            <a:r>
              <a:rPr sz="1400" b="1">
                <a:solidFill>
                  <a:srgbClr val="161B26"/>
                </a:solidFill>
                <a:latin typeface="Arial"/>
              </a:rPr>
              <a:t>Persona</a:t>
            </a:r>
          </a:p>
          <a:p>
            <a:pPr algn="l">
              <a:spcAft>
                <a:spcPts val="300"/>
              </a:spcAft>
            </a:pPr>
            <a:r>
              <a:rPr sz="1000" b="0">
                <a:solidFill>
                  <a:srgbClr val="5B6372"/>
                </a:solidFill>
                <a:latin typeface="Arial"/>
              </a:rPr>
              <a:t>Frame the output from the perspective of a specific project role — or a non-human entity such as project management software.</a:t>
            </a:r>
          </a:p>
        </p:txBody>
      </p:sp>
      <p:sp>
        <p:nvSpPr>
          <p:cNvPr id="12" name="Rectangle 11"/>
          <p:cNvSpPr/>
          <p:nvPr/>
        </p:nvSpPr>
        <p:spPr>
          <a:xfrm>
            <a:off x="6231636" y="1783080"/>
            <a:ext cx="5180076"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69860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187634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187634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534009"/>
          </a:xfrm>
          <a:prstGeom prst="rect">
            <a:avLst/>
          </a:prstGeom>
          <a:noFill/>
        </p:spPr>
        <p:txBody>
          <a:bodyPr wrap="square" anchor="ctr">
            <a:spAutoFit/>
          </a:bodyPr>
          <a:lstStyle/>
          <a:p>
            <a:pPr algn="l">
              <a:spcAft>
                <a:spcPts val="300"/>
              </a:spcAft>
            </a:pPr>
            <a:r>
              <a:rPr sz="1400" b="1">
                <a:solidFill>
                  <a:srgbClr val="161B26"/>
                </a:solidFill>
                <a:latin typeface="Arial"/>
              </a:rPr>
              <a:t>Question Refinement</a:t>
            </a:r>
          </a:p>
          <a:p>
            <a:pPr algn="l">
              <a:spcAft>
                <a:spcPts val="300"/>
              </a:spcAft>
            </a:pPr>
            <a:r>
              <a:rPr sz="1000" b="0">
                <a:solidFill>
                  <a:srgbClr val="5B6372"/>
                </a:solidFill>
                <a:latin typeface="Arial"/>
              </a:rPr>
              <a:t>Ask GenAI to improve your question when there is no clarity about the problem you are trying to solve.</a:t>
            </a:r>
          </a:p>
        </p:txBody>
      </p:sp>
      <p:sp>
        <p:nvSpPr>
          <p:cNvPr id="17" name="Rectangle 16"/>
          <p:cNvSpPr/>
          <p:nvPr/>
        </p:nvSpPr>
        <p:spPr>
          <a:xfrm>
            <a:off x="777240" y="2701137"/>
            <a:ext cx="5180076"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701137"/>
            <a:ext cx="91440" cy="69860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2794405"/>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2794405"/>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2810865"/>
            <a:ext cx="4027932" cy="534009"/>
          </a:xfrm>
          <a:prstGeom prst="rect">
            <a:avLst/>
          </a:prstGeom>
          <a:noFill/>
        </p:spPr>
        <p:txBody>
          <a:bodyPr wrap="square" anchor="ctr">
            <a:spAutoFit/>
          </a:bodyPr>
          <a:lstStyle/>
          <a:p>
            <a:pPr algn="l">
              <a:spcAft>
                <a:spcPts val="300"/>
              </a:spcAft>
            </a:pPr>
            <a:r>
              <a:rPr sz="1400" b="1">
                <a:solidFill>
                  <a:srgbClr val="161B26"/>
                </a:solidFill>
                <a:latin typeface="Arial"/>
              </a:rPr>
              <a:t>Flipped Interaction</a:t>
            </a:r>
          </a:p>
          <a:p>
            <a:pPr algn="l">
              <a:spcAft>
                <a:spcPts val="300"/>
              </a:spcAft>
            </a:pPr>
            <a:r>
              <a:rPr sz="1000" b="0">
                <a:solidFill>
                  <a:srgbClr val="5B6372"/>
                </a:solidFill>
                <a:latin typeface="Arial"/>
              </a:rPr>
              <a:t>Let GenAI interview you — it asks the questions, one at a time, to find the gaps in your thinking.</a:t>
            </a:r>
          </a:p>
        </p:txBody>
      </p:sp>
      <p:sp>
        <p:nvSpPr>
          <p:cNvPr id="22" name="Rectangle 21"/>
          <p:cNvSpPr/>
          <p:nvPr/>
        </p:nvSpPr>
        <p:spPr>
          <a:xfrm>
            <a:off x="6231636" y="2701137"/>
            <a:ext cx="5180076"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701137"/>
            <a:ext cx="91440" cy="69860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2794405"/>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2794405"/>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2810865"/>
            <a:ext cx="4027932" cy="534009"/>
          </a:xfrm>
          <a:prstGeom prst="rect">
            <a:avLst/>
          </a:prstGeom>
          <a:noFill/>
        </p:spPr>
        <p:txBody>
          <a:bodyPr wrap="square" anchor="ctr">
            <a:spAutoFit/>
          </a:bodyPr>
          <a:lstStyle/>
          <a:p>
            <a:pPr algn="l">
              <a:spcAft>
                <a:spcPts val="300"/>
              </a:spcAft>
            </a:pPr>
            <a:r>
              <a:rPr sz="1400" b="1">
                <a:solidFill>
                  <a:srgbClr val="161B26"/>
                </a:solidFill>
                <a:latin typeface="Arial"/>
              </a:rPr>
              <a:t>Alternative Approaches</a:t>
            </a:r>
          </a:p>
          <a:p>
            <a:pPr algn="l">
              <a:spcAft>
                <a:spcPts val="300"/>
              </a:spcAft>
            </a:pPr>
            <a:r>
              <a:rPr sz="1000" b="0">
                <a:solidFill>
                  <a:srgbClr val="5B6372"/>
                </a:solidFill>
                <a:latin typeface="Arial"/>
              </a:rPr>
              <a:t>Generate several options, then compare their pros and cons before you decide.</a:t>
            </a:r>
          </a:p>
        </p:txBody>
      </p:sp>
      <p:sp>
        <p:nvSpPr>
          <p:cNvPr id="27" name="Rectangle 26"/>
          <p:cNvSpPr/>
          <p:nvPr/>
        </p:nvSpPr>
        <p:spPr>
          <a:xfrm>
            <a:off x="777240" y="3619194"/>
            <a:ext cx="5180076"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3619194"/>
            <a:ext cx="91440" cy="69860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371246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371246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3728922"/>
            <a:ext cx="4027932" cy="534009"/>
          </a:xfrm>
          <a:prstGeom prst="rect">
            <a:avLst/>
          </a:prstGeom>
          <a:noFill/>
        </p:spPr>
        <p:txBody>
          <a:bodyPr wrap="square" anchor="ctr">
            <a:spAutoFit/>
          </a:bodyPr>
          <a:lstStyle/>
          <a:p>
            <a:pPr algn="l">
              <a:spcAft>
                <a:spcPts val="300"/>
              </a:spcAft>
            </a:pPr>
            <a:r>
              <a:rPr sz="1400" b="1">
                <a:solidFill>
                  <a:srgbClr val="161B26"/>
                </a:solidFill>
                <a:latin typeface="Arial"/>
              </a:rPr>
              <a:t>Cognitive Verifier</a:t>
            </a:r>
          </a:p>
          <a:p>
            <a:pPr algn="l">
              <a:spcAft>
                <a:spcPts val="300"/>
              </a:spcAft>
            </a:pPr>
            <a:r>
              <a:rPr sz="1000" b="0">
                <a:solidFill>
                  <a:srgbClr val="5B6372"/>
                </a:solidFill>
                <a:latin typeface="Arial"/>
              </a:rPr>
              <a:t>Force GenAI to break a complex question into smaller sub-questions and then combine the answers.</a:t>
            </a:r>
          </a:p>
        </p:txBody>
      </p:sp>
      <p:sp>
        <p:nvSpPr>
          <p:cNvPr id="32" name="Rectangle 31"/>
          <p:cNvSpPr/>
          <p:nvPr/>
        </p:nvSpPr>
        <p:spPr>
          <a:xfrm>
            <a:off x="6231636" y="3619194"/>
            <a:ext cx="5180076"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3619194"/>
            <a:ext cx="91440" cy="69860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371246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371246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3728922"/>
            <a:ext cx="4027932" cy="534009"/>
          </a:xfrm>
          <a:prstGeom prst="rect">
            <a:avLst/>
          </a:prstGeom>
          <a:noFill/>
        </p:spPr>
        <p:txBody>
          <a:bodyPr wrap="square" anchor="ctr">
            <a:spAutoFit/>
          </a:bodyPr>
          <a:lstStyle/>
          <a:p>
            <a:pPr algn="l">
              <a:spcAft>
                <a:spcPts val="300"/>
              </a:spcAft>
            </a:pPr>
            <a:r>
              <a:rPr sz="1400" b="1">
                <a:solidFill>
                  <a:srgbClr val="161B26"/>
                </a:solidFill>
                <a:latin typeface="Arial"/>
              </a:rPr>
              <a:t>Fact Check List</a:t>
            </a:r>
          </a:p>
          <a:p>
            <a:pPr algn="l">
              <a:spcAft>
                <a:spcPts val="300"/>
              </a:spcAft>
            </a:pPr>
            <a:r>
              <a:rPr sz="1000" b="0">
                <a:solidFill>
                  <a:srgbClr val="5B6372"/>
                </a:solidFill>
                <a:latin typeface="Arial"/>
              </a:rPr>
              <a:t>For outputs that rest on external information, require the facts to be listed separately with links to sources.</a:t>
            </a:r>
          </a:p>
        </p:txBody>
      </p:sp>
      <p:sp>
        <p:nvSpPr>
          <p:cNvPr id="37" name="Rectangle 36"/>
          <p:cNvSpPr/>
          <p:nvPr/>
        </p:nvSpPr>
        <p:spPr>
          <a:xfrm>
            <a:off x="777240" y="4537251"/>
            <a:ext cx="5180076"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4537251"/>
            <a:ext cx="91440" cy="69860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14984" y="4630519"/>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14984" y="4630519"/>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1" name="TextBox 40"/>
          <p:cNvSpPr txBox="1"/>
          <p:nvPr/>
        </p:nvSpPr>
        <p:spPr>
          <a:xfrm>
            <a:off x="1709928" y="4646979"/>
            <a:ext cx="4027932" cy="534009"/>
          </a:xfrm>
          <a:prstGeom prst="rect">
            <a:avLst/>
          </a:prstGeom>
          <a:noFill/>
        </p:spPr>
        <p:txBody>
          <a:bodyPr wrap="square" anchor="ctr">
            <a:spAutoFit/>
          </a:bodyPr>
          <a:lstStyle/>
          <a:p>
            <a:pPr algn="l">
              <a:spcAft>
                <a:spcPts val="300"/>
              </a:spcAft>
            </a:pPr>
            <a:r>
              <a:rPr sz="1400" b="1">
                <a:solidFill>
                  <a:srgbClr val="161B26"/>
                </a:solidFill>
                <a:latin typeface="Arial"/>
              </a:rPr>
              <a:t>Visualisation Generator</a:t>
            </a:r>
          </a:p>
          <a:p>
            <a:pPr algn="l">
              <a:spcAft>
                <a:spcPts val="300"/>
              </a:spcAft>
            </a:pPr>
            <a:r>
              <a:rPr sz="1000" b="0">
                <a:solidFill>
                  <a:srgbClr val="5B6372"/>
                </a:solidFill>
                <a:latin typeface="Arial"/>
              </a:rPr>
              <a:t>Have GenAI write the prompt for a text-to-image or diagram tool so you can visualise project information.</a:t>
            </a:r>
          </a:p>
        </p:txBody>
      </p:sp>
      <p:sp>
        <p:nvSpPr>
          <p:cNvPr id="42" name="Rectangle 41"/>
          <p:cNvSpPr/>
          <p:nvPr/>
        </p:nvSpPr>
        <p:spPr>
          <a:xfrm>
            <a:off x="6231636" y="4537251"/>
            <a:ext cx="5180076"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4537251"/>
            <a:ext cx="91440" cy="69860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69380" y="4630519"/>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69380" y="4630519"/>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6" name="TextBox 45"/>
          <p:cNvSpPr txBox="1"/>
          <p:nvPr/>
        </p:nvSpPr>
        <p:spPr>
          <a:xfrm>
            <a:off x="7164324" y="4646979"/>
            <a:ext cx="4027932" cy="534009"/>
          </a:xfrm>
          <a:prstGeom prst="rect">
            <a:avLst/>
          </a:prstGeom>
          <a:noFill/>
        </p:spPr>
        <p:txBody>
          <a:bodyPr wrap="square" anchor="ctr">
            <a:spAutoFit/>
          </a:bodyPr>
          <a:lstStyle/>
          <a:p>
            <a:pPr algn="l">
              <a:spcAft>
                <a:spcPts val="300"/>
              </a:spcAft>
            </a:pPr>
            <a:r>
              <a:rPr sz="1400" b="1">
                <a:solidFill>
                  <a:srgbClr val="161B26"/>
                </a:solidFill>
                <a:latin typeface="Arial"/>
              </a:rPr>
              <a:t>Reflection</a:t>
            </a:r>
          </a:p>
          <a:p>
            <a:pPr algn="l">
              <a:spcAft>
                <a:spcPts val="300"/>
              </a:spcAft>
            </a:pPr>
            <a:r>
              <a:rPr sz="1000" b="0">
                <a:solidFill>
                  <a:srgbClr val="5B6372"/>
                </a:solidFill>
                <a:latin typeface="Arial"/>
              </a:rPr>
              <a:t>Ask for the reasoning and assumptions behind a recommendation — essential for risk and people decisions.</a:t>
            </a:r>
          </a:p>
        </p:txBody>
      </p:sp>
      <p:sp>
        <p:nvSpPr>
          <p:cNvPr id="47" name="Rectangle 46"/>
          <p:cNvSpPr/>
          <p:nvPr/>
        </p:nvSpPr>
        <p:spPr>
          <a:xfrm>
            <a:off x="777240" y="5455308"/>
            <a:ext cx="5180076"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77240" y="5455308"/>
            <a:ext cx="91440" cy="69860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014984" y="5548576"/>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14984" y="554857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9</a:t>
            </a:r>
          </a:p>
        </p:txBody>
      </p:sp>
      <p:sp>
        <p:nvSpPr>
          <p:cNvPr id="51" name="TextBox 50"/>
          <p:cNvSpPr txBox="1"/>
          <p:nvPr/>
        </p:nvSpPr>
        <p:spPr>
          <a:xfrm>
            <a:off x="1709928" y="5565036"/>
            <a:ext cx="4027932" cy="534009"/>
          </a:xfrm>
          <a:prstGeom prst="rect">
            <a:avLst/>
          </a:prstGeom>
          <a:noFill/>
        </p:spPr>
        <p:txBody>
          <a:bodyPr wrap="square" anchor="ctr">
            <a:spAutoFit/>
          </a:bodyPr>
          <a:lstStyle/>
          <a:p>
            <a:pPr algn="l">
              <a:spcAft>
                <a:spcPts val="300"/>
              </a:spcAft>
            </a:pPr>
            <a:r>
              <a:rPr sz="1400" b="1">
                <a:solidFill>
                  <a:srgbClr val="161B26"/>
                </a:solidFill>
                <a:latin typeface="Arial"/>
              </a:rPr>
              <a:t>Risk Matrix Template</a:t>
            </a:r>
          </a:p>
          <a:p>
            <a:pPr algn="l">
              <a:spcAft>
                <a:spcPts val="300"/>
              </a:spcAft>
            </a:pPr>
            <a:r>
              <a:rPr sz="1000" b="0">
                <a:solidFill>
                  <a:srgbClr val="5B6372"/>
                </a:solidFill>
                <a:latin typeface="Arial"/>
              </a:rPr>
              <a:t>A long-form template that produces a complete, industry-specific risk matrix in one pass.</a:t>
            </a:r>
          </a:p>
        </p:txBody>
      </p:sp>
      <p:sp>
        <p:nvSpPr>
          <p:cNvPr id="52" name="Rectangle 51"/>
          <p:cNvSpPr/>
          <p:nvPr/>
        </p:nvSpPr>
        <p:spPr>
          <a:xfrm>
            <a:off x="6231636" y="5455308"/>
            <a:ext cx="5180076"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231636" y="5455308"/>
            <a:ext cx="91440" cy="69860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6469380" y="554857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469380" y="554857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10</a:t>
            </a:r>
          </a:p>
        </p:txBody>
      </p:sp>
      <p:sp>
        <p:nvSpPr>
          <p:cNvPr id="56" name="TextBox 55"/>
          <p:cNvSpPr txBox="1"/>
          <p:nvPr/>
        </p:nvSpPr>
        <p:spPr>
          <a:xfrm>
            <a:off x="7164324" y="5565036"/>
            <a:ext cx="4027932" cy="534009"/>
          </a:xfrm>
          <a:prstGeom prst="rect">
            <a:avLst/>
          </a:prstGeom>
          <a:noFill/>
        </p:spPr>
        <p:txBody>
          <a:bodyPr wrap="square" anchor="ctr">
            <a:spAutoFit/>
          </a:bodyPr>
          <a:lstStyle/>
          <a:p>
            <a:pPr algn="l">
              <a:spcAft>
                <a:spcPts val="300"/>
              </a:spcAft>
            </a:pPr>
            <a:r>
              <a:rPr sz="1400" b="1">
                <a:solidFill>
                  <a:srgbClr val="161B26"/>
                </a:solidFill>
                <a:latin typeface="Arial"/>
              </a:rPr>
              <a:t>Decision Making Template</a:t>
            </a:r>
          </a:p>
          <a:p>
            <a:pPr algn="l">
              <a:spcAft>
                <a:spcPts val="300"/>
              </a:spcAft>
            </a:pPr>
            <a:r>
              <a:rPr sz="1000" b="0">
                <a:solidFill>
                  <a:srgbClr val="5B6372"/>
                </a:solidFill>
                <a:latin typeface="Arial"/>
              </a:rPr>
              <a:t>Decompose a complex decision into smaller questions that together answer it.</a:t>
            </a:r>
          </a:p>
        </p:txBody>
      </p:sp>
      <p:sp>
        <p:nvSpPr>
          <p:cNvPr id="57" name="TextBox 5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58" name="TextBox 5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9" name="TextBox 5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PROMPTING PATTERN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Pattern — Persona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051560"/>
          </a:xfrm>
          <a:prstGeom prst="rect">
            <a:avLst/>
          </a:prstGeom>
          <a:solidFill>
            <a:srgbClr val="EB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874519"/>
            <a:ext cx="10149840" cy="868680"/>
          </a:xfrm>
          <a:prstGeom prst="rect">
            <a:avLst/>
          </a:prstGeom>
          <a:noFill/>
        </p:spPr>
        <p:txBody>
          <a:bodyPr wrap="square" anchor="ctr">
            <a:spAutoFit/>
          </a:bodyPr>
          <a:lstStyle/>
          <a:p>
            <a:pPr algn="l">
              <a:spcAft>
                <a:spcPts val="400"/>
              </a:spcAft>
            </a:pPr>
            <a:r>
              <a:rPr sz="1600" b="0">
                <a:solidFill>
                  <a:srgbClr val="161B26"/>
                </a:solidFill>
                <a:latin typeface="Arial"/>
              </a:rPr>
              <a:t>Frame the output from the perspective of a specific project role — or a non-human entity such as project management software.</a:t>
            </a:r>
          </a:p>
        </p:txBody>
      </p:sp>
      <p:sp>
        <p:nvSpPr>
          <p:cNvPr id="9" name="TextBox 8"/>
          <p:cNvSpPr txBox="1"/>
          <p:nvPr/>
        </p:nvSpPr>
        <p:spPr>
          <a:xfrm>
            <a:off x="777240" y="3035808"/>
            <a:ext cx="10607040" cy="320040"/>
          </a:xfrm>
          <a:prstGeom prst="rect">
            <a:avLst/>
          </a:prstGeom>
          <a:noFill/>
        </p:spPr>
        <p:txBody>
          <a:bodyPr wrap="square" anchor="t">
            <a:spAutoFit/>
          </a:bodyPr>
          <a:lstStyle/>
          <a:p>
            <a:pPr algn="l">
              <a:spcAft>
                <a:spcPts val="400"/>
              </a:spcAft>
            </a:pPr>
            <a:r>
              <a:rPr sz="1200" b="1">
                <a:solidFill>
                  <a:srgbClr val="7C3AED"/>
                </a:solidFill>
                <a:latin typeface="Arial"/>
              </a:rPr>
              <a:t>EXAMPLE PROMPT</a:t>
            </a:r>
          </a:p>
        </p:txBody>
      </p:sp>
      <p:sp>
        <p:nvSpPr>
          <p:cNvPr id="10" name="Rectangle 9"/>
          <p:cNvSpPr/>
          <p:nvPr/>
        </p:nvSpPr>
        <p:spPr>
          <a:xfrm>
            <a:off x="777240" y="3401568"/>
            <a:ext cx="10634472" cy="26060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3584448"/>
            <a:ext cx="10104120" cy="2240280"/>
          </a:xfrm>
          <a:prstGeom prst="rect">
            <a:avLst/>
          </a:prstGeom>
          <a:noFill/>
        </p:spPr>
        <p:txBody>
          <a:bodyPr wrap="square" anchor="ctr">
            <a:spAutoFit/>
          </a:bodyPr>
          <a:lstStyle/>
          <a:p>
            <a:pPr algn="l">
              <a:spcAft>
                <a:spcPts val="400"/>
              </a:spcAft>
            </a:pPr>
            <a:r>
              <a:rPr sz="1500" b="0">
                <a:solidFill>
                  <a:srgbClr val="D6E4FF"/>
                </a:solidFill>
                <a:latin typeface="Arial"/>
              </a:rPr>
              <a:t>Act as a stakeholder of the project. Perform an assessment of the project charter and provide a list of recommendations to improve scope clarity and completeness.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PROMPTING PATTERN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Pattern — Question Refinement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051560"/>
          </a:xfrm>
          <a:prstGeom prst="rect">
            <a:avLst/>
          </a:prstGeom>
          <a:solidFill>
            <a:srgbClr val="EB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874519"/>
            <a:ext cx="10149840" cy="868680"/>
          </a:xfrm>
          <a:prstGeom prst="rect">
            <a:avLst/>
          </a:prstGeom>
          <a:noFill/>
        </p:spPr>
        <p:txBody>
          <a:bodyPr wrap="square" anchor="ctr">
            <a:spAutoFit/>
          </a:bodyPr>
          <a:lstStyle/>
          <a:p>
            <a:pPr algn="l">
              <a:spcAft>
                <a:spcPts val="400"/>
              </a:spcAft>
            </a:pPr>
            <a:r>
              <a:rPr sz="1600" b="0">
                <a:solidFill>
                  <a:srgbClr val="161B26"/>
                </a:solidFill>
                <a:latin typeface="Arial"/>
              </a:rPr>
              <a:t>Ask GenAI to improve your question when there is no clarity about the problem you are trying to solve.</a:t>
            </a:r>
          </a:p>
        </p:txBody>
      </p:sp>
      <p:sp>
        <p:nvSpPr>
          <p:cNvPr id="9" name="TextBox 8"/>
          <p:cNvSpPr txBox="1"/>
          <p:nvPr/>
        </p:nvSpPr>
        <p:spPr>
          <a:xfrm>
            <a:off x="777240" y="3035808"/>
            <a:ext cx="10607040" cy="320040"/>
          </a:xfrm>
          <a:prstGeom prst="rect">
            <a:avLst/>
          </a:prstGeom>
          <a:noFill/>
        </p:spPr>
        <p:txBody>
          <a:bodyPr wrap="square" anchor="t">
            <a:spAutoFit/>
          </a:bodyPr>
          <a:lstStyle/>
          <a:p>
            <a:pPr algn="l">
              <a:spcAft>
                <a:spcPts val="400"/>
              </a:spcAft>
            </a:pPr>
            <a:r>
              <a:rPr sz="1200" b="1">
                <a:solidFill>
                  <a:srgbClr val="7C3AED"/>
                </a:solidFill>
                <a:latin typeface="Arial"/>
              </a:rPr>
              <a:t>EXAMPLE PROMPT</a:t>
            </a:r>
          </a:p>
        </p:txBody>
      </p:sp>
      <p:sp>
        <p:nvSpPr>
          <p:cNvPr id="10" name="Rectangle 9"/>
          <p:cNvSpPr/>
          <p:nvPr/>
        </p:nvSpPr>
        <p:spPr>
          <a:xfrm>
            <a:off x="777240" y="3401568"/>
            <a:ext cx="10634472" cy="26060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3584448"/>
            <a:ext cx="10104120" cy="2240280"/>
          </a:xfrm>
          <a:prstGeom prst="rect">
            <a:avLst/>
          </a:prstGeom>
          <a:noFill/>
        </p:spPr>
        <p:txBody>
          <a:bodyPr wrap="square" anchor="ctr">
            <a:spAutoFit/>
          </a:bodyPr>
          <a:lstStyle/>
          <a:p>
            <a:pPr algn="l">
              <a:spcAft>
                <a:spcPts val="400"/>
              </a:spcAft>
            </a:pPr>
            <a:r>
              <a:rPr sz="1500" b="0">
                <a:solidFill>
                  <a:srgbClr val="D6E4FF"/>
                </a:solidFill>
                <a:latin typeface="Arial"/>
              </a:rPr>
              <a:t>Within the scope of creating a cost-benefit analysis of outsourcing (total cost: US$60,000) versus in-house hiring (total cost: US$70,000), suggest a better version of the question to be used.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PROMPTING PATTERN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Pattern — Flipped Interaction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051560"/>
          </a:xfrm>
          <a:prstGeom prst="rect">
            <a:avLst/>
          </a:prstGeom>
          <a:solidFill>
            <a:srgbClr val="EB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874519"/>
            <a:ext cx="10149840" cy="868680"/>
          </a:xfrm>
          <a:prstGeom prst="rect">
            <a:avLst/>
          </a:prstGeom>
          <a:noFill/>
        </p:spPr>
        <p:txBody>
          <a:bodyPr wrap="square" anchor="ctr">
            <a:spAutoFit/>
          </a:bodyPr>
          <a:lstStyle/>
          <a:p>
            <a:pPr algn="l">
              <a:spcAft>
                <a:spcPts val="400"/>
              </a:spcAft>
            </a:pPr>
            <a:r>
              <a:rPr sz="1600" b="0">
                <a:solidFill>
                  <a:srgbClr val="161B26"/>
                </a:solidFill>
                <a:latin typeface="Arial"/>
              </a:rPr>
              <a:t>Let GenAI interview you — it asks the questions, one at a time, to find the gaps in your thinking.</a:t>
            </a:r>
          </a:p>
        </p:txBody>
      </p:sp>
      <p:sp>
        <p:nvSpPr>
          <p:cNvPr id="9" name="TextBox 8"/>
          <p:cNvSpPr txBox="1"/>
          <p:nvPr/>
        </p:nvSpPr>
        <p:spPr>
          <a:xfrm>
            <a:off x="777240" y="3035808"/>
            <a:ext cx="10607040" cy="320040"/>
          </a:xfrm>
          <a:prstGeom prst="rect">
            <a:avLst/>
          </a:prstGeom>
          <a:noFill/>
        </p:spPr>
        <p:txBody>
          <a:bodyPr wrap="square" anchor="t">
            <a:spAutoFit/>
          </a:bodyPr>
          <a:lstStyle/>
          <a:p>
            <a:pPr algn="l">
              <a:spcAft>
                <a:spcPts val="400"/>
              </a:spcAft>
            </a:pPr>
            <a:r>
              <a:rPr sz="1200" b="1">
                <a:solidFill>
                  <a:srgbClr val="7C3AED"/>
                </a:solidFill>
                <a:latin typeface="Arial"/>
              </a:rPr>
              <a:t>EXAMPLE PROMPT</a:t>
            </a:r>
          </a:p>
        </p:txBody>
      </p:sp>
      <p:sp>
        <p:nvSpPr>
          <p:cNvPr id="10" name="Rectangle 9"/>
          <p:cNvSpPr/>
          <p:nvPr/>
        </p:nvSpPr>
        <p:spPr>
          <a:xfrm>
            <a:off x="777240" y="3401568"/>
            <a:ext cx="10634472" cy="26060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3584448"/>
            <a:ext cx="10104120" cy="2240280"/>
          </a:xfrm>
          <a:prstGeom prst="rect">
            <a:avLst/>
          </a:prstGeom>
          <a:noFill/>
        </p:spPr>
        <p:txBody>
          <a:bodyPr wrap="square" anchor="ctr">
            <a:spAutoFit/>
          </a:bodyPr>
          <a:lstStyle/>
          <a:p>
            <a:pPr algn="l">
              <a:spcAft>
                <a:spcPts val="400"/>
              </a:spcAft>
            </a:pPr>
            <a:r>
              <a:rPr sz="1500" b="0">
                <a:solidFill>
                  <a:srgbClr val="D6E4FF"/>
                </a:solidFill>
                <a:latin typeface="Arial"/>
              </a:rPr>
              <a:t>I would like you to ask questions to help with my preparation for a project update with my stakeholders. Ask me questions one at a time so you can build the next question based on my responses.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PROMPTING PATTERN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Pattern — Alternative Approaches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051560"/>
          </a:xfrm>
          <a:prstGeom prst="rect">
            <a:avLst/>
          </a:prstGeom>
          <a:solidFill>
            <a:srgbClr val="EB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874519"/>
            <a:ext cx="10149840" cy="868680"/>
          </a:xfrm>
          <a:prstGeom prst="rect">
            <a:avLst/>
          </a:prstGeom>
          <a:noFill/>
        </p:spPr>
        <p:txBody>
          <a:bodyPr wrap="square" anchor="ctr">
            <a:spAutoFit/>
          </a:bodyPr>
          <a:lstStyle/>
          <a:p>
            <a:pPr algn="l">
              <a:spcAft>
                <a:spcPts val="400"/>
              </a:spcAft>
            </a:pPr>
            <a:r>
              <a:rPr sz="1600" b="0">
                <a:solidFill>
                  <a:srgbClr val="161B26"/>
                </a:solidFill>
                <a:latin typeface="Arial"/>
              </a:rPr>
              <a:t>Generate several options, then compare their pros and cons before you decide.</a:t>
            </a:r>
          </a:p>
        </p:txBody>
      </p:sp>
      <p:sp>
        <p:nvSpPr>
          <p:cNvPr id="9" name="TextBox 8"/>
          <p:cNvSpPr txBox="1"/>
          <p:nvPr/>
        </p:nvSpPr>
        <p:spPr>
          <a:xfrm>
            <a:off x="777240" y="3035808"/>
            <a:ext cx="10607040" cy="320040"/>
          </a:xfrm>
          <a:prstGeom prst="rect">
            <a:avLst/>
          </a:prstGeom>
          <a:noFill/>
        </p:spPr>
        <p:txBody>
          <a:bodyPr wrap="square" anchor="t">
            <a:spAutoFit/>
          </a:bodyPr>
          <a:lstStyle/>
          <a:p>
            <a:pPr algn="l">
              <a:spcAft>
                <a:spcPts val="400"/>
              </a:spcAft>
            </a:pPr>
            <a:r>
              <a:rPr sz="1200" b="1">
                <a:solidFill>
                  <a:srgbClr val="7C3AED"/>
                </a:solidFill>
                <a:latin typeface="Arial"/>
              </a:rPr>
              <a:t>EXAMPLE PROMPT</a:t>
            </a:r>
          </a:p>
        </p:txBody>
      </p:sp>
      <p:sp>
        <p:nvSpPr>
          <p:cNvPr id="10" name="Rectangle 9"/>
          <p:cNvSpPr/>
          <p:nvPr/>
        </p:nvSpPr>
        <p:spPr>
          <a:xfrm>
            <a:off x="777240" y="3401568"/>
            <a:ext cx="10634472" cy="26060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3584448"/>
            <a:ext cx="10104120" cy="2240280"/>
          </a:xfrm>
          <a:prstGeom prst="rect">
            <a:avLst/>
          </a:prstGeom>
          <a:noFill/>
        </p:spPr>
        <p:txBody>
          <a:bodyPr wrap="square" anchor="ctr">
            <a:spAutoFit/>
          </a:bodyPr>
          <a:lstStyle/>
          <a:p>
            <a:pPr algn="l">
              <a:spcAft>
                <a:spcPts val="400"/>
              </a:spcAft>
            </a:pPr>
            <a:r>
              <a:rPr sz="1500" b="0">
                <a:solidFill>
                  <a:srgbClr val="D6E4FF"/>
                </a:solidFill>
                <a:latin typeface="Arial"/>
              </a:rPr>
              <a:t>I am a construction project manager experiencing a delay in completion of some tasks. I want to identify the root cause(s) of the problem. Suggest at least two options to deal with the problem(s) identified and compare the pros and cons of each. Present the results in a table.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PROMPTING PATTERN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Pattern — Cognitive Verifier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051560"/>
          </a:xfrm>
          <a:prstGeom prst="rect">
            <a:avLst/>
          </a:prstGeom>
          <a:solidFill>
            <a:srgbClr val="EB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874519"/>
            <a:ext cx="10149840" cy="868680"/>
          </a:xfrm>
          <a:prstGeom prst="rect">
            <a:avLst/>
          </a:prstGeom>
          <a:noFill/>
        </p:spPr>
        <p:txBody>
          <a:bodyPr wrap="square" anchor="ctr">
            <a:spAutoFit/>
          </a:bodyPr>
          <a:lstStyle/>
          <a:p>
            <a:pPr algn="l">
              <a:spcAft>
                <a:spcPts val="400"/>
              </a:spcAft>
            </a:pPr>
            <a:r>
              <a:rPr sz="1600" b="0">
                <a:solidFill>
                  <a:srgbClr val="161B26"/>
                </a:solidFill>
                <a:latin typeface="Arial"/>
              </a:rPr>
              <a:t>Force GenAI to break a complex question into smaller sub-questions and then combine the answers.</a:t>
            </a:r>
          </a:p>
        </p:txBody>
      </p:sp>
      <p:sp>
        <p:nvSpPr>
          <p:cNvPr id="9" name="TextBox 8"/>
          <p:cNvSpPr txBox="1"/>
          <p:nvPr/>
        </p:nvSpPr>
        <p:spPr>
          <a:xfrm>
            <a:off x="777240" y="3035808"/>
            <a:ext cx="10607040" cy="320040"/>
          </a:xfrm>
          <a:prstGeom prst="rect">
            <a:avLst/>
          </a:prstGeom>
          <a:noFill/>
        </p:spPr>
        <p:txBody>
          <a:bodyPr wrap="square" anchor="t">
            <a:spAutoFit/>
          </a:bodyPr>
          <a:lstStyle/>
          <a:p>
            <a:pPr algn="l">
              <a:spcAft>
                <a:spcPts val="400"/>
              </a:spcAft>
            </a:pPr>
            <a:r>
              <a:rPr sz="1200" b="1">
                <a:solidFill>
                  <a:srgbClr val="7C3AED"/>
                </a:solidFill>
                <a:latin typeface="Arial"/>
              </a:rPr>
              <a:t>EXAMPLE PROMPT</a:t>
            </a:r>
          </a:p>
        </p:txBody>
      </p:sp>
      <p:sp>
        <p:nvSpPr>
          <p:cNvPr id="10" name="Rectangle 9"/>
          <p:cNvSpPr/>
          <p:nvPr/>
        </p:nvSpPr>
        <p:spPr>
          <a:xfrm>
            <a:off x="777240" y="3401568"/>
            <a:ext cx="10634472" cy="26060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3584448"/>
            <a:ext cx="10104120" cy="2240280"/>
          </a:xfrm>
          <a:prstGeom prst="rect">
            <a:avLst/>
          </a:prstGeom>
          <a:noFill/>
        </p:spPr>
        <p:txBody>
          <a:bodyPr wrap="square" anchor="ctr">
            <a:spAutoFit/>
          </a:bodyPr>
          <a:lstStyle/>
          <a:p>
            <a:pPr algn="l">
              <a:spcAft>
                <a:spcPts val="400"/>
              </a:spcAft>
            </a:pPr>
            <a:r>
              <a:rPr sz="1300" b="0">
                <a:solidFill>
                  <a:srgbClr val="D6E4FF"/>
                </a:solidFill>
                <a:latin typeface="Arial"/>
              </a:rPr>
              <a:t>A software development project has a US$100,000 budget and a timeline of six months. After three months the actual cost is US$60,000 and the project is 50% complete. What are the risks of not completing on time and on budget? Am I over or under budget? Am I behind or ahead of schedule? What is the earned value and estimate to complete? Combine the answers to produce the final answer to the first question.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PROMPTING PATTERN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Pattern — Fact Check List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051560"/>
          </a:xfrm>
          <a:prstGeom prst="rect">
            <a:avLst/>
          </a:prstGeom>
          <a:solidFill>
            <a:srgbClr val="EB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874519"/>
            <a:ext cx="10149840" cy="868680"/>
          </a:xfrm>
          <a:prstGeom prst="rect">
            <a:avLst/>
          </a:prstGeom>
          <a:noFill/>
        </p:spPr>
        <p:txBody>
          <a:bodyPr wrap="square" anchor="ctr">
            <a:spAutoFit/>
          </a:bodyPr>
          <a:lstStyle/>
          <a:p>
            <a:pPr algn="l">
              <a:spcAft>
                <a:spcPts val="400"/>
              </a:spcAft>
            </a:pPr>
            <a:r>
              <a:rPr sz="1600" b="0">
                <a:solidFill>
                  <a:srgbClr val="161B26"/>
                </a:solidFill>
                <a:latin typeface="Arial"/>
              </a:rPr>
              <a:t>For outputs that rest on external information, require the facts to be listed separately with links to sources.</a:t>
            </a:r>
          </a:p>
        </p:txBody>
      </p:sp>
      <p:sp>
        <p:nvSpPr>
          <p:cNvPr id="9" name="TextBox 8"/>
          <p:cNvSpPr txBox="1"/>
          <p:nvPr/>
        </p:nvSpPr>
        <p:spPr>
          <a:xfrm>
            <a:off x="777240" y="3035808"/>
            <a:ext cx="10607040" cy="320040"/>
          </a:xfrm>
          <a:prstGeom prst="rect">
            <a:avLst/>
          </a:prstGeom>
          <a:noFill/>
        </p:spPr>
        <p:txBody>
          <a:bodyPr wrap="square" anchor="t">
            <a:spAutoFit/>
          </a:bodyPr>
          <a:lstStyle/>
          <a:p>
            <a:pPr algn="l">
              <a:spcAft>
                <a:spcPts val="400"/>
              </a:spcAft>
            </a:pPr>
            <a:r>
              <a:rPr sz="1200" b="1">
                <a:solidFill>
                  <a:srgbClr val="7C3AED"/>
                </a:solidFill>
                <a:latin typeface="Arial"/>
              </a:rPr>
              <a:t>EXAMPLE PROMPT</a:t>
            </a:r>
          </a:p>
        </p:txBody>
      </p:sp>
      <p:sp>
        <p:nvSpPr>
          <p:cNvPr id="10" name="Rectangle 9"/>
          <p:cNvSpPr/>
          <p:nvPr/>
        </p:nvSpPr>
        <p:spPr>
          <a:xfrm>
            <a:off x="777240" y="3401568"/>
            <a:ext cx="10634472" cy="26060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3584448"/>
            <a:ext cx="10104120" cy="2240280"/>
          </a:xfrm>
          <a:prstGeom prst="rect">
            <a:avLst/>
          </a:prstGeom>
          <a:noFill/>
        </p:spPr>
        <p:txBody>
          <a:bodyPr wrap="square" anchor="ctr">
            <a:spAutoFit/>
          </a:bodyPr>
          <a:lstStyle/>
          <a:p>
            <a:pPr algn="l">
              <a:spcAft>
                <a:spcPts val="400"/>
              </a:spcAft>
            </a:pPr>
            <a:r>
              <a:rPr sz="1500" b="0">
                <a:solidFill>
                  <a:srgbClr val="D6E4FF"/>
                </a:solidFill>
                <a:latin typeface="Arial"/>
              </a:rPr>
              <a:t>Generate a list of the 10 most common frequent-flier challenges in the airline industry based on facts. The set of facts should be inserted at a specific point in the output and correctly show links to sources.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PROMPTING PATTERN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Pattern — Visualisation Generator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051560"/>
          </a:xfrm>
          <a:prstGeom prst="rect">
            <a:avLst/>
          </a:prstGeom>
          <a:solidFill>
            <a:srgbClr val="EB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874519"/>
            <a:ext cx="10149840" cy="868680"/>
          </a:xfrm>
          <a:prstGeom prst="rect">
            <a:avLst/>
          </a:prstGeom>
          <a:noFill/>
        </p:spPr>
        <p:txBody>
          <a:bodyPr wrap="square" anchor="ctr">
            <a:spAutoFit/>
          </a:bodyPr>
          <a:lstStyle/>
          <a:p>
            <a:pPr algn="l">
              <a:spcAft>
                <a:spcPts val="400"/>
              </a:spcAft>
            </a:pPr>
            <a:r>
              <a:rPr sz="1600" b="0">
                <a:solidFill>
                  <a:srgbClr val="161B26"/>
                </a:solidFill>
                <a:latin typeface="Arial"/>
              </a:rPr>
              <a:t>Have GenAI write the prompt for a text-to-image or diagram tool so you can visualise project information.</a:t>
            </a:r>
          </a:p>
        </p:txBody>
      </p:sp>
      <p:sp>
        <p:nvSpPr>
          <p:cNvPr id="9" name="TextBox 8"/>
          <p:cNvSpPr txBox="1"/>
          <p:nvPr/>
        </p:nvSpPr>
        <p:spPr>
          <a:xfrm>
            <a:off x="777240" y="3035808"/>
            <a:ext cx="10607040" cy="320040"/>
          </a:xfrm>
          <a:prstGeom prst="rect">
            <a:avLst/>
          </a:prstGeom>
          <a:noFill/>
        </p:spPr>
        <p:txBody>
          <a:bodyPr wrap="square" anchor="t">
            <a:spAutoFit/>
          </a:bodyPr>
          <a:lstStyle/>
          <a:p>
            <a:pPr algn="l">
              <a:spcAft>
                <a:spcPts val="400"/>
              </a:spcAft>
            </a:pPr>
            <a:r>
              <a:rPr sz="1200" b="1">
                <a:solidFill>
                  <a:srgbClr val="7C3AED"/>
                </a:solidFill>
                <a:latin typeface="Arial"/>
              </a:rPr>
              <a:t>EXAMPLE PROMPT</a:t>
            </a:r>
          </a:p>
        </p:txBody>
      </p:sp>
      <p:sp>
        <p:nvSpPr>
          <p:cNvPr id="10" name="Rectangle 9"/>
          <p:cNvSpPr/>
          <p:nvPr/>
        </p:nvSpPr>
        <p:spPr>
          <a:xfrm>
            <a:off x="777240" y="3401568"/>
            <a:ext cx="10634472" cy="26060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3584448"/>
            <a:ext cx="10104120" cy="2240280"/>
          </a:xfrm>
          <a:prstGeom prst="rect">
            <a:avLst/>
          </a:prstGeom>
          <a:noFill/>
        </p:spPr>
        <p:txBody>
          <a:bodyPr wrap="square" anchor="ctr">
            <a:spAutoFit/>
          </a:bodyPr>
          <a:lstStyle/>
          <a:p>
            <a:pPr algn="l">
              <a:spcAft>
                <a:spcPts val="400"/>
              </a:spcAft>
            </a:pPr>
            <a:r>
              <a:rPr sz="1500" b="0">
                <a:solidFill>
                  <a:srgbClr val="D6E4FF"/>
                </a:solidFill>
                <a:latin typeface="Arial"/>
              </a:rPr>
              <a:t>I want to generate a prompt that I can provide to a diagram tool to visualise the 10 most common sources of project scope creep for my project kickoff presentation.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PROMPTING PATTERN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Pattern — Reflection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051560"/>
          </a:xfrm>
          <a:prstGeom prst="rect">
            <a:avLst/>
          </a:prstGeom>
          <a:solidFill>
            <a:srgbClr val="EB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874519"/>
            <a:ext cx="10149840" cy="868680"/>
          </a:xfrm>
          <a:prstGeom prst="rect">
            <a:avLst/>
          </a:prstGeom>
          <a:noFill/>
        </p:spPr>
        <p:txBody>
          <a:bodyPr wrap="square" anchor="ctr">
            <a:spAutoFit/>
          </a:bodyPr>
          <a:lstStyle/>
          <a:p>
            <a:pPr algn="l">
              <a:spcAft>
                <a:spcPts val="400"/>
              </a:spcAft>
            </a:pPr>
            <a:r>
              <a:rPr sz="1600" b="0">
                <a:solidFill>
                  <a:srgbClr val="161B26"/>
                </a:solidFill>
                <a:latin typeface="Arial"/>
              </a:rPr>
              <a:t>Ask for the reasoning and assumptions behind a recommendation — essential for risk and people decisions.</a:t>
            </a:r>
          </a:p>
        </p:txBody>
      </p:sp>
      <p:sp>
        <p:nvSpPr>
          <p:cNvPr id="9" name="TextBox 8"/>
          <p:cNvSpPr txBox="1"/>
          <p:nvPr/>
        </p:nvSpPr>
        <p:spPr>
          <a:xfrm>
            <a:off x="777240" y="3035808"/>
            <a:ext cx="10607040" cy="320040"/>
          </a:xfrm>
          <a:prstGeom prst="rect">
            <a:avLst/>
          </a:prstGeom>
          <a:noFill/>
        </p:spPr>
        <p:txBody>
          <a:bodyPr wrap="square" anchor="t">
            <a:spAutoFit/>
          </a:bodyPr>
          <a:lstStyle/>
          <a:p>
            <a:pPr algn="l">
              <a:spcAft>
                <a:spcPts val="400"/>
              </a:spcAft>
            </a:pPr>
            <a:r>
              <a:rPr sz="1200" b="1">
                <a:solidFill>
                  <a:srgbClr val="7C3AED"/>
                </a:solidFill>
                <a:latin typeface="Arial"/>
              </a:rPr>
              <a:t>EXAMPLE PROMPT</a:t>
            </a:r>
          </a:p>
        </p:txBody>
      </p:sp>
      <p:sp>
        <p:nvSpPr>
          <p:cNvPr id="10" name="Rectangle 9"/>
          <p:cNvSpPr/>
          <p:nvPr/>
        </p:nvSpPr>
        <p:spPr>
          <a:xfrm>
            <a:off x="777240" y="3401568"/>
            <a:ext cx="10634472" cy="26060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3584448"/>
            <a:ext cx="10104120" cy="2240280"/>
          </a:xfrm>
          <a:prstGeom prst="rect">
            <a:avLst/>
          </a:prstGeom>
          <a:noFill/>
        </p:spPr>
        <p:txBody>
          <a:bodyPr wrap="square" anchor="ctr">
            <a:spAutoFit/>
          </a:bodyPr>
          <a:lstStyle/>
          <a:p>
            <a:pPr algn="l">
              <a:spcAft>
                <a:spcPts val="400"/>
              </a:spcAft>
            </a:pPr>
            <a:r>
              <a:rPr sz="1500" b="0">
                <a:solidFill>
                  <a:srgbClr val="D6E4FF"/>
                </a:solidFill>
                <a:latin typeface="Arial"/>
              </a:rPr>
              <a:t>I need to provide feedback to a project team member who made a mistake with financial implications. Explain the reasoning and assumptions behind your recommendation on how to approach this meeting with them.</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PROMPTING PATTERN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Pattern — Risk Matrix Template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051560"/>
          </a:xfrm>
          <a:prstGeom prst="rect">
            <a:avLst/>
          </a:prstGeom>
          <a:solidFill>
            <a:srgbClr val="EB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874519"/>
            <a:ext cx="10149840" cy="868680"/>
          </a:xfrm>
          <a:prstGeom prst="rect">
            <a:avLst/>
          </a:prstGeom>
          <a:noFill/>
        </p:spPr>
        <p:txBody>
          <a:bodyPr wrap="square" anchor="ctr">
            <a:spAutoFit/>
          </a:bodyPr>
          <a:lstStyle/>
          <a:p>
            <a:pPr algn="l">
              <a:spcAft>
                <a:spcPts val="400"/>
              </a:spcAft>
            </a:pPr>
            <a:r>
              <a:rPr sz="1600" b="0">
                <a:solidFill>
                  <a:srgbClr val="161B26"/>
                </a:solidFill>
                <a:latin typeface="Arial"/>
              </a:rPr>
              <a:t>A long-form template that produces a complete, industry-specific risk matrix in one pass.</a:t>
            </a:r>
          </a:p>
        </p:txBody>
      </p:sp>
      <p:sp>
        <p:nvSpPr>
          <p:cNvPr id="9" name="TextBox 8"/>
          <p:cNvSpPr txBox="1"/>
          <p:nvPr/>
        </p:nvSpPr>
        <p:spPr>
          <a:xfrm>
            <a:off x="777240" y="3035808"/>
            <a:ext cx="10607040" cy="320040"/>
          </a:xfrm>
          <a:prstGeom prst="rect">
            <a:avLst/>
          </a:prstGeom>
          <a:noFill/>
        </p:spPr>
        <p:txBody>
          <a:bodyPr wrap="square" anchor="t">
            <a:spAutoFit/>
          </a:bodyPr>
          <a:lstStyle/>
          <a:p>
            <a:pPr algn="l">
              <a:spcAft>
                <a:spcPts val="400"/>
              </a:spcAft>
            </a:pPr>
            <a:r>
              <a:rPr sz="1200" b="1">
                <a:solidFill>
                  <a:srgbClr val="7C3AED"/>
                </a:solidFill>
                <a:latin typeface="Arial"/>
              </a:rPr>
              <a:t>EXAMPLE PROMPT</a:t>
            </a:r>
          </a:p>
        </p:txBody>
      </p:sp>
      <p:sp>
        <p:nvSpPr>
          <p:cNvPr id="10" name="Rectangle 9"/>
          <p:cNvSpPr/>
          <p:nvPr/>
        </p:nvSpPr>
        <p:spPr>
          <a:xfrm>
            <a:off x="777240" y="3401568"/>
            <a:ext cx="10634472" cy="26060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3584448"/>
            <a:ext cx="10104120" cy="2240280"/>
          </a:xfrm>
          <a:prstGeom prst="rect">
            <a:avLst/>
          </a:prstGeom>
          <a:noFill/>
        </p:spPr>
        <p:txBody>
          <a:bodyPr wrap="square" anchor="ctr">
            <a:spAutoFit/>
          </a:bodyPr>
          <a:lstStyle/>
          <a:p>
            <a:pPr algn="l">
              <a:spcAft>
                <a:spcPts val="400"/>
              </a:spcAft>
            </a:pPr>
            <a:r>
              <a:rPr sz="1300" b="0">
                <a:solidFill>
                  <a:srgbClr val="D6E4FF"/>
                </a:solidFill>
                <a:latin typeface="Arial"/>
              </a:rPr>
              <a:t>Imagine you are an expert project manager in the [Industry], focusing on [Project type] projects. Develop a comprehensive risk matrix. For each risk include: Risk name, Description, Level of impact (high/medium/low) and Likelihood (high/medium/low). Cover budget, schedule, technology, regulatory, resource, scope creep, stakeholder, data security, quality and external dependency categories. Output as a table.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PROMPTING PATTERN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Pattern — Decision Making Template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051560"/>
          </a:xfrm>
          <a:prstGeom prst="rect">
            <a:avLst/>
          </a:prstGeom>
          <a:solidFill>
            <a:srgbClr val="EBF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874519"/>
            <a:ext cx="10149840" cy="868680"/>
          </a:xfrm>
          <a:prstGeom prst="rect">
            <a:avLst/>
          </a:prstGeom>
          <a:noFill/>
        </p:spPr>
        <p:txBody>
          <a:bodyPr wrap="square" anchor="ctr">
            <a:spAutoFit/>
          </a:bodyPr>
          <a:lstStyle/>
          <a:p>
            <a:pPr algn="l">
              <a:spcAft>
                <a:spcPts val="400"/>
              </a:spcAft>
            </a:pPr>
            <a:r>
              <a:rPr sz="1600" b="0">
                <a:solidFill>
                  <a:srgbClr val="161B26"/>
                </a:solidFill>
                <a:latin typeface="Arial"/>
              </a:rPr>
              <a:t>Decompose a complex decision into smaller questions that together answer it.</a:t>
            </a:r>
          </a:p>
        </p:txBody>
      </p:sp>
      <p:sp>
        <p:nvSpPr>
          <p:cNvPr id="9" name="TextBox 8"/>
          <p:cNvSpPr txBox="1"/>
          <p:nvPr/>
        </p:nvSpPr>
        <p:spPr>
          <a:xfrm>
            <a:off x="777240" y="3035808"/>
            <a:ext cx="10607040" cy="320040"/>
          </a:xfrm>
          <a:prstGeom prst="rect">
            <a:avLst/>
          </a:prstGeom>
          <a:noFill/>
        </p:spPr>
        <p:txBody>
          <a:bodyPr wrap="square" anchor="t">
            <a:spAutoFit/>
          </a:bodyPr>
          <a:lstStyle/>
          <a:p>
            <a:pPr algn="l">
              <a:spcAft>
                <a:spcPts val="400"/>
              </a:spcAft>
            </a:pPr>
            <a:r>
              <a:rPr sz="1200" b="1">
                <a:solidFill>
                  <a:srgbClr val="7C3AED"/>
                </a:solidFill>
                <a:latin typeface="Arial"/>
              </a:rPr>
              <a:t>EXAMPLE PROMPT</a:t>
            </a:r>
          </a:p>
        </p:txBody>
      </p:sp>
      <p:sp>
        <p:nvSpPr>
          <p:cNvPr id="10" name="Rectangle 9"/>
          <p:cNvSpPr/>
          <p:nvPr/>
        </p:nvSpPr>
        <p:spPr>
          <a:xfrm>
            <a:off x="777240" y="3401568"/>
            <a:ext cx="10634472" cy="260604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3584448"/>
            <a:ext cx="10104120" cy="2240280"/>
          </a:xfrm>
          <a:prstGeom prst="rect">
            <a:avLst/>
          </a:prstGeom>
          <a:noFill/>
        </p:spPr>
        <p:txBody>
          <a:bodyPr wrap="square" anchor="ctr">
            <a:spAutoFit/>
          </a:bodyPr>
          <a:lstStyle/>
          <a:p>
            <a:pPr algn="l">
              <a:spcAft>
                <a:spcPts val="400"/>
              </a:spcAft>
            </a:pPr>
            <a:r>
              <a:rPr sz="1300" b="0">
                <a:solidFill>
                  <a:srgbClr val="D6E4FF"/>
                </a:solidFill>
                <a:latin typeface="Arial"/>
              </a:rPr>
              <a:t>Imagine you are an expert project manager in the [Industry] working on a [Project type] project. Break the complex question "[Complex question?]" into smaller questions that collectively answer it. Consider the range of outcomes, sources of resistance, risks and mitigation plans, and key milestones. Provide one-to-three-sentence answers to each, then ask me where I would like to go deeper.</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ACTIVITY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Prompting Patterns for Project Managers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1</a:t>
            </a:r>
          </a:p>
        </p:txBody>
      </p:sp>
      <p:sp>
        <p:nvSpPr>
          <p:cNvPr id="9" name="TextBox 8"/>
          <p:cNvSpPr txBox="1"/>
          <p:nvPr/>
        </p:nvSpPr>
        <p:spPr>
          <a:xfrm>
            <a:off x="777240" y="2331720"/>
            <a:ext cx="10698480" cy="1554480"/>
          </a:xfrm>
          <a:prstGeom prst="rect">
            <a:avLst/>
          </a:prstGeom>
          <a:noFill/>
        </p:spPr>
        <p:txBody>
          <a:bodyPr wrap="square" anchor="t">
            <a:spAutoFit/>
          </a:bodyPr>
          <a:lstStyle/>
          <a:p>
            <a:pPr algn="l">
              <a:spcAft>
                <a:spcPts val="400"/>
              </a:spcAft>
            </a:pPr>
            <a:r>
              <a:rPr sz="1900" b="0">
                <a:solidFill>
                  <a:srgbClr val="161B26"/>
                </a:solidFill>
                <a:latin typeface="Arial"/>
              </a:rPr>
              <a:t>Work through the ten prompting patterns on a project of your own. You will see the same question answered badly by a vague prompt and well by a structured one, and you will keep a personal prompt library for the rest of the course.</a:t>
            </a:r>
          </a:p>
        </p:txBody>
      </p:sp>
      <p:sp>
        <p:nvSpPr>
          <p:cNvPr id="10" name="Rectangle 9"/>
          <p:cNvSpPr/>
          <p:nvPr/>
        </p:nvSpPr>
        <p:spPr>
          <a:xfrm>
            <a:off x="777240" y="3977639"/>
            <a:ext cx="10634472" cy="17830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60520"/>
            <a:ext cx="10058400" cy="365760"/>
          </a:xfrm>
          <a:prstGeom prst="rect">
            <a:avLst/>
          </a:prstGeom>
          <a:noFill/>
        </p:spPr>
        <p:txBody>
          <a:bodyPr wrap="square" anchor="t">
            <a:spAutoFit/>
          </a:bodyPr>
          <a:lstStyle/>
          <a:p>
            <a:pPr algn="l">
              <a:spcAft>
                <a:spcPts val="400"/>
              </a:spcAft>
            </a:pPr>
            <a:r>
              <a:rPr sz="1300" b="1">
                <a:solidFill>
                  <a:srgbClr val="127A3E"/>
                </a:solidFill>
                <a:latin typeface="Arial"/>
              </a:rPr>
              <a:t>You'll produce</a:t>
            </a:r>
          </a:p>
        </p:txBody>
      </p:sp>
      <p:sp>
        <p:nvSpPr>
          <p:cNvPr id="12" name="TextBox 11"/>
          <p:cNvSpPr txBox="1"/>
          <p:nvPr/>
        </p:nvSpPr>
        <p:spPr>
          <a:xfrm>
            <a:off x="1005840" y="4498848"/>
            <a:ext cx="10149840" cy="685800"/>
          </a:xfrm>
          <a:prstGeom prst="rect">
            <a:avLst/>
          </a:prstGeom>
          <a:noFill/>
        </p:spPr>
        <p:txBody>
          <a:bodyPr wrap="square" anchor="t">
            <a:spAutoFit/>
          </a:bodyPr>
          <a:lstStyle/>
          <a:p>
            <a:pPr algn="l">
              <a:spcAft>
                <a:spcPts val="400"/>
              </a:spcAft>
            </a:pPr>
            <a:r>
              <a:rPr sz="1700" b="1">
                <a:solidFill>
                  <a:srgbClr val="161B26"/>
                </a:solidFill>
                <a:latin typeface="Arial"/>
              </a:rPr>
              <a:t>A personal prompt library of 10 tested prompts, each with the output it produced and your critique.</a:t>
            </a:r>
          </a:p>
        </p:txBody>
      </p:sp>
      <p:sp>
        <p:nvSpPr>
          <p:cNvPr id="13" name="TextBox 12"/>
          <p:cNvSpPr txBox="1"/>
          <p:nvPr/>
        </p:nvSpPr>
        <p:spPr>
          <a:xfrm>
            <a:off x="1005840" y="5257800"/>
            <a:ext cx="10241280" cy="4572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ChatGPT · Claude · Gemini · Copilot · Project Manager Buddy GPT</a:t>
            </a:r>
          </a:p>
        </p:txBody>
      </p:sp>
      <p:sp>
        <p:nvSpPr>
          <p:cNvPr id="14" name="TextBox 13"/>
          <p:cNvSpPr txBox="1"/>
          <p:nvPr/>
        </p:nvSpPr>
        <p:spPr>
          <a:xfrm>
            <a:off x="777240" y="5897880"/>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Step-by-step instructions: see your Learner Guide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01 · ACTIVITY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Prompting Patterns for Project Managers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1</a:t>
            </a:r>
          </a:p>
        </p:txBody>
      </p:sp>
      <p:sp>
        <p:nvSpPr>
          <p:cNvPr id="9" name="TextBox 8"/>
          <p:cNvSpPr txBox="1"/>
          <p:nvPr/>
        </p:nvSpPr>
        <p:spPr>
          <a:xfrm>
            <a:off x="777240" y="2286000"/>
            <a:ext cx="10607040" cy="365760"/>
          </a:xfrm>
          <a:prstGeom prst="rect">
            <a:avLst/>
          </a:prstGeom>
          <a:noFill/>
        </p:spPr>
        <p:txBody>
          <a:bodyPr wrap="square" anchor="t">
            <a:spAutoFit/>
          </a:bodyPr>
          <a:lstStyle/>
          <a:p>
            <a:pPr algn="l">
              <a:spcAft>
                <a:spcPts val="400"/>
              </a:spcAft>
            </a:pPr>
            <a:r>
              <a:rPr sz="1200" b="1">
                <a:solidFill>
                  <a:srgbClr val="7C3AED"/>
                </a:solidFill>
                <a:latin typeface="Arial"/>
              </a:rPr>
              <a:t>PROMPT GenAI WITH</a:t>
            </a:r>
          </a:p>
        </p:txBody>
      </p:sp>
      <p:sp>
        <p:nvSpPr>
          <p:cNvPr id="10" name="Rectangle 9"/>
          <p:cNvSpPr/>
          <p:nvPr/>
        </p:nvSpPr>
        <p:spPr>
          <a:xfrm>
            <a:off x="777240" y="2651760"/>
            <a:ext cx="10634472" cy="19659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88920"/>
            <a:ext cx="10104120" cy="1691640"/>
          </a:xfrm>
          <a:prstGeom prst="rect">
            <a:avLst/>
          </a:prstGeom>
          <a:noFill/>
        </p:spPr>
        <p:txBody>
          <a:bodyPr wrap="square" anchor="ctr">
            <a:spAutoFit/>
          </a:bodyPr>
          <a:lstStyle/>
          <a:p>
            <a:pPr algn="l">
              <a:spcAft>
                <a:spcPts val="400"/>
              </a:spcAft>
            </a:pPr>
            <a:r>
              <a:rPr sz="1600" b="0">
                <a:solidFill>
                  <a:srgbClr val="D6E4FF"/>
                </a:solidFill>
                <a:latin typeface="Arial"/>
              </a:rPr>
              <a:t>Act as a stakeholder of the project. Perform an assessment of the project charter and provide a list of recommendations to improve scope clarity and completeness.</a:t>
            </a:r>
          </a:p>
        </p:txBody>
      </p:sp>
      <p:sp>
        <p:nvSpPr>
          <p:cNvPr id="12" name="Rectangle 11"/>
          <p:cNvSpPr/>
          <p:nvPr/>
        </p:nvSpPr>
        <p:spPr>
          <a:xfrm>
            <a:off x="777240" y="4800600"/>
            <a:ext cx="10634472" cy="1051560"/>
          </a:xfrm>
          <a:prstGeom prst="rect">
            <a:avLst/>
          </a:prstGeom>
          <a:solidFill>
            <a:srgbClr val="FFF4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4919472"/>
            <a:ext cx="10149840" cy="320040"/>
          </a:xfrm>
          <a:prstGeom prst="rect">
            <a:avLst/>
          </a:prstGeom>
          <a:noFill/>
        </p:spPr>
        <p:txBody>
          <a:bodyPr wrap="square" anchor="t">
            <a:spAutoFit/>
          </a:bodyPr>
          <a:lstStyle/>
          <a:p>
            <a:pPr algn="l">
              <a:spcAft>
                <a:spcPts val="400"/>
              </a:spcAft>
            </a:pPr>
            <a:r>
              <a:rPr sz="1200" b="1">
                <a:solidFill>
                  <a:srgbClr val="F59E0B"/>
                </a:solidFill>
                <a:latin typeface="Arial"/>
              </a:rPr>
              <a:t>⚠  THEN CHECK IT</a:t>
            </a:r>
          </a:p>
        </p:txBody>
      </p:sp>
      <p:sp>
        <p:nvSpPr>
          <p:cNvPr id="14" name="TextBox 13"/>
          <p:cNvSpPr txBox="1"/>
          <p:nvPr/>
        </p:nvSpPr>
        <p:spPr>
          <a:xfrm>
            <a:off x="1051560" y="5230368"/>
            <a:ext cx="10149840" cy="548640"/>
          </a:xfrm>
          <a:prstGeom prst="rect">
            <a:avLst/>
          </a:prstGeom>
          <a:noFill/>
        </p:spPr>
        <p:txBody>
          <a:bodyPr wrap="square" anchor="t">
            <a:spAutoFit/>
          </a:bodyPr>
          <a:lstStyle/>
          <a:p>
            <a:pPr algn="l">
              <a:spcAft>
                <a:spcPts val="400"/>
              </a:spcAft>
            </a:pPr>
            <a:r>
              <a:rPr sz="1400" b="0">
                <a:solidFill>
                  <a:srgbClr val="161B26"/>
                </a:solidFill>
                <a:latin typeface="Arial"/>
              </a:rPr>
              <a:t>GenAI gives you a fast first draft. Check every figure, source and assumption before you use it.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CHECK YOUR 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Prompting Patterns for Project Managers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34472"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9" name="TextBox 8"/>
          <p:cNvSpPr txBox="1"/>
          <p:nvPr/>
        </p:nvSpPr>
        <p:spPr>
          <a:xfrm>
            <a:off x="1097280" y="3017520"/>
            <a:ext cx="9966960" cy="1280160"/>
          </a:xfrm>
          <a:prstGeom prst="rect">
            <a:avLst/>
          </a:prstGeom>
          <a:noFill/>
        </p:spPr>
        <p:txBody>
          <a:bodyPr wrap="square" anchor="t">
            <a:spAutoFit/>
          </a:bodyPr>
          <a:lstStyle/>
          <a:p>
            <a:pPr algn="l">
              <a:spcAft>
                <a:spcPts val="400"/>
              </a:spcAft>
            </a:pPr>
            <a:r>
              <a:rPr sz="1700" b="0">
                <a:solidFill>
                  <a:srgbClr val="161B26"/>
                </a:solidFill>
                <a:latin typeface="Arial"/>
              </a:rPr>
              <a:t>You have 10 prompts in your library, each with output and a critique, and you can state one concrete case where GenAI produced a plausible but wrong answer that you caught.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9509760" cy="548640"/>
          </a:xfrm>
          <a:prstGeom prst="rect">
            <a:avLst/>
          </a:prstGeom>
          <a:noFill/>
        </p:spPr>
        <p:txBody>
          <a:bodyPr wrap="square" anchor="t">
            <a:spAutoFit/>
          </a:bodyPr>
          <a:lstStyle/>
          <a:p>
            <a:pPr algn="l">
              <a:spcAft>
                <a:spcPts val="400"/>
              </a:spcAft>
            </a:pPr>
            <a:r>
              <a:rPr sz="1800" b="1">
                <a:solidFill>
                  <a:srgbClr val="1F6FEB"/>
                </a:solidFill>
                <a:latin typeface="Arial"/>
              </a:rPr>
              <a:t>COURSE ED-TOOLS</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3800" b="1">
                <a:solidFill>
                  <a:srgbClr val="161B26"/>
                </a:solidFill>
                <a:latin typeface="Arial"/>
              </a:rPr>
              <a:t>Five Collaborative Project Management Tools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BROWSER-BASED · REAL-TIME · NO INSTALL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Ed-Tools You'll Use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9860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187634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187634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9482328" cy="534009"/>
          </a:xfrm>
          <a:prstGeom prst="rect">
            <a:avLst/>
          </a:prstGeom>
          <a:noFill/>
        </p:spPr>
        <p:txBody>
          <a:bodyPr wrap="square" anchor="ctr">
            <a:spAutoFit/>
          </a:bodyPr>
          <a:lstStyle/>
          <a:p>
            <a:pPr algn="l">
              <a:spcAft>
                <a:spcPts val="300"/>
              </a:spcAft>
            </a:pPr>
            <a:r>
              <a:rPr sz="1500" b="1">
                <a:solidFill>
                  <a:srgbClr val="161B26"/>
                </a:solidFill>
                <a:latin typeface="Arial"/>
              </a:rPr>
              <a:t>RACI Collaborative Matrix</a:t>
            </a:r>
          </a:p>
          <a:p>
            <a:pPr algn="l">
              <a:spcAft>
                <a:spcPts val="300"/>
              </a:spcAft>
            </a:pPr>
            <a:r>
              <a:rPr sz="1100" b="0">
                <a:solidFill>
                  <a:srgbClr val="5B6372"/>
                </a:solidFill>
                <a:latin typeface="Arial"/>
              </a:rPr>
              <a:t>Drag A / R / C markers into a live responsibility matrix with your team.</a:t>
            </a:r>
          </a:p>
        </p:txBody>
      </p:sp>
      <p:sp>
        <p:nvSpPr>
          <p:cNvPr id="12" name="Rectangle 11"/>
          <p:cNvSpPr/>
          <p:nvPr/>
        </p:nvSpPr>
        <p:spPr>
          <a:xfrm>
            <a:off x="777240" y="2701137"/>
            <a:ext cx="10634472"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1137"/>
            <a:ext cx="91440" cy="69860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14984" y="2794405"/>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4" y="2794405"/>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1709928" y="2810865"/>
            <a:ext cx="9482328" cy="534009"/>
          </a:xfrm>
          <a:prstGeom prst="rect">
            <a:avLst/>
          </a:prstGeom>
          <a:noFill/>
        </p:spPr>
        <p:txBody>
          <a:bodyPr wrap="square" anchor="ctr">
            <a:spAutoFit/>
          </a:bodyPr>
          <a:lstStyle/>
          <a:p>
            <a:pPr algn="l">
              <a:spcAft>
                <a:spcPts val="300"/>
              </a:spcAft>
            </a:pPr>
            <a:r>
              <a:rPr sz="1500" b="1">
                <a:solidFill>
                  <a:srgbClr val="161B26"/>
                </a:solidFill>
                <a:latin typeface="Arial"/>
              </a:rPr>
              <a:t>Business Model Canvas Studio</a:t>
            </a:r>
          </a:p>
          <a:p>
            <a:pPr algn="l">
              <a:spcAft>
                <a:spcPts val="300"/>
              </a:spcAft>
            </a:pPr>
            <a:r>
              <a:rPr sz="1100" b="0">
                <a:solidFill>
                  <a:srgbClr val="5B6372"/>
                </a:solidFill>
                <a:latin typeface="Arial"/>
              </a:rPr>
              <a:t>The nine-block Osterwalder canvas — validate the business model behind your project.</a:t>
            </a:r>
          </a:p>
        </p:txBody>
      </p:sp>
      <p:sp>
        <p:nvSpPr>
          <p:cNvPr id="17" name="Rectangle 16"/>
          <p:cNvSpPr/>
          <p:nvPr/>
        </p:nvSpPr>
        <p:spPr>
          <a:xfrm>
            <a:off x="777240" y="3619194"/>
            <a:ext cx="10634472"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19194"/>
            <a:ext cx="91440" cy="69860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2"/>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728922"/>
            <a:ext cx="9482328" cy="534009"/>
          </a:xfrm>
          <a:prstGeom prst="rect">
            <a:avLst/>
          </a:prstGeom>
          <a:noFill/>
        </p:spPr>
        <p:txBody>
          <a:bodyPr wrap="square" anchor="ctr">
            <a:spAutoFit/>
          </a:bodyPr>
          <a:lstStyle/>
          <a:p>
            <a:pPr algn="l">
              <a:spcAft>
                <a:spcPts val="300"/>
              </a:spcAft>
            </a:pPr>
            <a:r>
              <a:rPr sz="1500" b="1">
                <a:solidFill>
                  <a:srgbClr val="161B26"/>
                </a:solidFill>
                <a:latin typeface="Arial"/>
              </a:rPr>
              <a:t>Design Thinking Studio</a:t>
            </a:r>
          </a:p>
          <a:p>
            <a:pPr algn="l">
              <a:spcAft>
                <a:spcPts val="300"/>
              </a:spcAft>
            </a:pPr>
            <a:r>
              <a:rPr sz="1100" b="0">
                <a:solidFill>
                  <a:srgbClr val="5B6372"/>
                </a:solidFill>
                <a:latin typeface="Arial"/>
              </a:rPr>
              <a:t>Empathise, Define, Ideate, Prototype, Test — with dot-voting on ideas.</a:t>
            </a:r>
          </a:p>
        </p:txBody>
      </p:sp>
      <p:sp>
        <p:nvSpPr>
          <p:cNvPr id="22" name="Rectangle 21"/>
          <p:cNvSpPr/>
          <p:nvPr/>
        </p:nvSpPr>
        <p:spPr>
          <a:xfrm>
            <a:off x="777240" y="4537251"/>
            <a:ext cx="10634472"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37251"/>
            <a:ext cx="91440" cy="69860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14984" y="4630519"/>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4984" y="4630519"/>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1709928" y="4646979"/>
            <a:ext cx="9482328" cy="534009"/>
          </a:xfrm>
          <a:prstGeom prst="rect">
            <a:avLst/>
          </a:prstGeom>
          <a:noFill/>
        </p:spPr>
        <p:txBody>
          <a:bodyPr wrap="square" anchor="ctr">
            <a:spAutoFit/>
          </a:bodyPr>
          <a:lstStyle/>
          <a:p>
            <a:pPr algn="l">
              <a:spcAft>
                <a:spcPts val="300"/>
              </a:spcAft>
            </a:pPr>
            <a:r>
              <a:rPr sz="1500" b="1">
                <a:solidFill>
                  <a:srgbClr val="161B26"/>
                </a:solidFill>
                <a:latin typeface="Arial"/>
              </a:rPr>
              <a:t>Scrum Agile Transformation Studio</a:t>
            </a:r>
          </a:p>
          <a:p>
            <a:pPr algn="l">
              <a:spcAft>
                <a:spcPts val="300"/>
              </a:spcAft>
            </a:pPr>
            <a:r>
              <a:rPr sz="1100" b="0">
                <a:solidFill>
                  <a:srgbClr val="5B6372"/>
                </a:solidFill>
                <a:latin typeface="Arial"/>
              </a:rPr>
              <a:t>Sprint planning, planning poker, burndown and retrospectives; exports JSON/CSV.</a:t>
            </a:r>
          </a:p>
        </p:txBody>
      </p:sp>
      <p:sp>
        <p:nvSpPr>
          <p:cNvPr id="27" name="Rectangle 26"/>
          <p:cNvSpPr/>
          <p:nvPr/>
        </p:nvSpPr>
        <p:spPr>
          <a:xfrm>
            <a:off x="777240" y="5455308"/>
            <a:ext cx="10634472"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55308"/>
            <a:ext cx="91440" cy="69860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548576"/>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54857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5565036"/>
            <a:ext cx="9482328" cy="534009"/>
          </a:xfrm>
          <a:prstGeom prst="rect">
            <a:avLst/>
          </a:prstGeom>
          <a:noFill/>
        </p:spPr>
        <p:txBody>
          <a:bodyPr wrap="square" anchor="ctr">
            <a:spAutoFit/>
          </a:bodyPr>
          <a:lstStyle/>
          <a:p>
            <a:pPr algn="l">
              <a:spcAft>
                <a:spcPts val="300"/>
              </a:spcAft>
            </a:pPr>
            <a:r>
              <a:rPr sz="1500" b="1">
                <a:solidFill>
                  <a:srgbClr val="161B26"/>
                </a:solidFill>
                <a:latin typeface="Arial"/>
              </a:rPr>
              <a:t>Digital AI Transformation Roadmap Studio</a:t>
            </a:r>
          </a:p>
          <a:p>
            <a:pPr algn="l">
              <a:spcAft>
                <a:spcPts val="300"/>
              </a:spcAft>
            </a:pPr>
            <a:r>
              <a:rPr sz="1100" b="0">
                <a:solidFill>
                  <a:srgbClr val="5B6372"/>
                </a:solidFill>
                <a:latin typeface="Arial"/>
              </a:rPr>
              <a:t>Initiatives, impact-vs-effort matrix, 12-month timeline, risk register and KPIs.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the Ed-Tools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One person opens the tool and creates the board or workspace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They share the QR code or invite link with the group</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Everyone joins and types a display name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You all edit the same artifact live, in real time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Export from Scrum; screenshot the other four as evidence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ED-TOOL · USED IN ACTIVITY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RACI Collaborative Matrix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874519"/>
            <a:ext cx="10104120" cy="685800"/>
          </a:xfrm>
          <a:prstGeom prst="rect">
            <a:avLst/>
          </a:prstGeom>
          <a:noFill/>
        </p:spPr>
        <p:txBody>
          <a:bodyPr wrap="square" anchor="ctr">
            <a:spAutoFit/>
          </a:bodyPr>
          <a:lstStyle/>
          <a:p>
            <a:pPr algn="l">
              <a:spcAft>
                <a:spcPts val="400"/>
              </a:spcAft>
            </a:pPr>
            <a:r>
              <a:rPr sz="1700" b="0">
                <a:solidFill>
                  <a:srgbClr val="161B26"/>
                </a:solidFill>
                <a:latin typeface="Arial"/>
              </a:rPr>
              <a:t>Build a responsibility assignment matrix with your team by dragging role markers into a live grid.</a:t>
            </a:r>
          </a:p>
        </p:txBody>
      </p:sp>
      <p:sp>
        <p:nvSpPr>
          <p:cNvPr id="9" name="Rectangle 8"/>
          <p:cNvSpPr/>
          <p:nvPr/>
        </p:nvSpPr>
        <p:spPr>
          <a:xfrm>
            <a:off x="777240" y="2788920"/>
            <a:ext cx="10634472"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2788920"/>
            <a:ext cx="10104120" cy="566928"/>
          </a:xfrm>
          <a:prstGeom prst="rect">
            <a:avLst/>
          </a:prstGeom>
          <a:noFill/>
        </p:spPr>
        <p:txBody>
          <a:bodyPr wrap="square" anchor="ctr">
            <a:spAutoFit/>
          </a:bodyPr>
          <a:lstStyle/>
          <a:p>
            <a:pPr algn="l">
              <a:spcAft>
                <a:spcPts val="400"/>
              </a:spcAft>
            </a:pPr>
            <a:r>
              <a:rPr sz="1600" b="1">
                <a:solidFill>
                  <a:srgbClr val="FFFFFF"/>
                </a:solidFill>
                <a:latin typeface="Arial"/>
              </a:rPr>
              <a:t>https://alfredang.github.io/raci/</a:t>
            </a:r>
          </a:p>
        </p:txBody>
      </p:sp>
      <p:sp>
        <p:nvSpPr>
          <p:cNvPr id="11" name="Rectangle 10"/>
          <p:cNvSpPr/>
          <p:nvPr/>
        </p:nvSpPr>
        <p:spPr>
          <a:xfrm>
            <a:off x="777240" y="3611880"/>
            <a:ext cx="2480310" cy="2194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11880"/>
            <a:ext cx="248031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886200"/>
            <a:ext cx="2114550" cy="457200"/>
          </a:xfrm>
          <a:prstGeom prst="rect">
            <a:avLst/>
          </a:prstGeom>
          <a:noFill/>
        </p:spPr>
        <p:txBody>
          <a:bodyPr wrap="square" anchor="t">
            <a:spAutoFit/>
          </a:bodyPr>
          <a:lstStyle/>
          <a:p>
            <a:pPr algn="l">
              <a:spcAft>
                <a:spcPts val="400"/>
              </a:spcAft>
            </a:pPr>
            <a:r>
              <a:rPr sz="1500" b="1">
                <a:solidFill>
                  <a:srgbClr val="1F6FEB"/>
                </a:solidFill>
                <a:latin typeface="Arial"/>
              </a:rPr>
              <a:t>Drag A / R / C</a:t>
            </a:r>
          </a:p>
        </p:txBody>
      </p:sp>
      <p:sp>
        <p:nvSpPr>
          <p:cNvPr id="14" name="TextBox 13"/>
          <p:cNvSpPr txBox="1"/>
          <p:nvPr/>
        </p:nvSpPr>
        <p:spPr>
          <a:xfrm>
            <a:off x="960120" y="4389120"/>
            <a:ext cx="2114550" cy="1280160"/>
          </a:xfrm>
          <a:prstGeom prst="rect">
            <a:avLst/>
          </a:prstGeom>
          <a:noFill/>
        </p:spPr>
        <p:txBody>
          <a:bodyPr wrap="square" anchor="t">
            <a:spAutoFit/>
          </a:bodyPr>
          <a:lstStyle/>
          <a:p>
            <a:pPr algn="l">
              <a:spcAft>
                <a:spcPts val="400"/>
              </a:spcAft>
            </a:pPr>
            <a:r>
              <a:rPr sz="1200" b="0">
                <a:solidFill>
                  <a:srgbClr val="5B6372"/>
                </a:solidFill>
                <a:latin typeface="Arial"/>
              </a:rPr>
              <a:t>Drag markers into cells; click a marker to remove it, or drag to the trash.</a:t>
            </a:r>
          </a:p>
        </p:txBody>
      </p:sp>
      <p:sp>
        <p:nvSpPr>
          <p:cNvPr id="15" name="Rectangle 14"/>
          <p:cNvSpPr/>
          <p:nvPr/>
        </p:nvSpPr>
        <p:spPr>
          <a:xfrm>
            <a:off x="3495294" y="3611880"/>
            <a:ext cx="2480310" cy="2194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95294" y="3611880"/>
            <a:ext cx="248031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78174" y="3886200"/>
            <a:ext cx="2114550" cy="457200"/>
          </a:xfrm>
          <a:prstGeom prst="rect">
            <a:avLst/>
          </a:prstGeom>
          <a:noFill/>
        </p:spPr>
        <p:txBody>
          <a:bodyPr wrap="square" anchor="t">
            <a:spAutoFit/>
          </a:bodyPr>
          <a:lstStyle/>
          <a:p>
            <a:pPr algn="l">
              <a:spcAft>
                <a:spcPts val="400"/>
              </a:spcAft>
            </a:pPr>
            <a:r>
              <a:rPr sz="1500" b="1">
                <a:solidFill>
                  <a:srgbClr val="10B981"/>
                </a:solidFill>
                <a:latin typeface="Arial"/>
              </a:rPr>
              <a:t>Add roles &amp; activities</a:t>
            </a:r>
          </a:p>
        </p:txBody>
      </p:sp>
      <p:sp>
        <p:nvSpPr>
          <p:cNvPr id="18" name="TextBox 17"/>
          <p:cNvSpPr txBox="1"/>
          <p:nvPr/>
        </p:nvSpPr>
        <p:spPr>
          <a:xfrm>
            <a:off x="3678174" y="4389120"/>
            <a:ext cx="2114550" cy="1280160"/>
          </a:xfrm>
          <a:prstGeom prst="rect">
            <a:avLst/>
          </a:prstGeom>
          <a:noFill/>
        </p:spPr>
        <p:txBody>
          <a:bodyPr wrap="square" anchor="t">
            <a:spAutoFit/>
          </a:bodyPr>
          <a:lstStyle/>
          <a:p>
            <a:pPr algn="l">
              <a:spcAft>
                <a:spcPts val="400"/>
              </a:spcAft>
            </a:pPr>
            <a:r>
              <a:rPr sz="1200" b="0">
                <a:solidFill>
                  <a:srgbClr val="5B6372"/>
                </a:solidFill>
                <a:latin typeface="Arial"/>
              </a:rPr>
              <a:t>'+ Add role' and '+ Add activity'; click any header to rename it.</a:t>
            </a:r>
          </a:p>
        </p:txBody>
      </p:sp>
      <p:sp>
        <p:nvSpPr>
          <p:cNvPr id="19" name="Rectangle 18"/>
          <p:cNvSpPr/>
          <p:nvPr/>
        </p:nvSpPr>
        <p:spPr>
          <a:xfrm>
            <a:off x="6213348" y="3611880"/>
            <a:ext cx="2480310" cy="2194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3611880"/>
            <a:ext cx="248031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96228" y="3886200"/>
            <a:ext cx="2114550" cy="457200"/>
          </a:xfrm>
          <a:prstGeom prst="rect">
            <a:avLst/>
          </a:prstGeom>
          <a:noFill/>
        </p:spPr>
        <p:txBody>
          <a:bodyPr wrap="square" anchor="t">
            <a:spAutoFit/>
          </a:bodyPr>
          <a:lstStyle/>
          <a:p>
            <a:pPr algn="l">
              <a:spcAft>
                <a:spcPts val="400"/>
              </a:spcAft>
            </a:pPr>
            <a:r>
              <a:rPr sz="1500" b="1">
                <a:solidFill>
                  <a:srgbClr val="7C3AED"/>
                </a:solidFill>
                <a:latin typeface="Arial"/>
              </a:rPr>
              <a:t>Pre-seeded</a:t>
            </a:r>
          </a:p>
        </p:txBody>
      </p:sp>
      <p:sp>
        <p:nvSpPr>
          <p:cNvPr id="22" name="TextBox 21"/>
          <p:cNvSpPr txBox="1"/>
          <p:nvPr/>
        </p:nvSpPr>
        <p:spPr>
          <a:xfrm>
            <a:off x="6396228" y="4389120"/>
            <a:ext cx="2114550" cy="1280160"/>
          </a:xfrm>
          <a:prstGeom prst="rect">
            <a:avLst/>
          </a:prstGeom>
          <a:noFill/>
        </p:spPr>
        <p:txBody>
          <a:bodyPr wrap="square" anchor="t">
            <a:spAutoFit/>
          </a:bodyPr>
          <a:lstStyle/>
          <a:p>
            <a:pPr algn="l">
              <a:spcAft>
                <a:spcPts val="400"/>
              </a:spcAft>
            </a:pPr>
            <a:r>
              <a:rPr sz="1200" b="0">
                <a:solidFill>
                  <a:srgbClr val="5B6372"/>
                </a:solidFill>
                <a:latin typeface="Arial"/>
              </a:rPr>
              <a:t>A GenAI project example with 4 roles and 5 activities is already loaded.</a:t>
            </a:r>
          </a:p>
        </p:txBody>
      </p:sp>
      <p:sp>
        <p:nvSpPr>
          <p:cNvPr id="23" name="Rectangle 22"/>
          <p:cNvSpPr/>
          <p:nvPr/>
        </p:nvSpPr>
        <p:spPr>
          <a:xfrm>
            <a:off x="8931402" y="3611880"/>
            <a:ext cx="2480310" cy="2194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31402" y="3611880"/>
            <a:ext cx="248031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14282" y="3886200"/>
            <a:ext cx="2114550" cy="457200"/>
          </a:xfrm>
          <a:prstGeom prst="rect">
            <a:avLst/>
          </a:prstGeom>
          <a:noFill/>
        </p:spPr>
        <p:txBody>
          <a:bodyPr wrap="square" anchor="t">
            <a:spAutoFit/>
          </a:bodyPr>
          <a:lstStyle/>
          <a:p>
            <a:pPr algn="l">
              <a:spcAft>
                <a:spcPts val="400"/>
              </a:spcAft>
            </a:pPr>
            <a:r>
              <a:rPr sz="1500" b="1">
                <a:solidFill>
                  <a:srgbClr val="F59E0B"/>
                </a:solidFill>
                <a:latin typeface="Arial"/>
              </a:rPr>
              <a:t>Share</a:t>
            </a:r>
          </a:p>
        </p:txBody>
      </p:sp>
      <p:sp>
        <p:nvSpPr>
          <p:cNvPr id="26" name="TextBox 25"/>
          <p:cNvSpPr txBox="1"/>
          <p:nvPr/>
        </p:nvSpPr>
        <p:spPr>
          <a:xfrm>
            <a:off x="9114282" y="4389120"/>
            <a:ext cx="2114550" cy="1280160"/>
          </a:xfrm>
          <a:prstGeom prst="rect">
            <a:avLst/>
          </a:prstGeom>
          <a:noFill/>
        </p:spPr>
        <p:txBody>
          <a:bodyPr wrap="square" anchor="t">
            <a:spAutoFit/>
          </a:bodyPr>
          <a:lstStyle/>
          <a:p>
            <a:pPr algn="l">
              <a:spcAft>
                <a:spcPts val="400"/>
              </a:spcAft>
            </a:pPr>
            <a:r>
              <a:rPr sz="1200" b="0">
                <a:solidFill>
                  <a:srgbClr val="5B6372"/>
                </a:solidFill>
                <a:latin typeface="Arial"/>
              </a:rPr>
              <a:t>QR code and board URL — everyone edits the same matrix live.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ED-TOOL · USED IN ACTIVITY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Business Model Canvas Studio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874519"/>
            <a:ext cx="10104120" cy="685800"/>
          </a:xfrm>
          <a:prstGeom prst="rect">
            <a:avLst/>
          </a:prstGeom>
          <a:noFill/>
        </p:spPr>
        <p:txBody>
          <a:bodyPr wrap="square" anchor="ctr">
            <a:spAutoFit/>
          </a:bodyPr>
          <a:lstStyle/>
          <a:p>
            <a:pPr algn="l">
              <a:spcAft>
                <a:spcPts val="400"/>
              </a:spcAft>
            </a:pPr>
            <a:r>
              <a:rPr sz="1700" b="0">
                <a:solidFill>
                  <a:srgbClr val="161B26"/>
                </a:solidFill>
                <a:latin typeface="Arial"/>
              </a:rPr>
              <a:t>Design and validate the business model behind your project on the nine-block Osterwalder canvas.</a:t>
            </a:r>
          </a:p>
        </p:txBody>
      </p:sp>
      <p:sp>
        <p:nvSpPr>
          <p:cNvPr id="9" name="Rectangle 8"/>
          <p:cNvSpPr/>
          <p:nvPr/>
        </p:nvSpPr>
        <p:spPr>
          <a:xfrm>
            <a:off x="777240" y="2788920"/>
            <a:ext cx="10634472"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2788920"/>
            <a:ext cx="10104120" cy="566928"/>
          </a:xfrm>
          <a:prstGeom prst="rect">
            <a:avLst/>
          </a:prstGeom>
          <a:noFill/>
        </p:spPr>
        <p:txBody>
          <a:bodyPr wrap="square" anchor="ctr">
            <a:spAutoFit/>
          </a:bodyPr>
          <a:lstStyle/>
          <a:p>
            <a:pPr algn="l">
              <a:spcAft>
                <a:spcPts val="400"/>
              </a:spcAft>
            </a:pPr>
            <a:r>
              <a:rPr sz="1600" b="1">
                <a:solidFill>
                  <a:srgbClr val="FFFFFF"/>
                </a:solidFill>
                <a:latin typeface="Arial"/>
              </a:rPr>
              <a:t>https://alfredang.github.io/bcm/</a:t>
            </a:r>
          </a:p>
        </p:txBody>
      </p:sp>
      <p:sp>
        <p:nvSpPr>
          <p:cNvPr id="11" name="Rectangle 10"/>
          <p:cNvSpPr/>
          <p:nvPr/>
        </p:nvSpPr>
        <p:spPr>
          <a:xfrm>
            <a:off x="777240" y="3611880"/>
            <a:ext cx="2480310" cy="2194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11880"/>
            <a:ext cx="248031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886200"/>
            <a:ext cx="2114550" cy="457200"/>
          </a:xfrm>
          <a:prstGeom prst="rect">
            <a:avLst/>
          </a:prstGeom>
          <a:noFill/>
        </p:spPr>
        <p:txBody>
          <a:bodyPr wrap="square" anchor="t">
            <a:spAutoFit/>
          </a:bodyPr>
          <a:lstStyle/>
          <a:p>
            <a:pPr algn="l">
              <a:spcAft>
                <a:spcPts val="400"/>
              </a:spcAft>
            </a:pPr>
            <a:r>
              <a:rPr sz="1500" b="1">
                <a:solidFill>
                  <a:srgbClr val="1F6FEB"/>
                </a:solidFill>
                <a:latin typeface="Arial"/>
              </a:rPr>
              <a:t>Nine blocks</a:t>
            </a:r>
          </a:p>
        </p:txBody>
      </p:sp>
      <p:sp>
        <p:nvSpPr>
          <p:cNvPr id="14" name="TextBox 13"/>
          <p:cNvSpPr txBox="1"/>
          <p:nvPr/>
        </p:nvSpPr>
        <p:spPr>
          <a:xfrm>
            <a:off x="960120" y="4389120"/>
            <a:ext cx="2114550" cy="1280160"/>
          </a:xfrm>
          <a:prstGeom prst="rect">
            <a:avLst/>
          </a:prstGeom>
          <a:noFill/>
        </p:spPr>
        <p:txBody>
          <a:bodyPr wrap="square" anchor="t">
            <a:spAutoFit/>
          </a:bodyPr>
          <a:lstStyle/>
          <a:p>
            <a:pPr algn="l">
              <a:spcAft>
                <a:spcPts val="400"/>
              </a:spcAft>
            </a:pPr>
            <a:r>
              <a:rPr sz="1200" b="0">
                <a:solidFill>
                  <a:srgbClr val="5B6372"/>
                </a:solidFill>
                <a:latin typeface="Arial"/>
              </a:rPr>
              <a:t>Partners, Activities, Resources, Value Propositions, Relationships, Channels, Segments, Costs, Revenue.</a:t>
            </a:r>
          </a:p>
        </p:txBody>
      </p:sp>
      <p:sp>
        <p:nvSpPr>
          <p:cNvPr id="15" name="Rectangle 14"/>
          <p:cNvSpPr/>
          <p:nvPr/>
        </p:nvSpPr>
        <p:spPr>
          <a:xfrm>
            <a:off x="3495294" y="3611880"/>
            <a:ext cx="2480310" cy="2194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95294" y="3611880"/>
            <a:ext cx="248031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78174" y="3886200"/>
            <a:ext cx="2114550" cy="457200"/>
          </a:xfrm>
          <a:prstGeom prst="rect">
            <a:avLst/>
          </a:prstGeom>
          <a:noFill/>
        </p:spPr>
        <p:txBody>
          <a:bodyPr wrap="square" anchor="t">
            <a:spAutoFit/>
          </a:bodyPr>
          <a:lstStyle/>
          <a:p>
            <a:pPr algn="l">
              <a:spcAft>
                <a:spcPts val="400"/>
              </a:spcAft>
            </a:pPr>
            <a:r>
              <a:rPr sz="1500" b="1">
                <a:solidFill>
                  <a:srgbClr val="10B981"/>
                </a:solidFill>
                <a:latin typeface="Arial"/>
              </a:rPr>
              <a:t>Sticky notes</a:t>
            </a:r>
          </a:p>
        </p:txBody>
      </p:sp>
      <p:sp>
        <p:nvSpPr>
          <p:cNvPr id="18" name="TextBox 17"/>
          <p:cNvSpPr txBox="1"/>
          <p:nvPr/>
        </p:nvSpPr>
        <p:spPr>
          <a:xfrm>
            <a:off x="3678174" y="4389120"/>
            <a:ext cx="2114550" cy="1280160"/>
          </a:xfrm>
          <a:prstGeom prst="rect">
            <a:avLst/>
          </a:prstGeom>
          <a:noFill/>
        </p:spPr>
        <p:txBody>
          <a:bodyPr wrap="square" anchor="t">
            <a:spAutoFit/>
          </a:bodyPr>
          <a:lstStyle/>
          <a:p>
            <a:pPr algn="l">
              <a:spcAft>
                <a:spcPts val="400"/>
              </a:spcAft>
            </a:pPr>
            <a:r>
              <a:rPr sz="1200" b="0">
                <a:solidFill>
                  <a:srgbClr val="5B6372"/>
                </a:solidFill>
                <a:latin typeface="Arial"/>
              </a:rPr>
              <a:t>Title, description, category, priority — added to any block.</a:t>
            </a:r>
          </a:p>
        </p:txBody>
      </p:sp>
      <p:sp>
        <p:nvSpPr>
          <p:cNvPr id="19" name="Rectangle 18"/>
          <p:cNvSpPr/>
          <p:nvPr/>
        </p:nvSpPr>
        <p:spPr>
          <a:xfrm>
            <a:off x="6213348" y="3611880"/>
            <a:ext cx="2480310" cy="2194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3611880"/>
            <a:ext cx="248031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96228" y="3886200"/>
            <a:ext cx="2114550" cy="457200"/>
          </a:xfrm>
          <a:prstGeom prst="rect">
            <a:avLst/>
          </a:prstGeom>
          <a:noFill/>
        </p:spPr>
        <p:txBody>
          <a:bodyPr wrap="square" anchor="t">
            <a:spAutoFit/>
          </a:bodyPr>
          <a:lstStyle/>
          <a:p>
            <a:pPr algn="l">
              <a:spcAft>
                <a:spcPts val="400"/>
              </a:spcAft>
            </a:pPr>
            <a:r>
              <a:rPr sz="1500" b="1">
                <a:solidFill>
                  <a:srgbClr val="7C3AED"/>
                </a:solidFill>
                <a:latin typeface="Arial"/>
              </a:rPr>
              <a:t>Validate</a:t>
            </a:r>
          </a:p>
        </p:txBody>
      </p:sp>
      <p:sp>
        <p:nvSpPr>
          <p:cNvPr id="22" name="TextBox 21"/>
          <p:cNvSpPr txBox="1"/>
          <p:nvPr/>
        </p:nvSpPr>
        <p:spPr>
          <a:xfrm>
            <a:off x="6396228" y="4389120"/>
            <a:ext cx="2114550" cy="1280160"/>
          </a:xfrm>
          <a:prstGeom prst="rect">
            <a:avLst/>
          </a:prstGeom>
          <a:noFill/>
        </p:spPr>
        <p:txBody>
          <a:bodyPr wrap="square" anchor="t">
            <a:spAutoFit/>
          </a:bodyPr>
          <a:lstStyle/>
          <a:p>
            <a:pPr algn="l">
              <a:spcAft>
                <a:spcPts val="400"/>
              </a:spcAft>
            </a:pPr>
            <a:r>
              <a:rPr sz="1200" b="0">
                <a:solidFill>
                  <a:srgbClr val="5B6372"/>
                </a:solidFill>
                <a:latin typeface="Arial"/>
              </a:rPr>
              <a:t>Set each note Draft → Validate → Confirmed as evidence firms up.</a:t>
            </a:r>
          </a:p>
        </p:txBody>
      </p:sp>
      <p:sp>
        <p:nvSpPr>
          <p:cNvPr id="23" name="Rectangle 22"/>
          <p:cNvSpPr/>
          <p:nvPr/>
        </p:nvSpPr>
        <p:spPr>
          <a:xfrm>
            <a:off x="8931402" y="3611880"/>
            <a:ext cx="2480310" cy="2194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31402" y="3611880"/>
            <a:ext cx="248031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14282" y="3886200"/>
            <a:ext cx="2114550" cy="457200"/>
          </a:xfrm>
          <a:prstGeom prst="rect">
            <a:avLst/>
          </a:prstGeom>
          <a:noFill/>
        </p:spPr>
        <p:txBody>
          <a:bodyPr wrap="square" anchor="t">
            <a:spAutoFit/>
          </a:bodyPr>
          <a:lstStyle/>
          <a:p>
            <a:pPr algn="l">
              <a:spcAft>
                <a:spcPts val="400"/>
              </a:spcAft>
            </a:pPr>
            <a:r>
              <a:rPr sz="1500" b="1">
                <a:solidFill>
                  <a:srgbClr val="F59E0B"/>
                </a:solidFill>
                <a:latin typeface="Arial"/>
              </a:rPr>
              <a:t>Guidance</a:t>
            </a:r>
          </a:p>
        </p:txBody>
      </p:sp>
      <p:sp>
        <p:nvSpPr>
          <p:cNvPr id="26" name="TextBox 25"/>
          <p:cNvSpPr txBox="1"/>
          <p:nvPr/>
        </p:nvSpPr>
        <p:spPr>
          <a:xfrm>
            <a:off x="9114282" y="4389120"/>
            <a:ext cx="2114550" cy="1280160"/>
          </a:xfrm>
          <a:prstGeom prst="rect">
            <a:avLst/>
          </a:prstGeom>
          <a:noFill/>
        </p:spPr>
        <p:txBody>
          <a:bodyPr wrap="square" anchor="t">
            <a:spAutoFit/>
          </a:bodyPr>
          <a:lstStyle/>
          <a:p>
            <a:pPr algn="l">
              <a:spcAft>
                <a:spcPts val="400"/>
              </a:spcAft>
            </a:pPr>
            <a:r>
              <a:rPr sz="1200" b="0">
                <a:solidFill>
                  <a:srgbClr val="5B6372"/>
                </a:solidFill>
                <a:latin typeface="Arial"/>
              </a:rPr>
              <a:t>The (i) button on each block reveals coaching questions.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ED-TOOL · USED IN ACTIVITY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Design Thinking Studio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874519"/>
            <a:ext cx="10104120" cy="685800"/>
          </a:xfrm>
          <a:prstGeom prst="rect">
            <a:avLst/>
          </a:prstGeom>
          <a:noFill/>
        </p:spPr>
        <p:txBody>
          <a:bodyPr wrap="square" anchor="ctr">
            <a:spAutoFit/>
          </a:bodyPr>
          <a:lstStyle/>
          <a:p>
            <a:pPr algn="l">
              <a:spcAft>
                <a:spcPts val="400"/>
              </a:spcAft>
            </a:pPr>
            <a:r>
              <a:rPr sz="1700" b="0">
                <a:solidFill>
                  <a:srgbClr val="161B26"/>
                </a:solidFill>
                <a:latin typeface="Arial"/>
              </a:rPr>
              <a:t>Run the five design thinking stages to elicit and prioritise requirements as a group.</a:t>
            </a:r>
          </a:p>
        </p:txBody>
      </p:sp>
      <p:sp>
        <p:nvSpPr>
          <p:cNvPr id="9" name="Rectangle 8"/>
          <p:cNvSpPr/>
          <p:nvPr/>
        </p:nvSpPr>
        <p:spPr>
          <a:xfrm>
            <a:off x="777240" y="2788920"/>
            <a:ext cx="10634472"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2788920"/>
            <a:ext cx="10104120" cy="566928"/>
          </a:xfrm>
          <a:prstGeom prst="rect">
            <a:avLst/>
          </a:prstGeom>
          <a:noFill/>
        </p:spPr>
        <p:txBody>
          <a:bodyPr wrap="square" anchor="ctr">
            <a:spAutoFit/>
          </a:bodyPr>
          <a:lstStyle/>
          <a:p>
            <a:pPr algn="l">
              <a:spcAft>
                <a:spcPts val="400"/>
              </a:spcAft>
            </a:pPr>
            <a:r>
              <a:rPr sz="1600" b="1">
                <a:solidFill>
                  <a:srgbClr val="FFFFFF"/>
                </a:solidFill>
                <a:latin typeface="Arial"/>
              </a:rPr>
              <a:t>https://alfredang.github.io/designthinking/</a:t>
            </a:r>
          </a:p>
        </p:txBody>
      </p:sp>
      <p:sp>
        <p:nvSpPr>
          <p:cNvPr id="11" name="Rectangle 10"/>
          <p:cNvSpPr/>
          <p:nvPr/>
        </p:nvSpPr>
        <p:spPr>
          <a:xfrm>
            <a:off x="777240" y="3611880"/>
            <a:ext cx="2480310" cy="2194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11880"/>
            <a:ext cx="248031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886200"/>
            <a:ext cx="2114550" cy="457200"/>
          </a:xfrm>
          <a:prstGeom prst="rect">
            <a:avLst/>
          </a:prstGeom>
          <a:noFill/>
        </p:spPr>
        <p:txBody>
          <a:bodyPr wrap="square" anchor="t">
            <a:spAutoFit/>
          </a:bodyPr>
          <a:lstStyle/>
          <a:p>
            <a:pPr algn="l">
              <a:spcAft>
                <a:spcPts val="400"/>
              </a:spcAft>
            </a:pPr>
            <a:r>
              <a:rPr sz="1500" b="1">
                <a:solidFill>
                  <a:srgbClr val="1F6FEB"/>
                </a:solidFill>
                <a:latin typeface="Arial"/>
              </a:rPr>
              <a:t>Five stages</a:t>
            </a:r>
          </a:p>
        </p:txBody>
      </p:sp>
      <p:sp>
        <p:nvSpPr>
          <p:cNvPr id="14" name="TextBox 13"/>
          <p:cNvSpPr txBox="1"/>
          <p:nvPr/>
        </p:nvSpPr>
        <p:spPr>
          <a:xfrm>
            <a:off x="960120" y="4389120"/>
            <a:ext cx="2114550" cy="1280160"/>
          </a:xfrm>
          <a:prstGeom prst="rect">
            <a:avLst/>
          </a:prstGeom>
          <a:noFill/>
        </p:spPr>
        <p:txBody>
          <a:bodyPr wrap="square" anchor="t">
            <a:spAutoFit/>
          </a:bodyPr>
          <a:lstStyle/>
          <a:p>
            <a:pPr algn="l">
              <a:spcAft>
                <a:spcPts val="400"/>
              </a:spcAft>
            </a:pPr>
            <a:r>
              <a:rPr sz="1200" b="0">
                <a:solidFill>
                  <a:srgbClr val="5B6372"/>
                </a:solidFill>
                <a:latin typeface="Arial"/>
              </a:rPr>
              <a:t>Empathize → Define → Ideate → Prototype → Test.</a:t>
            </a:r>
          </a:p>
        </p:txBody>
      </p:sp>
      <p:sp>
        <p:nvSpPr>
          <p:cNvPr id="15" name="Rectangle 14"/>
          <p:cNvSpPr/>
          <p:nvPr/>
        </p:nvSpPr>
        <p:spPr>
          <a:xfrm>
            <a:off x="3495294" y="3611880"/>
            <a:ext cx="2480310" cy="2194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95294" y="3611880"/>
            <a:ext cx="248031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78174" y="3886200"/>
            <a:ext cx="2114550" cy="457200"/>
          </a:xfrm>
          <a:prstGeom prst="rect">
            <a:avLst/>
          </a:prstGeom>
          <a:noFill/>
        </p:spPr>
        <p:txBody>
          <a:bodyPr wrap="square" anchor="t">
            <a:spAutoFit/>
          </a:bodyPr>
          <a:lstStyle/>
          <a:p>
            <a:pPr algn="l">
              <a:spcAft>
                <a:spcPts val="400"/>
              </a:spcAft>
            </a:pPr>
            <a:r>
              <a:rPr sz="1500" b="1">
                <a:solidFill>
                  <a:srgbClr val="10B981"/>
                </a:solidFill>
                <a:latin typeface="Arial"/>
              </a:rPr>
              <a:t>Empathy map</a:t>
            </a:r>
          </a:p>
        </p:txBody>
      </p:sp>
      <p:sp>
        <p:nvSpPr>
          <p:cNvPr id="18" name="TextBox 17"/>
          <p:cNvSpPr txBox="1"/>
          <p:nvPr/>
        </p:nvSpPr>
        <p:spPr>
          <a:xfrm>
            <a:off x="3678174" y="4389120"/>
            <a:ext cx="2114550" cy="1280160"/>
          </a:xfrm>
          <a:prstGeom prst="rect">
            <a:avLst/>
          </a:prstGeom>
          <a:noFill/>
        </p:spPr>
        <p:txBody>
          <a:bodyPr wrap="square" anchor="t">
            <a:spAutoFit/>
          </a:bodyPr>
          <a:lstStyle/>
          <a:p>
            <a:pPr algn="l">
              <a:spcAft>
                <a:spcPts val="400"/>
              </a:spcAft>
            </a:pPr>
            <a:r>
              <a:rPr sz="1200" b="0">
                <a:solidFill>
                  <a:srgbClr val="5B6372"/>
                </a:solidFill>
                <a:latin typeface="Arial"/>
              </a:rPr>
              <a:t>Says / Thinks / Does / Feels quadrants for your persona.</a:t>
            </a:r>
          </a:p>
        </p:txBody>
      </p:sp>
      <p:sp>
        <p:nvSpPr>
          <p:cNvPr id="19" name="Rectangle 18"/>
          <p:cNvSpPr/>
          <p:nvPr/>
        </p:nvSpPr>
        <p:spPr>
          <a:xfrm>
            <a:off x="6213348" y="3611880"/>
            <a:ext cx="2480310" cy="2194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3611880"/>
            <a:ext cx="248031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96228" y="3886200"/>
            <a:ext cx="2114550" cy="457200"/>
          </a:xfrm>
          <a:prstGeom prst="rect">
            <a:avLst/>
          </a:prstGeom>
          <a:noFill/>
        </p:spPr>
        <p:txBody>
          <a:bodyPr wrap="square" anchor="t">
            <a:spAutoFit/>
          </a:bodyPr>
          <a:lstStyle/>
          <a:p>
            <a:pPr algn="l">
              <a:spcAft>
                <a:spcPts val="400"/>
              </a:spcAft>
            </a:pPr>
            <a:r>
              <a:rPr sz="1500" b="1">
                <a:solidFill>
                  <a:srgbClr val="7C3AED"/>
                </a:solidFill>
                <a:latin typeface="Arial"/>
              </a:rPr>
              <a:t>Dot voting</a:t>
            </a:r>
          </a:p>
        </p:txBody>
      </p:sp>
      <p:sp>
        <p:nvSpPr>
          <p:cNvPr id="22" name="TextBox 21"/>
          <p:cNvSpPr txBox="1"/>
          <p:nvPr/>
        </p:nvSpPr>
        <p:spPr>
          <a:xfrm>
            <a:off x="6396228" y="4389120"/>
            <a:ext cx="2114550" cy="1280160"/>
          </a:xfrm>
          <a:prstGeom prst="rect">
            <a:avLst/>
          </a:prstGeom>
          <a:noFill/>
        </p:spPr>
        <p:txBody>
          <a:bodyPr wrap="square" anchor="t">
            <a:spAutoFit/>
          </a:bodyPr>
          <a:lstStyle/>
          <a:p>
            <a:pPr algn="l">
              <a:spcAft>
                <a:spcPts val="400"/>
              </a:spcAft>
            </a:pPr>
            <a:r>
              <a:rPr sz="1200" b="0">
                <a:solidFill>
                  <a:srgbClr val="5B6372"/>
                </a:solidFill>
                <a:latin typeface="Arial"/>
              </a:rPr>
              <a:t>Voting is enabled on the ideation and prioritisation sections.</a:t>
            </a:r>
          </a:p>
        </p:txBody>
      </p:sp>
      <p:sp>
        <p:nvSpPr>
          <p:cNvPr id="23" name="Rectangle 22"/>
          <p:cNvSpPr/>
          <p:nvPr/>
        </p:nvSpPr>
        <p:spPr>
          <a:xfrm>
            <a:off x="8931402" y="3611880"/>
            <a:ext cx="2480310" cy="2194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31402" y="3611880"/>
            <a:ext cx="248031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14282" y="3886200"/>
            <a:ext cx="2114550" cy="457200"/>
          </a:xfrm>
          <a:prstGeom prst="rect">
            <a:avLst/>
          </a:prstGeom>
          <a:noFill/>
        </p:spPr>
        <p:txBody>
          <a:bodyPr wrap="square" anchor="t">
            <a:spAutoFit/>
          </a:bodyPr>
          <a:lstStyle/>
          <a:p>
            <a:pPr algn="l">
              <a:spcAft>
                <a:spcPts val="400"/>
              </a:spcAft>
            </a:pPr>
            <a:r>
              <a:rPr sz="1500" b="1">
                <a:solidFill>
                  <a:srgbClr val="F59E0B"/>
                </a:solidFill>
                <a:latin typeface="Arial"/>
              </a:rPr>
              <a:t>Notes</a:t>
            </a:r>
          </a:p>
        </p:txBody>
      </p:sp>
      <p:sp>
        <p:nvSpPr>
          <p:cNvPr id="26" name="TextBox 25"/>
          <p:cNvSpPr txBox="1"/>
          <p:nvPr/>
        </p:nvSpPr>
        <p:spPr>
          <a:xfrm>
            <a:off x="9114282" y="4389120"/>
            <a:ext cx="2114550" cy="1280160"/>
          </a:xfrm>
          <a:prstGeom prst="rect">
            <a:avLst/>
          </a:prstGeom>
          <a:noFill/>
        </p:spPr>
        <p:txBody>
          <a:bodyPr wrap="square" anchor="t">
            <a:spAutoFit/>
          </a:bodyPr>
          <a:lstStyle/>
          <a:p>
            <a:pPr algn="l">
              <a:spcAft>
                <a:spcPts val="400"/>
              </a:spcAft>
            </a:pPr>
            <a:r>
              <a:rPr sz="1200" b="0">
                <a:solidFill>
                  <a:srgbClr val="5B6372"/>
                </a:solidFill>
                <a:latin typeface="Arial"/>
              </a:rPr>
              <a:t>Title, description and category; some sections support resolve.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ED-TOOL · USED IN ACTIVITY 16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Scrum Agile Transformation Studio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874519"/>
            <a:ext cx="10104120" cy="685800"/>
          </a:xfrm>
          <a:prstGeom prst="rect">
            <a:avLst/>
          </a:prstGeom>
          <a:noFill/>
        </p:spPr>
        <p:txBody>
          <a:bodyPr wrap="square" anchor="ctr">
            <a:spAutoFit/>
          </a:bodyPr>
          <a:lstStyle/>
          <a:p>
            <a:pPr algn="l">
              <a:spcAft>
                <a:spcPts val="400"/>
              </a:spcAft>
            </a:pPr>
            <a:r>
              <a:rPr sz="1700" b="0">
                <a:solidFill>
                  <a:srgbClr val="161B26"/>
                </a:solidFill>
                <a:latin typeface="Arial"/>
              </a:rPr>
              <a:t>Plan sprints, run ceremonies, estimate with planning poker and hold retrospectives together.</a:t>
            </a:r>
          </a:p>
        </p:txBody>
      </p:sp>
      <p:sp>
        <p:nvSpPr>
          <p:cNvPr id="9" name="Rectangle 8"/>
          <p:cNvSpPr/>
          <p:nvPr/>
        </p:nvSpPr>
        <p:spPr>
          <a:xfrm>
            <a:off x="777240" y="2788920"/>
            <a:ext cx="10634472"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2788920"/>
            <a:ext cx="10104120" cy="566928"/>
          </a:xfrm>
          <a:prstGeom prst="rect">
            <a:avLst/>
          </a:prstGeom>
          <a:noFill/>
        </p:spPr>
        <p:txBody>
          <a:bodyPr wrap="square" anchor="ctr">
            <a:spAutoFit/>
          </a:bodyPr>
          <a:lstStyle/>
          <a:p>
            <a:pPr algn="l">
              <a:spcAft>
                <a:spcPts val="400"/>
              </a:spcAft>
            </a:pPr>
            <a:r>
              <a:rPr sz="1600" b="1">
                <a:solidFill>
                  <a:srgbClr val="FFFFFF"/>
                </a:solidFill>
                <a:latin typeface="Arial"/>
              </a:rPr>
              <a:t>https://alfredang.github.io/scrum/</a:t>
            </a:r>
          </a:p>
        </p:txBody>
      </p:sp>
      <p:sp>
        <p:nvSpPr>
          <p:cNvPr id="11" name="Rectangle 10"/>
          <p:cNvSpPr/>
          <p:nvPr/>
        </p:nvSpPr>
        <p:spPr>
          <a:xfrm>
            <a:off x="777240" y="3611880"/>
            <a:ext cx="2480310" cy="2194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11880"/>
            <a:ext cx="248031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886200"/>
            <a:ext cx="2114550" cy="457200"/>
          </a:xfrm>
          <a:prstGeom prst="rect">
            <a:avLst/>
          </a:prstGeom>
          <a:noFill/>
        </p:spPr>
        <p:txBody>
          <a:bodyPr wrap="square" anchor="t">
            <a:spAutoFit/>
          </a:bodyPr>
          <a:lstStyle/>
          <a:p>
            <a:pPr algn="l">
              <a:spcAft>
                <a:spcPts val="400"/>
              </a:spcAft>
            </a:pPr>
            <a:r>
              <a:rPr sz="1500" b="1">
                <a:solidFill>
                  <a:srgbClr val="1F6FEB"/>
                </a:solidFill>
                <a:latin typeface="Arial"/>
              </a:rPr>
              <a:t>Pick a role</a:t>
            </a:r>
          </a:p>
        </p:txBody>
      </p:sp>
      <p:sp>
        <p:nvSpPr>
          <p:cNvPr id="14" name="TextBox 13"/>
          <p:cNvSpPr txBox="1"/>
          <p:nvPr/>
        </p:nvSpPr>
        <p:spPr>
          <a:xfrm>
            <a:off x="960120" y="4389120"/>
            <a:ext cx="2114550" cy="1280160"/>
          </a:xfrm>
          <a:prstGeom prst="rect">
            <a:avLst/>
          </a:prstGeom>
          <a:noFill/>
        </p:spPr>
        <p:txBody>
          <a:bodyPr wrap="square" anchor="t">
            <a:spAutoFit/>
          </a:bodyPr>
          <a:lstStyle/>
          <a:p>
            <a:pPr algn="l">
              <a:spcAft>
                <a:spcPts val="400"/>
              </a:spcAft>
            </a:pPr>
            <a:r>
              <a:rPr sz="1200" b="0">
                <a:solidFill>
                  <a:srgbClr val="5B6372"/>
                </a:solidFill>
                <a:latin typeface="Arial"/>
              </a:rPr>
              <a:t>Product Owner, Scrum Master, Developer, Stakeholder or Agile Coach.</a:t>
            </a:r>
          </a:p>
        </p:txBody>
      </p:sp>
      <p:sp>
        <p:nvSpPr>
          <p:cNvPr id="15" name="Rectangle 14"/>
          <p:cNvSpPr/>
          <p:nvPr/>
        </p:nvSpPr>
        <p:spPr>
          <a:xfrm>
            <a:off x="3495294" y="3611880"/>
            <a:ext cx="2480310" cy="2194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95294" y="3611880"/>
            <a:ext cx="248031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78174" y="3886200"/>
            <a:ext cx="2114550" cy="457200"/>
          </a:xfrm>
          <a:prstGeom prst="rect">
            <a:avLst/>
          </a:prstGeom>
          <a:noFill/>
        </p:spPr>
        <p:txBody>
          <a:bodyPr wrap="square" anchor="t">
            <a:spAutoFit/>
          </a:bodyPr>
          <a:lstStyle/>
          <a:p>
            <a:pPr algn="l">
              <a:spcAft>
                <a:spcPts val="400"/>
              </a:spcAft>
            </a:pPr>
            <a:r>
              <a:rPr sz="1500" b="1">
                <a:solidFill>
                  <a:srgbClr val="10B981"/>
                </a:solidFill>
                <a:latin typeface="Arial"/>
              </a:rPr>
              <a:t>Planning poker</a:t>
            </a:r>
          </a:p>
        </p:txBody>
      </p:sp>
      <p:sp>
        <p:nvSpPr>
          <p:cNvPr id="18" name="TextBox 17"/>
          <p:cNvSpPr txBox="1"/>
          <p:nvPr/>
        </p:nvSpPr>
        <p:spPr>
          <a:xfrm>
            <a:off x="3678174" y="4389120"/>
            <a:ext cx="2114550" cy="1280160"/>
          </a:xfrm>
          <a:prstGeom prst="rect">
            <a:avLst/>
          </a:prstGeom>
          <a:noFill/>
        </p:spPr>
        <p:txBody>
          <a:bodyPr wrap="square" anchor="t">
            <a:spAutoFit/>
          </a:bodyPr>
          <a:lstStyle/>
          <a:p>
            <a:pPr algn="l">
              <a:spcAft>
                <a:spcPts val="400"/>
              </a:spcAft>
            </a:pPr>
            <a:r>
              <a:rPr sz="1200" b="0">
                <a:solidFill>
                  <a:srgbClr val="5B6372"/>
                </a:solidFill>
                <a:latin typeface="Arial"/>
              </a:rPr>
              <a:t>Reveal, reset and commit estimates as a team.</a:t>
            </a:r>
          </a:p>
        </p:txBody>
      </p:sp>
      <p:sp>
        <p:nvSpPr>
          <p:cNvPr id="19" name="Rectangle 18"/>
          <p:cNvSpPr/>
          <p:nvPr/>
        </p:nvSpPr>
        <p:spPr>
          <a:xfrm>
            <a:off x="6213348" y="3611880"/>
            <a:ext cx="2480310" cy="2194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3611880"/>
            <a:ext cx="248031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96228" y="3886200"/>
            <a:ext cx="2114550" cy="457200"/>
          </a:xfrm>
          <a:prstGeom prst="rect">
            <a:avLst/>
          </a:prstGeom>
          <a:noFill/>
        </p:spPr>
        <p:txBody>
          <a:bodyPr wrap="square" anchor="t">
            <a:spAutoFit/>
          </a:bodyPr>
          <a:lstStyle/>
          <a:p>
            <a:pPr algn="l">
              <a:spcAft>
                <a:spcPts val="400"/>
              </a:spcAft>
            </a:pPr>
            <a:r>
              <a:rPr sz="1500" b="1">
                <a:solidFill>
                  <a:srgbClr val="7C3AED"/>
                </a:solidFill>
                <a:latin typeface="Arial"/>
              </a:rPr>
              <a:t>Ceremonies</a:t>
            </a:r>
          </a:p>
        </p:txBody>
      </p:sp>
      <p:sp>
        <p:nvSpPr>
          <p:cNvPr id="22" name="TextBox 21"/>
          <p:cNvSpPr txBox="1"/>
          <p:nvPr/>
        </p:nvSpPr>
        <p:spPr>
          <a:xfrm>
            <a:off x="6396228" y="4389120"/>
            <a:ext cx="2114550" cy="1280160"/>
          </a:xfrm>
          <a:prstGeom prst="rect">
            <a:avLst/>
          </a:prstGeom>
          <a:noFill/>
        </p:spPr>
        <p:txBody>
          <a:bodyPr wrap="square" anchor="t">
            <a:spAutoFit/>
          </a:bodyPr>
          <a:lstStyle/>
          <a:p>
            <a:pPr algn="l">
              <a:spcAft>
                <a:spcPts val="400"/>
              </a:spcAft>
            </a:pPr>
            <a:r>
              <a:rPr sz="1200" b="0">
                <a:solidFill>
                  <a:srgbClr val="5B6372"/>
                </a:solidFill>
                <a:latin typeface="Arial"/>
              </a:rPr>
              <a:t>Sprint planning, burndown tracking and retrospectives.</a:t>
            </a:r>
          </a:p>
        </p:txBody>
      </p:sp>
      <p:sp>
        <p:nvSpPr>
          <p:cNvPr id="23" name="Rectangle 22"/>
          <p:cNvSpPr/>
          <p:nvPr/>
        </p:nvSpPr>
        <p:spPr>
          <a:xfrm>
            <a:off x="8931402" y="3611880"/>
            <a:ext cx="2480310" cy="2194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31402" y="3611880"/>
            <a:ext cx="248031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14282" y="3886200"/>
            <a:ext cx="2114550" cy="457200"/>
          </a:xfrm>
          <a:prstGeom prst="rect">
            <a:avLst/>
          </a:prstGeom>
          <a:noFill/>
        </p:spPr>
        <p:txBody>
          <a:bodyPr wrap="square" anchor="t">
            <a:spAutoFit/>
          </a:bodyPr>
          <a:lstStyle/>
          <a:p>
            <a:pPr algn="l">
              <a:spcAft>
                <a:spcPts val="400"/>
              </a:spcAft>
            </a:pPr>
            <a:r>
              <a:rPr sz="1500" b="1">
                <a:solidFill>
                  <a:srgbClr val="F59E0B"/>
                </a:solidFill>
                <a:latin typeface="Arial"/>
              </a:rPr>
              <a:t>Exports</a:t>
            </a:r>
          </a:p>
        </p:txBody>
      </p:sp>
      <p:sp>
        <p:nvSpPr>
          <p:cNvPr id="26" name="TextBox 25"/>
          <p:cNvSpPr txBox="1"/>
          <p:nvPr/>
        </p:nvSpPr>
        <p:spPr>
          <a:xfrm>
            <a:off x="9114282" y="4389120"/>
            <a:ext cx="2114550" cy="1280160"/>
          </a:xfrm>
          <a:prstGeom prst="rect">
            <a:avLst/>
          </a:prstGeom>
          <a:noFill/>
        </p:spPr>
        <p:txBody>
          <a:bodyPr wrap="square" anchor="t">
            <a:spAutoFit/>
          </a:bodyPr>
          <a:lstStyle/>
          <a:p>
            <a:pPr algn="l">
              <a:spcAft>
                <a:spcPts val="400"/>
              </a:spcAft>
            </a:pPr>
            <a:r>
              <a:rPr sz="1200" b="0">
                <a:solidFill>
                  <a:srgbClr val="5B6372"/>
                </a:solidFill>
                <a:latin typeface="Arial"/>
              </a:rPr>
              <a:t>JSON, CSV (stories + tasks) or a printable HTML report.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ED-TOOL · USED IN ACTIVITY 25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Digital AI Transformation Roadmap Studio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874519"/>
            <a:ext cx="10104120" cy="685800"/>
          </a:xfrm>
          <a:prstGeom prst="rect">
            <a:avLst/>
          </a:prstGeom>
          <a:noFill/>
        </p:spPr>
        <p:txBody>
          <a:bodyPr wrap="square" anchor="ctr">
            <a:spAutoFit/>
          </a:bodyPr>
          <a:lstStyle/>
          <a:p>
            <a:pPr algn="l">
              <a:spcAft>
                <a:spcPts val="400"/>
              </a:spcAft>
            </a:pPr>
            <a:r>
              <a:rPr sz="1700" b="0">
                <a:solidFill>
                  <a:srgbClr val="161B26"/>
                </a:solidFill>
                <a:latin typeface="Arial"/>
              </a:rPr>
              <a:t>Build a transformation roadmap with initiatives, prioritisation, risks and KPIs.</a:t>
            </a:r>
          </a:p>
        </p:txBody>
      </p:sp>
      <p:sp>
        <p:nvSpPr>
          <p:cNvPr id="9" name="Rectangle 8"/>
          <p:cNvSpPr/>
          <p:nvPr/>
        </p:nvSpPr>
        <p:spPr>
          <a:xfrm>
            <a:off x="777240" y="2788920"/>
            <a:ext cx="10634472"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2788920"/>
            <a:ext cx="10104120" cy="566928"/>
          </a:xfrm>
          <a:prstGeom prst="rect">
            <a:avLst/>
          </a:prstGeom>
          <a:noFill/>
        </p:spPr>
        <p:txBody>
          <a:bodyPr wrap="square" anchor="ctr">
            <a:spAutoFit/>
          </a:bodyPr>
          <a:lstStyle/>
          <a:p>
            <a:pPr algn="l">
              <a:spcAft>
                <a:spcPts val="400"/>
              </a:spcAft>
            </a:pPr>
            <a:r>
              <a:rPr sz="1600" b="1">
                <a:solidFill>
                  <a:srgbClr val="FFFFFF"/>
                </a:solidFill>
                <a:latin typeface="Arial"/>
              </a:rPr>
              <a:t>https://alfredang.github.io/digitaltransformation/</a:t>
            </a:r>
          </a:p>
        </p:txBody>
      </p:sp>
      <p:sp>
        <p:nvSpPr>
          <p:cNvPr id="11" name="Rectangle 10"/>
          <p:cNvSpPr/>
          <p:nvPr/>
        </p:nvSpPr>
        <p:spPr>
          <a:xfrm>
            <a:off x="777240" y="3611880"/>
            <a:ext cx="2480310" cy="2194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11880"/>
            <a:ext cx="248031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886200"/>
            <a:ext cx="2114550" cy="457200"/>
          </a:xfrm>
          <a:prstGeom prst="rect">
            <a:avLst/>
          </a:prstGeom>
          <a:noFill/>
        </p:spPr>
        <p:txBody>
          <a:bodyPr wrap="square" anchor="t">
            <a:spAutoFit/>
          </a:bodyPr>
          <a:lstStyle/>
          <a:p>
            <a:pPr algn="l">
              <a:spcAft>
                <a:spcPts val="400"/>
              </a:spcAft>
            </a:pPr>
            <a:r>
              <a:rPr sz="1500" b="1">
                <a:solidFill>
                  <a:srgbClr val="1F6FEB"/>
                </a:solidFill>
                <a:latin typeface="Arial"/>
              </a:rPr>
              <a:t>Seven tabs</a:t>
            </a:r>
          </a:p>
        </p:txBody>
      </p:sp>
      <p:sp>
        <p:nvSpPr>
          <p:cNvPr id="14" name="TextBox 13"/>
          <p:cNvSpPr txBox="1"/>
          <p:nvPr/>
        </p:nvSpPr>
        <p:spPr>
          <a:xfrm>
            <a:off x="960120" y="4389120"/>
            <a:ext cx="2114550" cy="1280160"/>
          </a:xfrm>
          <a:prstGeom prst="rect">
            <a:avLst/>
          </a:prstGeom>
          <a:noFill/>
        </p:spPr>
        <p:txBody>
          <a:bodyPr wrap="square" anchor="t">
            <a:spAutoFit/>
          </a:bodyPr>
          <a:lstStyle/>
          <a:p>
            <a:pPr algn="l">
              <a:spcAft>
                <a:spcPts val="400"/>
              </a:spcAft>
            </a:pPr>
            <a:r>
              <a:rPr sz="1200" b="0">
                <a:solidFill>
                  <a:srgbClr val="5B6372"/>
                </a:solidFill>
                <a:latin typeface="Arial"/>
              </a:rPr>
              <a:t>Overview, Phases &amp; Initiatives, Priority Matrix, Maturity, Timeline, Risks, KPIs.</a:t>
            </a:r>
          </a:p>
        </p:txBody>
      </p:sp>
      <p:sp>
        <p:nvSpPr>
          <p:cNvPr id="15" name="Rectangle 14"/>
          <p:cNvSpPr/>
          <p:nvPr/>
        </p:nvSpPr>
        <p:spPr>
          <a:xfrm>
            <a:off x="3495294" y="3611880"/>
            <a:ext cx="2480310" cy="2194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95294" y="3611880"/>
            <a:ext cx="248031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78174" y="3886200"/>
            <a:ext cx="2114550" cy="457200"/>
          </a:xfrm>
          <a:prstGeom prst="rect">
            <a:avLst/>
          </a:prstGeom>
          <a:noFill/>
        </p:spPr>
        <p:txBody>
          <a:bodyPr wrap="square" anchor="t">
            <a:spAutoFit/>
          </a:bodyPr>
          <a:lstStyle/>
          <a:p>
            <a:pPr algn="l">
              <a:spcAft>
                <a:spcPts val="400"/>
              </a:spcAft>
            </a:pPr>
            <a:r>
              <a:rPr sz="1500" b="1">
                <a:solidFill>
                  <a:srgbClr val="10B981"/>
                </a:solidFill>
                <a:latin typeface="Arial"/>
              </a:rPr>
              <a:t>Impact vs Effort</a:t>
            </a:r>
          </a:p>
        </p:txBody>
      </p:sp>
      <p:sp>
        <p:nvSpPr>
          <p:cNvPr id="18" name="TextBox 17"/>
          <p:cNvSpPr txBox="1"/>
          <p:nvPr/>
        </p:nvSpPr>
        <p:spPr>
          <a:xfrm>
            <a:off x="3678174" y="4389120"/>
            <a:ext cx="2114550" cy="1280160"/>
          </a:xfrm>
          <a:prstGeom prst="rect">
            <a:avLst/>
          </a:prstGeom>
          <a:noFill/>
        </p:spPr>
        <p:txBody>
          <a:bodyPr wrap="square" anchor="t">
            <a:spAutoFit/>
          </a:bodyPr>
          <a:lstStyle/>
          <a:p>
            <a:pPr algn="l">
              <a:spcAft>
                <a:spcPts val="400"/>
              </a:spcAft>
            </a:pPr>
            <a:r>
              <a:rPr sz="1200" b="0">
                <a:solidFill>
                  <a:srgbClr val="5B6372"/>
                </a:solidFill>
                <a:latin typeface="Arial"/>
              </a:rPr>
              <a:t>Quick Wins, Major Projects, Fill-ins and Thankless quadrants.</a:t>
            </a:r>
          </a:p>
        </p:txBody>
      </p:sp>
      <p:sp>
        <p:nvSpPr>
          <p:cNvPr id="19" name="Rectangle 18"/>
          <p:cNvSpPr/>
          <p:nvPr/>
        </p:nvSpPr>
        <p:spPr>
          <a:xfrm>
            <a:off x="6213348" y="3611880"/>
            <a:ext cx="2480310" cy="2194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3348" y="3611880"/>
            <a:ext cx="248031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96228" y="3886200"/>
            <a:ext cx="2114550" cy="457200"/>
          </a:xfrm>
          <a:prstGeom prst="rect">
            <a:avLst/>
          </a:prstGeom>
          <a:noFill/>
        </p:spPr>
        <p:txBody>
          <a:bodyPr wrap="square" anchor="t">
            <a:spAutoFit/>
          </a:bodyPr>
          <a:lstStyle/>
          <a:p>
            <a:pPr algn="l">
              <a:spcAft>
                <a:spcPts val="400"/>
              </a:spcAft>
            </a:pPr>
            <a:r>
              <a:rPr sz="1500" b="1">
                <a:solidFill>
                  <a:srgbClr val="7C3AED"/>
                </a:solidFill>
                <a:latin typeface="Arial"/>
              </a:rPr>
              <a:t>Risk register</a:t>
            </a:r>
          </a:p>
        </p:txBody>
      </p:sp>
      <p:sp>
        <p:nvSpPr>
          <p:cNvPr id="22" name="TextBox 21"/>
          <p:cNvSpPr txBox="1"/>
          <p:nvPr/>
        </p:nvSpPr>
        <p:spPr>
          <a:xfrm>
            <a:off x="6396228" y="4389120"/>
            <a:ext cx="2114550" cy="1280160"/>
          </a:xfrm>
          <a:prstGeom prst="rect">
            <a:avLst/>
          </a:prstGeom>
          <a:noFill/>
        </p:spPr>
        <p:txBody>
          <a:bodyPr wrap="square" anchor="t">
            <a:spAutoFit/>
          </a:bodyPr>
          <a:lstStyle/>
          <a:p>
            <a:pPr algn="l">
              <a:spcAft>
                <a:spcPts val="400"/>
              </a:spcAft>
            </a:pPr>
            <a:r>
              <a:rPr sz="1200" b="0">
                <a:solidFill>
                  <a:srgbClr val="5B6372"/>
                </a:solidFill>
                <a:latin typeface="Arial"/>
              </a:rPr>
              <a:t>Likelihood, impact, computed score, mitigation and owner.</a:t>
            </a:r>
          </a:p>
        </p:txBody>
      </p:sp>
      <p:sp>
        <p:nvSpPr>
          <p:cNvPr id="23" name="Rectangle 22"/>
          <p:cNvSpPr/>
          <p:nvPr/>
        </p:nvSpPr>
        <p:spPr>
          <a:xfrm>
            <a:off x="8931402" y="3611880"/>
            <a:ext cx="2480310" cy="2194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31402" y="3611880"/>
            <a:ext cx="248031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14282" y="3886200"/>
            <a:ext cx="2114550" cy="457200"/>
          </a:xfrm>
          <a:prstGeom prst="rect">
            <a:avLst/>
          </a:prstGeom>
          <a:noFill/>
        </p:spPr>
        <p:txBody>
          <a:bodyPr wrap="square" anchor="t">
            <a:spAutoFit/>
          </a:bodyPr>
          <a:lstStyle/>
          <a:p>
            <a:pPr algn="l">
              <a:spcAft>
                <a:spcPts val="400"/>
              </a:spcAft>
            </a:pPr>
            <a:r>
              <a:rPr sz="1500" b="1">
                <a:solidFill>
                  <a:srgbClr val="F59E0B"/>
                </a:solidFill>
                <a:latin typeface="Arial"/>
              </a:rPr>
              <a:t>KPIs &amp; timeline</a:t>
            </a:r>
          </a:p>
        </p:txBody>
      </p:sp>
      <p:sp>
        <p:nvSpPr>
          <p:cNvPr id="26" name="TextBox 25"/>
          <p:cNvSpPr txBox="1"/>
          <p:nvPr/>
        </p:nvSpPr>
        <p:spPr>
          <a:xfrm>
            <a:off x="9114282" y="4389120"/>
            <a:ext cx="2114550" cy="1280160"/>
          </a:xfrm>
          <a:prstGeom prst="rect">
            <a:avLst/>
          </a:prstGeom>
          <a:noFill/>
        </p:spPr>
        <p:txBody>
          <a:bodyPr wrap="square" anchor="t">
            <a:spAutoFit/>
          </a:bodyPr>
          <a:lstStyle/>
          <a:p>
            <a:pPr algn="l">
              <a:spcAft>
                <a:spcPts val="400"/>
              </a:spcAft>
            </a:pPr>
            <a:r>
              <a:rPr sz="1200" b="0">
                <a:solidFill>
                  <a:srgbClr val="5B6372"/>
                </a:solidFill>
                <a:latin typeface="Arial"/>
              </a:rPr>
              <a:t>Current vs target values on a 12-month timeline.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opic-01-initiation-planning.png"/>
          <p:cNvPicPr>
            <a:picLocks noChangeAspect="1"/>
          </p:cNvPicPr>
          <p:nvPr/>
        </p:nvPicPr>
        <p:blipFill>
          <a:blip r:embed="rId2"/>
          <a:stretch>
            <a:fillRect/>
          </a:stretch>
        </p:blipFill>
        <p:spPr>
          <a:xfrm>
            <a:off x="0" y="0"/>
            <a:ext cx="12191695" cy="6858000"/>
          </a:xfrm>
          <a:prstGeom prst="rect">
            <a:avLst/>
          </a:prstGeom>
        </p:spPr>
      </p:pic>
      <p:sp>
        <p:nvSpPr>
          <p:cNvPr id="4" name="Rectangle 3"/>
          <p:cNvSpPr/>
          <p:nvPr/>
        </p:nvSpPr>
        <p:spPr>
          <a:xfrm>
            <a:off x="0" y="0"/>
            <a:ext cx="530352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309360"/>
            <a:ext cx="12191695"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2331720"/>
            <a:ext cx="4069080" cy="548640"/>
          </a:xfrm>
          <a:prstGeom prst="rect">
            <a:avLst/>
          </a:prstGeom>
          <a:noFill/>
        </p:spPr>
        <p:txBody>
          <a:bodyPr wrap="square" anchor="t">
            <a:spAutoFit/>
          </a:bodyPr>
          <a:lstStyle/>
          <a:p>
            <a:pPr algn="l">
              <a:spcAft>
                <a:spcPts val="400"/>
              </a:spcAft>
            </a:pPr>
            <a:r>
              <a:rPr sz="1800" b="1">
                <a:solidFill>
                  <a:srgbClr val="1F6FEB"/>
                </a:solidFill>
                <a:latin typeface="Arial"/>
              </a:rPr>
              <a:t>TOPIC 01</a:t>
            </a:r>
          </a:p>
        </p:txBody>
      </p:sp>
      <p:sp>
        <p:nvSpPr>
          <p:cNvPr id="9" name="TextBox 8"/>
          <p:cNvSpPr txBox="1"/>
          <p:nvPr/>
        </p:nvSpPr>
        <p:spPr>
          <a:xfrm>
            <a:off x="1143000" y="2743200"/>
            <a:ext cx="4069080" cy="1463040"/>
          </a:xfrm>
          <a:prstGeom prst="rect">
            <a:avLst/>
          </a:prstGeom>
          <a:noFill/>
        </p:spPr>
        <p:txBody>
          <a:bodyPr wrap="square" anchor="t">
            <a:spAutoFit/>
          </a:bodyPr>
          <a:lstStyle/>
          <a:p>
            <a:pPr algn="l">
              <a:spcAft>
                <a:spcPts val="400"/>
              </a:spcAft>
            </a:pPr>
            <a:r>
              <a:rPr sz="3400" b="1">
                <a:solidFill>
                  <a:srgbClr val="161B26"/>
                </a:solidFill>
                <a:latin typeface="Arial"/>
              </a:rPr>
              <a:t>Project Initiation and Planning with GenAI</a:t>
            </a:r>
          </a:p>
        </p:txBody>
      </p:sp>
      <p:sp>
        <p:nvSpPr>
          <p:cNvPr id="10" name="TextBox 9"/>
          <p:cNvSpPr txBox="1"/>
          <p:nvPr/>
        </p:nvSpPr>
        <p:spPr>
          <a:xfrm>
            <a:off x="1161288" y="4343400"/>
            <a:ext cx="4114800" cy="822960"/>
          </a:xfrm>
          <a:prstGeom prst="rect">
            <a:avLst/>
          </a:prstGeom>
          <a:noFill/>
        </p:spPr>
        <p:txBody>
          <a:bodyPr wrap="square" anchor="t">
            <a:spAutoFit/>
          </a:bodyPr>
          <a:lstStyle/>
          <a:p>
            <a:pPr algn="l">
              <a:spcAft>
                <a:spcPts val="400"/>
              </a:spcAft>
            </a:pPr>
            <a:r>
              <a:rPr sz="1400" b="0">
                <a:solidFill>
                  <a:srgbClr val="5B6372"/>
                </a:solidFill>
                <a:latin typeface="Arial"/>
              </a:rPr>
              <a:t>Charter · business case · stakeholders · scope · WBS · schedule · cost</a:t>
            </a:r>
          </a:p>
        </p:txBody>
      </p:sp>
      <p:sp>
        <p:nvSpPr>
          <p:cNvPr id="11" name="TextBox 10"/>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K2, A1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Topic 01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2811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1991106"/>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199110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763524"/>
          </a:xfrm>
          <a:prstGeom prst="rect">
            <a:avLst/>
          </a:prstGeom>
          <a:noFill/>
        </p:spPr>
        <p:txBody>
          <a:bodyPr wrap="square" anchor="ctr">
            <a:spAutoFit/>
          </a:bodyPr>
          <a:lstStyle/>
          <a:p>
            <a:pPr algn="l">
              <a:spcAft>
                <a:spcPts val="300"/>
              </a:spcAft>
            </a:pPr>
            <a:r>
              <a:rPr sz="1400" b="1">
                <a:solidFill>
                  <a:srgbClr val="161B26"/>
                </a:solidFill>
                <a:latin typeface="Arial"/>
              </a:rPr>
              <a:t>What a project is</a:t>
            </a:r>
          </a:p>
          <a:p>
            <a:pPr algn="l">
              <a:spcAft>
                <a:spcPts val="300"/>
              </a:spcAft>
            </a:pPr>
            <a:r>
              <a:rPr sz="1000" b="0">
                <a:solidFill>
                  <a:srgbClr val="5B6372"/>
                </a:solidFill>
                <a:latin typeface="Arial"/>
              </a:rPr>
              <a:t>A unique product, service or result; time-limited; drives change and enables value creation.</a:t>
            </a:r>
          </a:p>
        </p:txBody>
      </p:sp>
      <p:sp>
        <p:nvSpPr>
          <p:cNvPr id="12" name="Rectangle 11"/>
          <p:cNvSpPr/>
          <p:nvPr/>
        </p:nvSpPr>
        <p:spPr>
          <a:xfrm>
            <a:off x="6231636" y="1783080"/>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281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199110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199110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763524"/>
          </a:xfrm>
          <a:prstGeom prst="rect">
            <a:avLst/>
          </a:prstGeom>
          <a:noFill/>
        </p:spPr>
        <p:txBody>
          <a:bodyPr wrap="square" anchor="ctr">
            <a:spAutoFit/>
          </a:bodyPr>
          <a:lstStyle/>
          <a:p>
            <a:pPr algn="l">
              <a:spcAft>
                <a:spcPts val="300"/>
              </a:spcAft>
            </a:pPr>
            <a:r>
              <a:rPr sz="1400" b="1">
                <a:solidFill>
                  <a:srgbClr val="161B26"/>
                </a:solidFill>
                <a:latin typeface="Arial"/>
              </a:rPr>
              <a:t>GenAI as your planning co-pilot</a:t>
            </a:r>
          </a:p>
          <a:p>
            <a:pPr algn="l">
              <a:spcAft>
                <a:spcPts val="300"/>
              </a:spcAft>
            </a:pPr>
            <a:r>
              <a:rPr sz="1000" b="0">
                <a:solidFill>
                  <a:srgbClr val="5B6372"/>
                </a:solidFill>
                <a:latin typeface="Arial"/>
              </a:rPr>
              <a:t>ChatGPT, Claude, Gemini and Copilot draft charters, WBS, schedules and estimates in minutes — you stay accountable for the judgement.</a:t>
            </a:r>
          </a:p>
        </p:txBody>
      </p:sp>
      <p:sp>
        <p:nvSpPr>
          <p:cNvPr id="17" name="Rectangle 16"/>
          <p:cNvSpPr/>
          <p:nvPr/>
        </p:nvSpPr>
        <p:spPr>
          <a:xfrm>
            <a:off x="777240" y="2930652"/>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0652"/>
            <a:ext cx="91440" cy="9281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138678"/>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13867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040380"/>
            <a:ext cx="4027932" cy="763524"/>
          </a:xfrm>
          <a:prstGeom prst="rect">
            <a:avLst/>
          </a:prstGeom>
          <a:noFill/>
        </p:spPr>
        <p:txBody>
          <a:bodyPr wrap="square" anchor="ctr">
            <a:spAutoFit/>
          </a:bodyPr>
          <a:lstStyle/>
          <a:p>
            <a:pPr algn="l">
              <a:spcAft>
                <a:spcPts val="300"/>
              </a:spcAft>
            </a:pPr>
            <a:r>
              <a:rPr sz="1400" b="1">
                <a:solidFill>
                  <a:srgbClr val="161B26"/>
                </a:solidFill>
                <a:latin typeface="Arial"/>
              </a:rPr>
              <a:t>Ten prompting patterns</a:t>
            </a:r>
          </a:p>
          <a:p>
            <a:pPr algn="l">
              <a:spcAft>
                <a:spcPts val="300"/>
              </a:spcAft>
            </a:pPr>
            <a:r>
              <a:rPr sz="1000" b="0">
                <a:solidFill>
                  <a:srgbClr val="5B6372"/>
                </a:solidFill>
                <a:latin typeface="Arial"/>
              </a:rPr>
              <a:t>Persona, Question Refinement, Flipped Interaction, Alternative Approaches, Cognitive Verifier, Fact Check List, Visualisation Generator, Reflection and the risk/decision templates.</a:t>
            </a:r>
          </a:p>
        </p:txBody>
      </p:sp>
      <p:sp>
        <p:nvSpPr>
          <p:cNvPr id="22" name="Rectangle 21"/>
          <p:cNvSpPr/>
          <p:nvPr/>
        </p:nvSpPr>
        <p:spPr>
          <a:xfrm>
            <a:off x="6231636" y="2930652"/>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0652"/>
            <a:ext cx="91440" cy="92811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138678"/>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13867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040380"/>
            <a:ext cx="4027932" cy="763524"/>
          </a:xfrm>
          <a:prstGeom prst="rect">
            <a:avLst/>
          </a:prstGeom>
          <a:noFill/>
        </p:spPr>
        <p:txBody>
          <a:bodyPr wrap="square" anchor="ctr">
            <a:spAutoFit/>
          </a:bodyPr>
          <a:lstStyle/>
          <a:p>
            <a:pPr algn="l">
              <a:spcAft>
                <a:spcPts val="300"/>
              </a:spcAft>
            </a:pPr>
            <a:r>
              <a:rPr sz="1400" b="1">
                <a:solidFill>
                  <a:srgbClr val="161B26"/>
                </a:solidFill>
                <a:latin typeface="Arial"/>
              </a:rPr>
              <a:t>Project Charter</a:t>
            </a:r>
          </a:p>
          <a:p>
            <a:pPr algn="l">
              <a:spcAft>
                <a:spcPts val="300"/>
              </a:spcAft>
            </a:pPr>
            <a:r>
              <a:rPr sz="1000" b="0">
                <a:solidFill>
                  <a:srgbClr val="5B6372"/>
                </a:solidFill>
                <a:latin typeface="Arial"/>
              </a:rPr>
              <a:t>Authorises the project, names the sponsor and PM, and fixes objectives, budget and success criteria.</a:t>
            </a:r>
          </a:p>
        </p:txBody>
      </p:sp>
      <p:sp>
        <p:nvSpPr>
          <p:cNvPr id="27" name="Rectangle 26"/>
          <p:cNvSpPr/>
          <p:nvPr/>
        </p:nvSpPr>
        <p:spPr>
          <a:xfrm>
            <a:off x="777240" y="4078224"/>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78224"/>
            <a:ext cx="91440" cy="92811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428625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428625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187952"/>
            <a:ext cx="4027932" cy="763524"/>
          </a:xfrm>
          <a:prstGeom prst="rect">
            <a:avLst/>
          </a:prstGeom>
          <a:noFill/>
        </p:spPr>
        <p:txBody>
          <a:bodyPr wrap="square" anchor="ctr">
            <a:spAutoFit/>
          </a:bodyPr>
          <a:lstStyle/>
          <a:p>
            <a:pPr algn="l">
              <a:spcAft>
                <a:spcPts val="300"/>
              </a:spcAft>
            </a:pPr>
            <a:r>
              <a:rPr sz="1400" b="1">
                <a:solidFill>
                  <a:srgbClr val="161B26"/>
                </a:solidFill>
                <a:latin typeface="Arial"/>
              </a:rPr>
              <a:t>Business case &amp; value</a:t>
            </a:r>
          </a:p>
          <a:p>
            <a:pPr algn="l">
              <a:spcAft>
                <a:spcPts val="300"/>
              </a:spcAft>
            </a:pPr>
            <a:r>
              <a:rPr sz="1000" b="0">
                <a:solidFill>
                  <a:srgbClr val="5B6372"/>
                </a:solidFill>
                <a:latin typeface="Arial"/>
              </a:rPr>
              <a:t>Cost-benefit analysis and a Business Model Canvas prove economic feasibility before work starts.</a:t>
            </a:r>
          </a:p>
        </p:txBody>
      </p:sp>
      <p:sp>
        <p:nvSpPr>
          <p:cNvPr id="32" name="Rectangle 31"/>
          <p:cNvSpPr/>
          <p:nvPr/>
        </p:nvSpPr>
        <p:spPr>
          <a:xfrm>
            <a:off x="6231636" y="4078224"/>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78224"/>
            <a:ext cx="91440" cy="9281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428625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428625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187952"/>
            <a:ext cx="4027932" cy="763524"/>
          </a:xfrm>
          <a:prstGeom prst="rect">
            <a:avLst/>
          </a:prstGeom>
          <a:noFill/>
        </p:spPr>
        <p:txBody>
          <a:bodyPr wrap="square" anchor="ctr">
            <a:spAutoFit/>
          </a:bodyPr>
          <a:lstStyle/>
          <a:p>
            <a:pPr algn="l">
              <a:spcAft>
                <a:spcPts val="300"/>
              </a:spcAft>
            </a:pPr>
            <a:r>
              <a:rPr sz="1400" b="1">
                <a:solidFill>
                  <a:srgbClr val="161B26"/>
                </a:solidFill>
                <a:latin typeface="Arial"/>
              </a:rPr>
              <a:t>Scope &amp; requirements</a:t>
            </a:r>
          </a:p>
          <a:p>
            <a:pPr algn="l">
              <a:spcAft>
                <a:spcPts val="300"/>
              </a:spcAft>
            </a:pPr>
            <a:r>
              <a:rPr sz="1000" b="0">
                <a:solidFill>
                  <a:srgbClr val="5B6372"/>
                </a:solidFill>
                <a:latin typeface="Arial"/>
              </a:rPr>
              <a:t>Collect requirements, build the Requirements Traceability Matrix, write the scope statement, decompose into a WBS.</a:t>
            </a:r>
          </a:p>
        </p:txBody>
      </p:sp>
      <p:sp>
        <p:nvSpPr>
          <p:cNvPr id="37" name="Rectangle 36"/>
          <p:cNvSpPr/>
          <p:nvPr/>
        </p:nvSpPr>
        <p:spPr>
          <a:xfrm>
            <a:off x="777240" y="5225796"/>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25796"/>
            <a:ext cx="91440" cy="9281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14984" y="5433822"/>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14984" y="543382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1" name="TextBox 40"/>
          <p:cNvSpPr txBox="1"/>
          <p:nvPr/>
        </p:nvSpPr>
        <p:spPr>
          <a:xfrm>
            <a:off x="1709928" y="5335524"/>
            <a:ext cx="4027932" cy="763524"/>
          </a:xfrm>
          <a:prstGeom prst="rect">
            <a:avLst/>
          </a:prstGeom>
          <a:noFill/>
        </p:spPr>
        <p:txBody>
          <a:bodyPr wrap="square" anchor="ctr">
            <a:spAutoFit/>
          </a:bodyPr>
          <a:lstStyle/>
          <a:p>
            <a:pPr algn="l">
              <a:spcAft>
                <a:spcPts val="300"/>
              </a:spcAft>
            </a:pPr>
            <a:r>
              <a:rPr sz="1400" b="1">
                <a:solidFill>
                  <a:srgbClr val="161B26"/>
                </a:solidFill>
                <a:latin typeface="Arial"/>
              </a:rPr>
              <a:t>Schedule</a:t>
            </a:r>
          </a:p>
          <a:p>
            <a:pPr algn="l">
              <a:spcAft>
                <a:spcPts val="300"/>
              </a:spcAft>
            </a:pPr>
            <a:r>
              <a:rPr sz="1000" b="0">
                <a:solidFill>
                  <a:srgbClr val="5B6372"/>
                </a:solidFill>
                <a:latin typeface="Arial"/>
              </a:rPr>
              <a:t>Define, sequence and estimate activities; build the network diagram and find the critical path.</a:t>
            </a:r>
          </a:p>
        </p:txBody>
      </p:sp>
      <p:sp>
        <p:nvSpPr>
          <p:cNvPr id="42" name="Rectangle 41"/>
          <p:cNvSpPr/>
          <p:nvPr/>
        </p:nvSpPr>
        <p:spPr>
          <a:xfrm>
            <a:off x="6231636" y="5225796"/>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25796"/>
            <a:ext cx="91440" cy="92811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69380" y="5433822"/>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69380" y="543382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6" name="TextBox 45"/>
          <p:cNvSpPr txBox="1"/>
          <p:nvPr/>
        </p:nvSpPr>
        <p:spPr>
          <a:xfrm>
            <a:off x="7164324" y="5335524"/>
            <a:ext cx="4027932" cy="763524"/>
          </a:xfrm>
          <a:prstGeom prst="rect">
            <a:avLst/>
          </a:prstGeom>
          <a:noFill/>
        </p:spPr>
        <p:txBody>
          <a:bodyPr wrap="square" anchor="ctr">
            <a:spAutoFit/>
          </a:bodyPr>
          <a:lstStyle/>
          <a:p>
            <a:pPr algn="l">
              <a:spcAft>
                <a:spcPts val="300"/>
              </a:spcAft>
            </a:pPr>
            <a:r>
              <a:rPr sz="1400" b="1">
                <a:solidFill>
                  <a:srgbClr val="161B26"/>
                </a:solidFill>
                <a:latin typeface="Arial"/>
              </a:rPr>
              <a:t>Cost</a:t>
            </a:r>
          </a:p>
          <a:p>
            <a:pPr algn="l">
              <a:spcAft>
                <a:spcPts val="300"/>
              </a:spcAft>
            </a:pPr>
            <a:r>
              <a:rPr sz="1000" b="0">
                <a:solidFill>
                  <a:srgbClr val="5B6372"/>
                </a:solidFill>
                <a:latin typeface="Arial"/>
              </a:rPr>
              <a:t>Analogous, parametric, bottom-up and three-point estimating; the cost baseline plus contingency and management reserves.</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GenAI Activities — Topic 01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640080"/>
          </a:xfrm>
          <a:prstGeom prst="rect">
            <a:avLst/>
          </a:prstGeom>
          <a:noFill/>
        </p:spPr>
        <p:txBody>
          <a:bodyPr wrap="square" anchor="t">
            <a:spAutoFit/>
          </a:bodyPr>
          <a:lstStyle/>
          <a:p>
            <a:pPr algn="l">
              <a:spcAft>
                <a:spcPts val="400"/>
              </a:spcAft>
            </a:pPr>
            <a:r>
              <a:rPr sz="1800" b="1">
                <a:solidFill>
                  <a:srgbClr val="1F6FEB"/>
                </a:solidFill>
                <a:latin typeface="Arial"/>
              </a:rPr>
              <a:t>Activities 1–4</a:t>
            </a:r>
          </a:p>
        </p:txBody>
      </p:sp>
      <p:sp>
        <p:nvSpPr>
          <p:cNvPr id="10" name="TextBox 9"/>
          <p:cNvSpPr txBox="1"/>
          <p:nvPr/>
        </p:nvSpPr>
        <p:spPr>
          <a:xfrm>
            <a:off x="1005840" y="2743200"/>
            <a:ext cx="2926080" cy="3063240"/>
          </a:xfrm>
          <a:prstGeom prst="rect">
            <a:avLst/>
          </a:prstGeom>
          <a:noFill/>
        </p:spPr>
        <p:txBody>
          <a:bodyPr wrap="square">
            <a:spAutoFit/>
          </a:bodyPr>
          <a:lstStyle/>
          <a:p>
            <a:pPr>
              <a:spcAft>
                <a:spcPts val="900"/>
              </a:spcAft>
            </a:pPr>
            <a:r>
              <a:rPr sz="1300">
                <a:solidFill>
                  <a:srgbClr val="161B26"/>
                </a:solidFill>
                <a:latin typeface="Arial"/>
              </a:rPr>
              <a:t>•  Prompting Patterns for Project Managers</a:t>
            </a:r>
          </a:p>
          <a:p>
            <a:pPr>
              <a:spcAft>
                <a:spcPts val="900"/>
              </a:spcAft>
            </a:pPr>
            <a:r>
              <a:rPr sz="1300">
                <a:solidFill>
                  <a:srgbClr val="161B26"/>
                </a:solidFill>
                <a:latin typeface="Arial"/>
              </a:rPr>
              <a:t>•  Business Case and Cost-Benefit Analysis with GenAI</a:t>
            </a:r>
          </a:p>
          <a:p>
            <a:pPr>
              <a:spcAft>
                <a:spcPts val="900"/>
              </a:spcAft>
            </a:pPr>
            <a:r>
              <a:rPr sz="1300">
                <a:solidFill>
                  <a:srgbClr val="161B26"/>
                </a:solidFill>
                <a:latin typeface="Arial"/>
              </a:rPr>
              <a:t>•  Develop the Project Charter with GenAI</a:t>
            </a:r>
          </a:p>
          <a:p>
            <a:pPr>
              <a:spcAft>
                <a:spcPts val="900"/>
              </a:spcAft>
            </a:pPr>
            <a:r>
              <a:rPr sz="1300">
                <a:solidFill>
                  <a:srgbClr val="161B26"/>
                </a:solidFill>
                <a:latin typeface="Arial"/>
              </a:rPr>
              <a:t>•  Identify and Map Stakeholders with GenAI</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640080"/>
          </a:xfrm>
          <a:prstGeom prst="rect">
            <a:avLst/>
          </a:prstGeom>
          <a:noFill/>
        </p:spPr>
        <p:txBody>
          <a:bodyPr wrap="square" anchor="t">
            <a:spAutoFit/>
          </a:bodyPr>
          <a:lstStyle/>
          <a:p>
            <a:pPr algn="l">
              <a:spcAft>
                <a:spcPts val="400"/>
              </a:spcAft>
            </a:pPr>
            <a:r>
              <a:rPr sz="1800" b="1">
                <a:solidFill>
                  <a:srgbClr val="10B981"/>
                </a:solidFill>
                <a:latin typeface="Arial"/>
              </a:rPr>
              <a:t>Activities 5–8</a:t>
            </a:r>
          </a:p>
        </p:txBody>
      </p:sp>
      <p:sp>
        <p:nvSpPr>
          <p:cNvPr id="14" name="TextBox 13"/>
          <p:cNvSpPr txBox="1"/>
          <p:nvPr/>
        </p:nvSpPr>
        <p:spPr>
          <a:xfrm>
            <a:off x="4800600" y="2743200"/>
            <a:ext cx="2926080" cy="3063240"/>
          </a:xfrm>
          <a:prstGeom prst="rect">
            <a:avLst/>
          </a:prstGeom>
          <a:noFill/>
        </p:spPr>
        <p:txBody>
          <a:bodyPr wrap="square">
            <a:spAutoFit/>
          </a:bodyPr>
          <a:lstStyle/>
          <a:p>
            <a:pPr>
              <a:spcAft>
                <a:spcPts val="900"/>
              </a:spcAft>
            </a:pPr>
            <a:r>
              <a:rPr sz="1300">
                <a:solidFill>
                  <a:srgbClr val="161B26"/>
                </a:solidFill>
                <a:latin typeface="Arial"/>
              </a:rPr>
              <a:t>•  Assign Responsibilities with the RACI Ed-Tool</a:t>
            </a:r>
          </a:p>
          <a:p>
            <a:pPr>
              <a:spcAft>
                <a:spcPts val="900"/>
              </a:spcAft>
            </a:pPr>
            <a:r>
              <a:rPr sz="1300">
                <a:solidFill>
                  <a:srgbClr val="161B26"/>
                </a:solidFill>
                <a:latin typeface="Arial"/>
              </a:rPr>
              <a:t>•  Collect Requirements with GenAI and Design Thinking</a:t>
            </a:r>
          </a:p>
          <a:p>
            <a:pPr>
              <a:spcAft>
                <a:spcPts val="900"/>
              </a:spcAft>
            </a:pPr>
            <a:r>
              <a:rPr sz="1300">
                <a:solidFill>
                  <a:srgbClr val="161B26"/>
                </a:solidFill>
                <a:latin typeface="Arial"/>
              </a:rPr>
              <a:t>•  Build the Requirements Traceability Matrix with GenAI</a:t>
            </a:r>
          </a:p>
          <a:p>
            <a:pPr>
              <a:spcAft>
                <a:spcPts val="900"/>
              </a:spcAft>
            </a:pPr>
            <a:r>
              <a:rPr sz="1300">
                <a:solidFill>
                  <a:srgbClr val="161B26"/>
                </a:solidFill>
                <a:latin typeface="Arial"/>
              </a:rPr>
              <a:t>•  Decompose Scope into a WBS and WBS Dictionary with GenAI</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640080"/>
          </a:xfrm>
          <a:prstGeom prst="rect">
            <a:avLst/>
          </a:prstGeom>
          <a:noFill/>
        </p:spPr>
        <p:txBody>
          <a:bodyPr wrap="square" anchor="t">
            <a:spAutoFit/>
          </a:bodyPr>
          <a:lstStyle/>
          <a:p>
            <a:pPr algn="l">
              <a:spcAft>
                <a:spcPts val="400"/>
              </a:spcAft>
            </a:pPr>
            <a:r>
              <a:rPr sz="1800" b="1">
                <a:solidFill>
                  <a:srgbClr val="7C3AED"/>
                </a:solidFill>
                <a:latin typeface="Arial"/>
              </a:rPr>
              <a:t>Activities 9–10</a:t>
            </a:r>
          </a:p>
        </p:txBody>
      </p:sp>
      <p:sp>
        <p:nvSpPr>
          <p:cNvPr id="18" name="TextBox 17"/>
          <p:cNvSpPr txBox="1"/>
          <p:nvPr/>
        </p:nvSpPr>
        <p:spPr>
          <a:xfrm>
            <a:off x="8595360" y="2743200"/>
            <a:ext cx="2926080" cy="3063240"/>
          </a:xfrm>
          <a:prstGeom prst="rect">
            <a:avLst/>
          </a:prstGeom>
          <a:noFill/>
        </p:spPr>
        <p:txBody>
          <a:bodyPr wrap="square">
            <a:spAutoFit/>
          </a:bodyPr>
          <a:lstStyle/>
          <a:p>
            <a:pPr>
              <a:spcAft>
                <a:spcPts val="900"/>
              </a:spcAft>
            </a:pPr>
            <a:r>
              <a:rPr sz="1300">
                <a:solidFill>
                  <a:srgbClr val="161B26"/>
                </a:solidFill>
                <a:latin typeface="Arial"/>
              </a:rPr>
              <a:t>•  Build the Schedule and Find the Critical Path with GenAI</a:t>
            </a:r>
          </a:p>
          <a:p>
            <a:pPr>
              <a:spcAft>
                <a:spcPts val="900"/>
              </a:spcAft>
            </a:pPr>
            <a:r>
              <a:rPr sz="1300">
                <a:solidFill>
                  <a:srgbClr val="161B26"/>
                </a:solidFill>
                <a:latin typeface="Arial"/>
              </a:rPr>
              <a:t>•  Estimate Costs and Build the Budget with GenAI</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9509760" cy="548640"/>
          </a:xfrm>
          <a:prstGeom prst="rect">
            <a:avLst/>
          </a:prstGeom>
          <a:noFill/>
        </p:spPr>
        <p:txBody>
          <a:bodyPr wrap="square" anchor="t">
            <a:spAutoFit/>
          </a:bodyPr>
          <a:lstStyle/>
          <a:p>
            <a:pPr algn="l">
              <a:spcAft>
                <a:spcPts val="400"/>
              </a:spcAft>
            </a:pPr>
            <a:r>
              <a:rPr sz="1800" b="1">
                <a:solidFill>
                  <a:srgbClr val="1F6FEB"/>
                </a:solidFill>
                <a:latin typeface="Arial"/>
              </a:rPr>
              <a:t>INITIATION</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3800" b="1">
                <a:solidFill>
                  <a:srgbClr val="161B26"/>
                </a:solidFill>
                <a:latin typeface="Arial"/>
              </a:rPr>
              <a:t>Develop the Project Charter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HOW IT FITS TOGETHER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Project Integration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Business case first</a:t>
            </a:r>
          </a:p>
          <a:p>
            <a:pPr algn="l">
              <a:spcAft>
                <a:spcPts val="300"/>
              </a:spcAft>
            </a:pPr>
            <a:r>
              <a:rPr sz="1200" b="0">
                <a:solidFill>
                  <a:srgbClr val="5B6372"/>
                </a:solidFill>
                <a:latin typeface="Arial"/>
              </a:rPr>
              <a:t>A well-researched business case proves the project is worth doing.</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Then the charter</a:t>
            </a:r>
          </a:p>
          <a:p>
            <a:pPr algn="l">
              <a:spcAft>
                <a:spcPts val="300"/>
              </a:spcAft>
            </a:pPr>
            <a:r>
              <a:rPr sz="1200" b="0">
                <a:solidFill>
                  <a:srgbClr val="5B6372"/>
                </a:solidFill>
                <a:latin typeface="Arial"/>
              </a:rPr>
              <a:t>An approved Project Charter formally authorises the project.</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Then the plan</a:t>
            </a:r>
          </a:p>
          <a:p>
            <a:pPr algn="l">
              <a:spcAft>
                <a:spcPts val="300"/>
              </a:spcAft>
            </a:pPr>
            <a:r>
              <a:rPr sz="1200" b="0">
                <a:solidFill>
                  <a:srgbClr val="5B6372"/>
                </a:solidFill>
                <a:latin typeface="Arial"/>
              </a:rPr>
              <a:t>A well-planned Project Management Plan integrates scope, schedule, cost and quality.</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Key benefit</a:t>
            </a:r>
          </a:p>
          <a:p>
            <a:pPr algn="l">
              <a:spcAft>
                <a:spcPts val="300"/>
              </a:spcAft>
            </a:pPr>
            <a:r>
              <a:rPr sz="1200" b="0">
                <a:solidFill>
                  <a:srgbClr val="5B6372"/>
                </a:solidFill>
                <a:latin typeface="Arial"/>
              </a:rPr>
              <a:t>Deliver business value aligned with the organisation's strategic objectives.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SIX SOURCES OF VALUE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Business Value — Why Projects Are Approved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Financial gain</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New customers</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Social benefit</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First to market</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Improvement — technological or process</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Regularisation — compliance with standards and regulations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PROVING IT'S WORTH DOING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Business Case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a:solidFill>
                  <a:srgbClr val="161B26"/>
                </a:solidFill>
                <a:latin typeface="Arial"/>
              </a:rPr>
              <a:t>•  A documented economic feasibility study that establishes the benefits of the project work.</a:t>
            </a:r>
          </a:p>
          <a:p>
            <a:pPr>
              <a:spcAft>
                <a:spcPts val="1000"/>
              </a:spcAft>
            </a:pPr>
            <a:r>
              <a:rPr sz="1700">
                <a:solidFill>
                  <a:srgbClr val="161B26"/>
                </a:solidFill>
                <a:latin typeface="Arial"/>
              </a:rPr>
              <a:t>•  It provides the basis for authorisation of further project activities.</a:t>
            </a:r>
          </a:p>
          <a:p>
            <a:pPr>
              <a:spcAft>
                <a:spcPts val="1000"/>
              </a:spcAft>
            </a:pPr>
            <a:r>
              <a:rPr sz="1700">
                <a:solidFill>
                  <a:srgbClr val="161B26"/>
                </a:solidFill>
                <a:latin typeface="Arial"/>
              </a:rPr>
              <a:t>•  Cost-benefit analysis quantifies the costs against the expected benefits over time.</a:t>
            </a:r>
          </a:p>
          <a:p>
            <a:pPr>
              <a:spcAft>
                <a:spcPts val="1000"/>
              </a:spcAft>
            </a:pPr>
            <a:r>
              <a:rPr sz="1700">
                <a:solidFill>
                  <a:srgbClr val="161B26"/>
                </a:solidFill>
                <a:latin typeface="Arial"/>
              </a:rPr>
              <a:t>•  The Business Model Canvas tests whether the value proposition and the economics hold together.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ACTIVITY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Business Case and Cost-Benefit Analysis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2</a:t>
            </a:r>
          </a:p>
        </p:txBody>
      </p:sp>
      <p:sp>
        <p:nvSpPr>
          <p:cNvPr id="9" name="TextBox 8"/>
          <p:cNvSpPr txBox="1"/>
          <p:nvPr/>
        </p:nvSpPr>
        <p:spPr>
          <a:xfrm>
            <a:off x="777240" y="2331720"/>
            <a:ext cx="10698480" cy="1554480"/>
          </a:xfrm>
          <a:prstGeom prst="rect">
            <a:avLst/>
          </a:prstGeom>
          <a:noFill/>
        </p:spPr>
        <p:txBody>
          <a:bodyPr wrap="square" anchor="t">
            <a:spAutoFit/>
          </a:bodyPr>
          <a:lstStyle/>
          <a:p>
            <a:pPr algn="l">
              <a:spcAft>
                <a:spcPts val="400"/>
              </a:spcAft>
            </a:pPr>
            <a:r>
              <a:rPr sz="1900" b="0">
                <a:solidFill>
                  <a:srgbClr val="161B26"/>
                </a:solidFill>
                <a:latin typeface="Arial"/>
              </a:rPr>
              <a:t>Before a project is authorised somebody has to prove it is worth doing. You will use GenAI to draft a cost-benefit analysis and a one-page business case, then validate the business model behind it on the Business Model Canvas Studio.</a:t>
            </a:r>
          </a:p>
        </p:txBody>
      </p:sp>
      <p:sp>
        <p:nvSpPr>
          <p:cNvPr id="10" name="Rectangle 9"/>
          <p:cNvSpPr/>
          <p:nvPr/>
        </p:nvSpPr>
        <p:spPr>
          <a:xfrm>
            <a:off x="777240" y="3977639"/>
            <a:ext cx="10634472" cy="17830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60520"/>
            <a:ext cx="10058400" cy="365760"/>
          </a:xfrm>
          <a:prstGeom prst="rect">
            <a:avLst/>
          </a:prstGeom>
          <a:noFill/>
        </p:spPr>
        <p:txBody>
          <a:bodyPr wrap="square" anchor="t">
            <a:spAutoFit/>
          </a:bodyPr>
          <a:lstStyle/>
          <a:p>
            <a:pPr algn="l">
              <a:spcAft>
                <a:spcPts val="400"/>
              </a:spcAft>
            </a:pPr>
            <a:r>
              <a:rPr sz="1300" b="1">
                <a:solidFill>
                  <a:srgbClr val="127A3E"/>
                </a:solidFill>
                <a:latin typeface="Arial"/>
              </a:rPr>
              <a:t>You'll produce</a:t>
            </a:r>
          </a:p>
        </p:txBody>
      </p:sp>
      <p:sp>
        <p:nvSpPr>
          <p:cNvPr id="12" name="TextBox 11"/>
          <p:cNvSpPr txBox="1"/>
          <p:nvPr/>
        </p:nvSpPr>
        <p:spPr>
          <a:xfrm>
            <a:off x="1005840" y="4498848"/>
            <a:ext cx="10149840" cy="685800"/>
          </a:xfrm>
          <a:prstGeom prst="rect">
            <a:avLst/>
          </a:prstGeom>
          <a:noFill/>
        </p:spPr>
        <p:txBody>
          <a:bodyPr wrap="square" anchor="t">
            <a:spAutoFit/>
          </a:bodyPr>
          <a:lstStyle/>
          <a:p>
            <a:pPr algn="l">
              <a:spcAft>
                <a:spcPts val="400"/>
              </a:spcAft>
            </a:pPr>
            <a:r>
              <a:rPr sz="1700" b="1">
                <a:solidFill>
                  <a:srgbClr val="161B26"/>
                </a:solidFill>
                <a:latin typeface="Arial"/>
              </a:rPr>
              <a:t>A completed cost-benefit analysis, a one-page business case, and a validated 9-block Business Model Canvas.</a:t>
            </a:r>
          </a:p>
        </p:txBody>
      </p:sp>
      <p:sp>
        <p:nvSpPr>
          <p:cNvPr id="13" name="TextBox 12"/>
          <p:cNvSpPr txBox="1"/>
          <p:nvPr/>
        </p:nvSpPr>
        <p:spPr>
          <a:xfrm>
            <a:off x="1005840" y="5257800"/>
            <a:ext cx="10241280" cy="4572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GenAI tool · Business Model Canvas Studio (alfredang.github.io/bcm) · Cost Benefit Analysis.xlsx · Business Case on a Page.docx</a:t>
            </a:r>
          </a:p>
        </p:txBody>
      </p:sp>
      <p:sp>
        <p:nvSpPr>
          <p:cNvPr id="14" name="TextBox 13"/>
          <p:cNvSpPr txBox="1"/>
          <p:nvPr/>
        </p:nvSpPr>
        <p:spPr>
          <a:xfrm>
            <a:off x="777240" y="5897880"/>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Step-by-step instructions: see your Learner Guide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01 · ACTIVITY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Business Case and Cost-Benefit Analysis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2</a:t>
            </a:r>
          </a:p>
        </p:txBody>
      </p:sp>
      <p:sp>
        <p:nvSpPr>
          <p:cNvPr id="9" name="TextBox 8"/>
          <p:cNvSpPr txBox="1"/>
          <p:nvPr/>
        </p:nvSpPr>
        <p:spPr>
          <a:xfrm>
            <a:off x="777240" y="2286000"/>
            <a:ext cx="10607040" cy="365760"/>
          </a:xfrm>
          <a:prstGeom prst="rect">
            <a:avLst/>
          </a:prstGeom>
          <a:noFill/>
        </p:spPr>
        <p:txBody>
          <a:bodyPr wrap="square" anchor="t">
            <a:spAutoFit/>
          </a:bodyPr>
          <a:lstStyle/>
          <a:p>
            <a:pPr algn="l">
              <a:spcAft>
                <a:spcPts val="400"/>
              </a:spcAft>
            </a:pPr>
            <a:r>
              <a:rPr sz="1200" b="1">
                <a:solidFill>
                  <a:srgbClr val="7C3AED"/>
                </a:solidFill>
                <a:latin typeface="Arial"/>
              </a:rPr>
              <a:t>PROMPT GenAI WITH</a:t>
            </a:r>
          </a:p>
        </p:txBody>
      </p:sp>
      <p:sp>
        <p:nvSpPr>
          <p:cNvPr id="10" name="Rectangle 9"/>
          <p:cNvSpPr/>
          <p:nvPr/>
        </p:nvSpPr>
        <p:spPr>
          <a:xfrm>
            <a:off x="777240" y="2651760"/>
            <a:ext cx="10634472" cy="19659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88920"/>
            <a:ext cx="10104120" cy="1691640"/>
          </a:xfrm>
          <a:prstGeom prst="rect">
            <a:avLst/>
          </a:prstGeom>
          <a:noFill/>
        </p:spPr>
        <p:txBody>
          <a:bodyPr wrap="square" anchor="ctr">
            <a:spAutoFit/>
          </a:bodyPr>
          <a:lstStyle/>
          <a:p>
            <a:pPr algn="l">
              <a:spcAft>
                <a:spcPts val="400"/>
              </a:spcAft>
            </a:pPr>
            <a:r>
              <a:rPr sz="1600" b="0">
                <a:solidFill>
                  <a:srgbClr val="D6E4FF"/>
                </a:solidFill>
                <a:latin typeface="Arial"/>
              </a:rPr>
              <a:t>List the one-off and recurring costs, and the quantified annual benefits, of [your project] over 3 years. Present the result as a table with a column explaining how each figure will be verified.</a:t>
            </a:r>
          </a:p>
        </p:txBody>
      </p:sp>
      <p:sp>
        <p:nvSpPr>
          <p:cNvPr id="12" name="Rectangle 11"/>
          <p:cNvSpPr/>
          <p:nvPr/>
        </p:nvSpPr>
        <p:spPr>
          <a:xfrm>
            <a:off x="777240" y="4800600"/>
            <a:ext cx="10634472" cy="1051560"/>
          </a:xfrm>
          <a:prstGeom prst="rect">
            <a:avLst/>
          </a:prstGeom>
          <a:solidFill>
            <a:srgbClr val="FFF4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4919472"/>
            <a:ext cx="10149840" cy="320040"/>
          </a:xfrm>
          <a:prstGeom prst="rect">
            <a:avLst/>
          </a:prstGeom>
          <a:noFill/>
        </p:spPr>
        <p:txBody>
          <a:bodyPr wrap="square" anchor="t">
            <a:spAutoFit/>
          </a:bodyPr>
          <a:lstStyle/>
          <a:p>
            <a:pPr algn="l">
              <a:spcAft>
                <a:spcPts val="400"/>
              </a:spcAft>
            </a:pPr>
            <a:r>
              <a:rPr sz="1200" b="1">
                <a:solidFill>
                  <a:srgbClr val="F59E0B"/>
                </a:solidFill>
                <a:latin typeface="Arial"/>
              </a:rPr>
              <a:t>⚠  THEN CHECK IT</a:t>
            </a:r>
          </a:p>
        </p:txBody>
      </p:sp>
      <p:sp>
        <p:nvSpPr>
          <p:cNvPr id="14" name="TextBox 13"/>
          <p:cNvSpPr txBox="1"/>
          <p:nvPr/>
        </p:nvSpPr>
        <p:spPr>
          <a:xfrm>
            <a:off x="1051560" y="5230368"/>
            <a:ext cx="10149840" cy="548640"/>
          </a:xfrm>
          <a:prstGeom prst="rect">
            <a:avLst/>
          </a:prstGeom>
          <a:noFill/>
        </p:spPr>
        <p:txBody>
          <a:bodyPr wrap="square" anchor="t">
            <a:spAutoFit/>
          </a:bodyPr>
          <a:lstStyle/>
          <a:p>
            <a:pPr algn="l">
              <a:spcAft>
                <a:spcPts val="400"/>
              </a:spcAft>
            </a:pPr>
            <a:r>
              <a:rPr sz="1400" b="0">
                <a:solidFill>
                  <a:srgbClr val="161B26"/>
                </a:solidFill>
                <a:latin typeface="Arial"/>
              </a:rPr>
              <a:t>GenAI gives you a fast first draft. Check every figure, source and assumption before you use it.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CHECK YOUR 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Business Case and Cost-Benefit Analysis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34472"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9" name="TextBox 8"/>
          <p:cNvSpPr txBox="1"/>
          <p:nvPr/>
        </p:nvSpPr>
        <p:spPr>
          <a:xfrm>
            <a:off x="1097280" y="3017520"/>
            <a:ext cx="9966960" cy="1280160"/>
          </a:xfrm>
          <a:prstGeom prst="rect">
            <a:avLst/>
          </a:prstGeom>
          <a:noFill/>
        </p:spPr>
        <p:txBody>
          <a:bodyPr wrap="square" anchor="t">
            <a:spAutoFit/>
          </a:bodyPr>
          <a:lstStyle/>
          <a:p>
            <a:pPr algn="l">
              <a:spcAft>
                <a:spcPts val="400"/>
              </a:spcAft>
            </a:pPr>
            <a:r>
              <a:rPr sz="1700" b="0">
                <a:solidFill>
                  <a:srgbClr val="161B26"/>
                </a:solidFill>
                <a:latin typeface="Arial"/>
              </a:rPr>
              <a:t>Your canvas has all nine blocks populated, every note carries a Draft/Validate/Confirmed status, and your business case states a payback period you can defend with your own figures.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IT DOES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Project Charter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146048"/>
          </a:xfrm>
          <a:prstGeom prst="rect">
            <a:avLst/>
          </a:prstGeom>
          <a:noFill/>
        </p:spPr>
        <p:txBody>
          <a:bodyPr wrap="square" anchor="ctr">
            <a:spAutoFit/>
          </a:bodyPr>
          <a:lstStyle/>
          <a:p>
            <a:pPr algn="l">
              <a:spcAft>
                <a:spcPts val="300"/>
              </a:spcAft>
            </a:pPr>
            <a:r>
              <a:rPr sz="1500" b="1">
                <a:solidFill>
                  <a:srgbClr val="161B26"/>
                </a:solidFill>
                <a:latin typeface="Arial"/>
              </a:rPr>
              <a:t>Authorises the project</a:t>
            </a:r>
          </a:p>
          <a:p>
            <a:pPr algn="l">
              <a:spcAft>
                <a:spcPts val="300"/>
              </a:spcAft>
            </a:pPr>
            <a:r>
              <a:rPr sz="1100" b="0">
                <a:solidFill>
                  <a:srgbClr val="5B6372"/>
                </a:solidFill>
                <a:latin typeface="Arial"/>
              </a:rPr>
              <a:t>It is what allows the project to formally begin.</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146048"/>
          </a:xfrm>
          <a:prstGeom prst="rect">
            <a:avLst/>
          </a:prstGeom>
          <a:noFill/>
        </p:spPr>
        <p:txBody>
          <a:bodyPr wrap="square" anchor="ctr">
            <a:spAutoFit/>
          </a:bodyPr>
          <a:lstStyle/>
          <a:p>
            <a:pPr algn="l">
              <a:spcAft>
                <a:spcPts val="300"/>
              </a:spcAft>
            </a:pPr>
            <a:r>
              <a:rPr sz="1500" b="1">
                <a:solidFill>
                  <a:srgbClr val="161B26"/>
                </a:solidFill>
                <a:latin typeface="Arial"/>
              </a:rPr>
              <a:t>Empowers the PM</a:t>
            </a:r>
          </a:p>
          <a:p>
            <a:pPr algn="l">
              <a:spcAft>
                <a:spcPts val="300"/>
              </a:spcAft>
            </a:pPr>
            <a:r>
              <a:rPr sz="1100" b="0">
                <a:solidFill>
                  <a:srgbClr val="5B6372"/>
                </a:solidFill>
                <a:latin typeface="Arial"/>
              </a:rPr>
              <a:t>It gives the project manager the right to apply organisational resources.</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22904"/>
            <a:ext cx="4027932" cy="1146048"/>
          </a:xfrm>
          <a:prstGeom prst="rect">
            <a:avLst/>
          </a:prstGeom>
          <a:noFill/>
        </p:spPr>
        <p:txBody>
          <a:bodyPr wrap="square" anchor="ctr">
            <a:spAutoFit/>
          </a:bodyPr>
          <a:lstStyle/>
          <a:p>
            <a:pPr algn="l">
              <a:spcAft>
                <a:spcPts val="300"/>
              </a:spcAft>
            </a:pPr>
            <a:r>
              <a:rPr sz="1500" b="1">
                <a:solidFill>
                  <a:srgbClr val="161B26"/>
                </a:solidFill>
                <a:latin typeface="Arial"/>
              </a:rPr>
              <a:t>Defines the rationale</a:t>
            </a:r>
          </a:p>
          <a:p>
            <a:pPr algn="l">
              <a:spcAft>
                <a:spcPts val="300"/>
              </a:spcAft>
            </a:pPr>
            <a:r>
              <a:rPr sz="1100" b="0">
                <a:solidFill>
                  <a:srgbClr val="5B6372"/>
                </a:solidFill>
                <a:latin typeface="Arial"/>
              </a:rPr>
              <a:t>It states the business need the project answers.</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22904"/>
            <a:ext cx="4027932" cy="1146048"/>
          </a:xfrm>
          <a:prstGeom prst="rect">
            <a:avLst/>
          </a:prstGeom>
          <a:noFill/>
        </p:spPr>
        <p:txBody>
          <a:bodyPr wrap="square" anchor="ctr">
            <a:spAutoFit/>
          </a:bodyPr>
          <a:lstStyle/>
          <a:p>
            <a:pPr algn="l">
              <a:spcAft>
                <a:spcPts val="300"/>
              </a:spcAft>
            </a:pPr>
            <a:r>
              <a:rPr sz="1500" b="1">
                <a:solidFill>
                  <a:srgbClr val="161B26"/>
                </a:solidFill>
                <a:latin typeface="Arial"/>
              </a:rPr>
              <a:t>Verifies alignment</a:t>
            </a:r>
          </a:p>
          <a:p>
            <a:pPr algn="l">
              <a:spcAft>
                <a:spcPts val="300"/>
              </a:spcAft>
            </a:pPr>
            <a:r>
              <a:rPr sz="1100" b="0">
                <a:solidFill>
                  <a:srgbClr val="5B6372"/>
                </a:solidFill>
                <a:latin typeface="Arial"/>
              </a:rPr>
              <a:t>It confirms the project supports the organisation's strategic goals.</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53000"/>
            <a:ext cx="4027932" cy="1146048"/>
          </a:xfrm>
          <a:prstGeom prst="rect">
            <a:avLst/>
          </a:prstGeom>
          <a:noFill/>
        </p:spPr>
        <p:txBody>
          <a:bodyPr wrap="square" anchor="ctr">
            <a:spAutoFit/>
          </a:bodyPr>
          <a:lstStyle/>
          <a:p>
            <a:pPr algn="l">
              <a:spcAft>
                <a:spcPts val="300"/>
              </a:spcAft>
            </a:pPr>
            <a:r>
              <a:rPr sz="1500" b="1">
                <a:solidFill>
                  <a:srgbClr val="161B26"/>
                </a:solidFill>
                <a:latin typeface="Arial"/>
              </a:rPr>
              <a:t>Creates focus</a:t>
            </a:r>
          </a:p>
          <a:p>
            <a:pPr algn="l">
              <a:spcAft>
                <a:spcPts val="300"/>
              </a:spcAft>
            </a:pPr>
            <a:r>
              <a:rPr sz="1100" b="0">
                <a:solidFill>
                  <a:srgbClr val="5B6372"/>
                </a:solidFill>
                <a:latin typeface="Arial"/>
              </a:rPr>
              <a:t>It keeps everyone aligned to a single, clear project vision.</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53000"/>
            <a:ext cx="4027932" cy="1146048"/>
          </a:xfrm>
          <a:prstGeom prst="rect">
            <a:avLst/>
          </a:prstGeom>
          <a:noFill/>
        </p:spPr>
        <p:txBody>
          <a:bodyPr wrap="square" anchor="ctr">
            <a:spAutoFit/>
          </a:bodyPr>
          <a:lstStyle/>
          <a:p>
            <a:pPr algn="l">
              <a:spcAft>
                <a:spcPts val="300"/>
              </a:spcAft>
            </a:pPr>
            <a:r>
              <a:rPr sz="1500" b="1">
                <a:solidFill>
                  <a:srgbClr val="161B26"/>
                </a:solidFill>
                <a:latin typeface="Arial"/>
              </a:rPr>
              <a:t>Is signed</a:t>
            </a:r>
          </a:p>
          <a:p>
            <a:pPr algn="l">
              <a:spcAft>
                <a:spcPts val="300"/>
              </a:spcAft>
            </a:pPr>
            <a:r>
              <a:rPr sz="1100" b="0">
                <a:solidFill>
                  <a:srgbClr val="5B6372"/>
                </a:solidFill>
                <a:latin typeface="Arial"/>
              </a:rPr>
              <a:t>An unsigned charter is not a charter.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REQUIRED CONTENTS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What's Included in a Project Charter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146048"/>
          </a:xfrm>
          <a:prstGeom prst="rect">
            <a:avLst/>
          </a:prstGeom>
          <a:noFill/>
        </p:spPr>
        <p:txBody>
          <a:bodyPr wrap="square" anchor="ctr">
            <a:spAutoFit/>
          </a:bodyPr>
          <a:lstStyle/>
          <a:p>
            <a:pPr algn="l">
              <a:spcAft>
                <a:spcPts val="300"/>
              </a:spcAft>
            </a:pPr>
            <a:r>
              <a:rPr sz="1500" b="1">
                <a:solidFill>
                  <a:srgbClr val="161B26"/>
                </a:solidFill>
                <a:latin typeface="Arial"/>
              </a:rPr>
              <a:t>Names</a:t>
            </a:r>
          </a:p>
          <a:p>
            <a:pPr algn="l">
              <a:spcAft>
                <a:spcPts val="300"/>
              </a:spcAft>
            </a:pPr>
            <a:r>
              <a:rPr sz="1100" b="0">
                <a:solidFill>
                  <a:srgbClr val="5B6372"/>
                </a:solidFill>
                <a:latin typeface="Arial"/>
              </a:rPr>
              <a:t>Project sponsor, project manager and key stakeholders.</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146048"/>
          </a:xfrm>
          <a:prstGeom prst="rect">
            <a:avLst/>
          </a:prstGeom>
          <a:noFill/>
        </p:spPr>
        <p:txBody>
          <a:bodyPr wrap="square" anchor="ctr">
            <a:spAutoFit/>
          </a:bodyPr>
          <a:lstStyle/>
          <a:p>
            <a:pPr algn="l">
              <a:spcAft>
                <a:spcPts val="300"/>
              </a:spcAft>
            </a:pPr>
            <a:r>
              <a:rPr sz="1500" b="1">
                <a:solidFill>
                  <a:srgbClr val="161B26"/>
                </a:solidFill>
                <a:latin typeface="Arial"/>
              </a:rPr>
              <a:t>Project description</a:t>
            </a:r>
          </a:p>
          <a:p>
            <a:pPr algn="l">
              <a:spcAft>
                <a:spcPts val="300"/>
              </a:spcAft>
            </a:pPr>
            <a:r>
              <a:rPr sz="1100" b="0">
                <a:solidFill>
                  <a:srgbClr val="5B6372"/>
                </a:solidFill>
                <a:latin typeface="Arial"/>
              </a:rPr>
              <a:t>Preliminary requirements and measurable objectives.</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22904"/>
            <a:ext cx="4027932" cy="1146048"/>
          </a:xfrm>
          <a:prstGeom prst="rect">
            <a:avLst/>
          </a:prstGeom>
          <a:noFill/>
        </p:spPr>
        <p:txBody>
          <a:bodyPr wrap="square" anchor="ctr">
            <a:spAutoFit/>
          </a:bodyPr>
          <a:lstStyle/>
          <a:p>
            <a:pPr algn="l">
              <a:spcAft>
                <a:spcPts val="300"/>
              </a:spcAft>
            </a:pPr>
            <a:r>
              <a:rPr sz="1500" b="1">
                <a:solidFill>
                  <a:srgbClr val="161B26"/>
                </a:solidFill>
                <a:latin typeface="Arial"/>
              </a:rPr>
              <a:t>Business need</a:t>
            </a:r>
          </a:p>
          <a:p>
            <a:pPr algn="l">
              <a:spcAft>
                <a:spcPts val="300"/>
              </a:spcAft>
            </a:pPr>
            <a:r>
              <a:rPr sz="1100" b="0">
                <a:solidFill>
                  <a:srgbClr val="5B6372"/>
                </a:solidFill>
                <a:latin typeface="Arial"/>
              </a:rPr>
              <a:t>Including financial goals and milestones.</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22904"/>
            <a:ext cx="4027932" cy="1146048"/>
          </a:xfrm>
          <a:prstGeom prst="rect">
            <a:avLst/>
          </a:prstGeom>
          <a:noFill/>
        </p:spPr>
        <p:txBody>
          <a:bodyPr wrap="square" anchor="ctr">
            <a:spAutoFit/>
          </a:bodyPr>
          <a:lstStyle/>
          <a:p>
            <a:pPr algn="l">
              <a:spcAft>
                <a:spcPts val="300"/>
              </a:spcAft>
            </a:pPr>
            <a:r>
              <a:rPr sz="1500" b="1">
                <a:solidFill>
                  <a:srgbClr val="161B26"/>
                </a:solidFill>
                <a:latin typeface="Arial"/>
              </a:rPr>
              <a:t>Summary schedule</a:t>
            </a:r>
          </a:p>
          <a:p>
            <a:pPr algn="l">
              <a:spcAft>
                <a:spcPts val="300"/>
              </a:spcAft>
            </a:pPr>
            <a:r>
              <a:rPr sz="1100" b="0">
                <a:solidFill>
                  <a:srgbClr val="5B6372"/>
                </a:solidFill>
                <a:latin typeface="Arial"/>
              </a:rPr>
              <a:t>High-level milestones.</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53000"/>
            <a:ext cx="4027932" cy="1146048"/>
          </a:xfrm>
          <a:prstGeom prst="rect">
            <a:avLst/>
          </a:prstGeom>
          <a:noFill/>
        </p:spPr>
        <p:txBody>
          <a:bodyPr wrap="square" anchor="ctr">
            <a:spAutoFit/>
          </a:bodyPr>
          <a:lstStyle/>
          <a:p>
            <a:pPr algn="l">
              <a:spcAft>
                <a:spcPts val="300"/>
              </a:spcAft>
            </a:pPr>
            <a:r>
              <a:rPr sz="1500" b="1">
                <a:solidFill>
                  <a:srgbClr val="161B26"/>
                </a:solidFill>
                <a:latin typeface="Arial"/>
              </a:rPr>
              <a:t>Assumptions &amp; constraints</a:t>
            </a:r>
          </a:p>
          <a:p>
            <a:pPr algn="l">
              <a:spcAft>
                <a:spcPts val="300"/>
              </a:spcAft>
            </a:pPr>
            <a:r>
              <a:rPr sz="1100" b="0">
                <a:solidFill>
                  <a:srgbClr val="5B6372"/>
                </a:solidFill>
                <a:latin typeface="Arial"/>
              </a:rPr>
              <a:t>Boundaries, overall risk, approval requirements, approved budget.</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53000"/>
            <a:ext cx="4027932" cy="1146048"/>
          </a:xfrm>
          <a:prstGeom prst="rect">
            <a:avLst/>
          </a:prstGeom>
          <a:noFill/>
        </p:spPr>
        <p:txBody>
          <a:bodyPr wrap="square" anchor="ctr">
            <a:spAutoFit/>
          </a:bodyPr>
          <a:lstStyle/>
          <a:p>
            <a:pPr algn="l">
              <a:spcAft>
                <a:spcPts val="300"/>
              </a:spcAft>
            </a:pPr>
            <a:r>
              <a:rPr sz="1500" b="1">
                <a:solidFill>
                  <a:srgbClr val="161B26"/>
                </a:solidFill>
                <a:latin typeface="Arial"/>
              </a:rPr>
              <a:t>From the business case</a:t>
            </a:r>
          </a:p>
          <a:p>
            <a:pPr algn="l">
              <a:spcAft>
                <a:spcPts val="300"/>
              </a:spcAft>
            </a:pPr>
            <a:r>
              <a:rPr sz="1100" b="0">
                <a:solidFill>
                  <a:srgbClr val="5B6372"/>
                </a:solidFill>
                <a:latin typeface="Arial"/>
              </a:rPr>
              <a:t>Success criteria and exit criteria.</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SETTING DIRECTION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Project Vision Statement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a:solidFill>
                  <a:srgbClr val="161B26"/>
                </a:solidFill>
                <a:latin typeface="Arial"/>
              </a:rPr>
              <a:t>•  Created by the project sponsor or an executive.</a:t>
            </a:r>
          </a:p>
          <a:p>
            <a:pPr>
              <a:spcAft>
                <a:spcPts val="1000"/>
              </a:spcAft>
            </a:pPr>
            <a:r>
              <a:rPr sz="1700">
                <a:solidFill>
                  <a:srgbClr val="161B26"/>
                </a:solidFill>
                <a:latin typeface="Arial"/>
              </a:rPr>
              <a:t>•  Includes a clear vision of the desired objectives and how they align with the organisation's strategic goals.</a:t>
            </a:r>
          </a:p>
          <a:p>
            <a:pPr>
              <a:spcAft>
                <a:spcPts val="1000"/>
              </a:spcAft>
            </a:pPr>
            <a:r>
              <a:rPr sz="1700">
                <a:solidFill>
                  <a:srgbClr val="161B26"/>
                </a:solidFill>
                <a:latin typeface="Arial"/>
              </a:rPr>
              <a:t>•  Refer back to it throughout the project to maintain alignment when pressure to change mounts.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ACTIVITY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Develop the Project Charter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3</a:t>
            </a:r>
          </a:p>
        </p:txBody>
      </p:sp>
      <p:sp>
        <p:nvSpPr>
          <p:cNvPr id="9" name="TextBox 8"/>
          <p:cNvSpPr txBox="1"/>
          <p:nvPr/>
        </p:nvSpPr>
        <p:spPr>
          <a:xfrm>
            <a:off x="777240" y="2331720"/>
            <a:ext cx="10698480" cy="1554480"/>
          </a:xfrm>
          <a:prstGeom prst="rect">
            <a:avLst/>
          </a:prstGeom>
          <a:noFill/>
        </p:spPr>
        <p:txBody>
          <a:bodyPr wrap="square" anchor="t">
            <a:spAutoFit/>
          </a:bodyPr>
          <a:lstStyle/>
          <a:p>
            <a:pPr algn="l">
              <a:spcAft>
                <a:spcPts val="400"/>
              </a:spcAft>
            </a:pPr>
            <a:r>
              <a:rPr sz="1900" b="0">
                <a:solidFill>
                  <a:srgbClr val="161B26"/>
                </a:solidFill>
                <a:latin typeface="Arial"/>
              </a:rPr>
              <a:t>The charter authorises the project and gives the PM the right to apply resources. You will generate a full charter with GenAI and then correct it against what a charter must actually contain.</a:t>
            </a:r>
          </a:p>
        </p:txBody>
      </p:sp>
      <p:sp>
        <p:nvSpPr>
          <p:cNvPr id="10" name="Rectangle 9"/>
          <p:cNvSpPr/>
          <p:nvPr/>
        </p:nvSpPr>
        <p:spPr>
          <a:xfrm>
            <a:off x="777240" y="3977639"/>
            <a:ext cx="10634472" cy="17830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60520"/>
            <a:ext cx="10058400" cy="365760"/>
          </a:xfrm>
          <a:prstGeom prst="rect">
            <a:avLst/>
          </a:prstGeom>
          <a:noFill/>
        </p:spPr>
        <p:txBody>
          <a:bodyPr wrap="square" anchor="t">
            <a:spAutoFit/>
          </a:bodyPr>
          <a:lstStyle/>
          <a:p>
            <a:pPr algn="l">
              <a:spcAft>
                <a:spcPts val="400"/>
              </a:spcAft>
            </a:pPr>
            <a:r>
              <a:rPr sz="1300" b="1">
                <a:solidFill>
                  <a:srgbClr val="127A3E"/>
                </a:solidFill>
                <a:latin typeface="Arial"/>
              </a:rPr>
              <a:t>You'll produce</a:t>
            </a:r>
          </a:p>
        </p:txBody>
      </p:sp>
      <p:sp>
        <p:nvSpPr>
          <p:cNvPr id="12" name="TextBox 11"/>
          <p:cNvSpPr txBox="1"/>
          <p:nvPr/>
        </p:nvSpPr>
        <p:spPr>
          <a:xfrm>
            <a:off x="1005840" y="4498848"/>
            <a:ext cx="10149840" cy="685800"/>
          </a:xfrm>
          <a:prstGeom prst="rect">
            <a:avLst/>
          </a:prstGeom>
          <a:noFill/>
        </p:spPr>
        <p:txBody>
          <a:bodyPr wrap="square" anchor="t">
            <a:spAutoFit/>
          </a:bodyPr>
          <a:lstStyle/>
          <a:p>
            <a:pPr algn="l">
              <a:spcAft>
                <a:spcPts val="400"/>
              </a:spcAft>
            </a:pPr>
            <a:r>
              <a:rPr sz="1700" b="1">
                <a:solidFill>
                  <a:srgbClr val="161B26"/>
                </a:solidFill>
                <a:latin typeface="Arial"/>
              </a:rPr>
              <a:t>An approved-quality Project Charter for your group's project.</a:t>
            </a:r>
          </a:p>
        </p:txBody>
      </p:sp>
      <p:sp>
        <p:nvSpPr>
          <p:cNvPr id="13" name="TextBox 12"/>
          <p:cNvSpPr txBox="1"/>
          <p:nvPr/>
        </p:nvSpPr>
        <p:spPr>
          <a:xfrm>
            <a:off x="1005840" y="5257800"/>
            <a:ext cx="10241280" cy="4572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GenAI tool · Project Manager Buddy GPT · Project Charter Template.xlsx</a:t>
            </a:r>
          </a:p>
        </p:txBody>
      </p:sp>
      <p:sp>
        <p:nvSpPr>
          <p:cNvPr id="14" name="TextBox 13"/>
          <p:cNvSpPr txBox="1"/>
          <p:nvPr/>
        </p:nvSpPr>
        <p:spPr>
          <a:xfrm>
            <a:off x="777240" y="5897880"/>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Step-by-step instructions: see your Learner Guide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01 · ACTIVITY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Develop the Project Charter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3</a:t>
            </a:r>
          </a:p>
        </p:txBody>
      </p:sp>
      <p:sp>
        <p:nvSpPr>
          <p:cNvPr id="9" name="TextBox 8"/>
          <p:cNvSpPr txBox="1"/>
          <p:nvPr/>
        </p:nvSpPr>
        <p:spPr>
          <a:xfrm>
            <a:off x="777240" y="2286000"/>
            <a:ext cx="10607040" cy="365760"/>
          </a:xfrm>
          <a:prstGeom prst="rect">
            <a:avLst/>
          </a:prstGeom>
          <a:noFill/>
        </p:spPr>
        <p:txBody>
          <a:bodyPr wrap="square" anchor="t">
            <a:spAutoFit/>
          </a:bodyPr>
          <a:lstStyle/>
          <a:p>
            <a:pPr algn="l">
              <a:spcAft>
                <a:spcPts val="400"/>
              </a:spcAft>
            </a:pPr>
            <a:r>
              <a:rPr sz="1200" b="1">
                <a:solidFill>
                  <a:srgbClr val="7C3AED"/>
                </a:solidFill>
                <a:latin typeface="Arial"/>
              </a:rPr>
              <a:t>PROMPT GenAI WITH</a:t>
            </a:r>
          </a:p>
        </p:txBody>
      </p:sp>
      <p:sp>
        <p:nvSpPr>
          <p:cNvPr id="10" name="Rectangle 9"/>
          <p:cNvSpPr/>
          <p:nvPr/>
        </p:nvSpPr>
        <p:spPr>
          <a:xfrm>
            <a:off x="777240" y="2651760"/>
            <a:ext cx="10634472" cy="19659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88920"/>
            <a:ext cx="10104120" cy="1691640"/>
          </a:xfrm>
          <a:prstGeom prst="rect">
            <a:avLst/>
          </a:prstGeom>
          <a:noFill/>
        </p:spPr>
        <p:txBody>
          <a:bodyPr wrap="square" anchor="ctr">
            <a:spAutoFit/>
          </a:bodyPr>
          <a:lstStyle/>
          <a:p>
            <a:pPr algn="l">
              <a:spcAft>
                <a:spcPts val="400"/>
              </a:spcAft>
            </a:pPr>
            <a:r>
              <a:rPr sz="1600" b="0">
                <a:solidFill>
                  <a:srgbClr val="D6E4FF"/>
                </a:solidFill>
                <a:latin typeface="Arial"/>
              </a:rPr>
              <a:t>Write a project charter for launching an internal knowledge-sharing platform. Include objectives, scope, risks, stakeholders and success criteria. Mark every assumption clearly.</a:t>
            </a:r>
          </a:p>
        </p:txBody>
      </p:sp>
      <p:sp>
        <p:nvSpPr>
          <p:cNvPr id="12" name="Rectangle 11"/>
          <p:cNvSpPr/>
          <p:nvPr/>
        </p:nvSpPr>
        <p:spPr>
          <a:xfrm>
            <a:off x="777240" y="4800600"/>
            <a:ext cx="10634472" cy="1051560"/>
          </a:xfrm>
          <a:prstGeom prst="rect">
            <a:avLst/>
          </a:prstGeom>
          <a:solidFill>
            <a:srgbClr val="FFF4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4919472"/>
            <a:ext cx="10149840" cy="320040"/>
          </a:xfrm>
          <a:prstGeom prst="rect">
            <a:avLst/>
          </a:prstGeom>
          <a:noFill/>
        </p:spPr>
        <p:txBody>
          <a:bodyPr wrap="square" anchor="t">
            <a:spAutoFit/>
          </a:bodyPr>
          <a:lstStyle/>
          <a:p>
            <a:pPr algn="l">
              <a:spcAft>
                <a:spcPts val="400"/>
              </a:spcAft>
            </a:pPr>
            <a:r>
              <a:rPr sz="1200" b="1">
                <a:solidFill>
                  <a:srgbClr val="F59E0B"/>
                </a:solidFill>
                <a:latin typeface="Arial"/>
              </a:rPr>
              <a:t>⚠  THEN CHECK IT</a:t>
            </a:r>
          </a:p>
        </p:txBody>
      </p:sp>
      <p:sp>
        <p:nvSpPr>
          <p:cNvPr id="14" name="TextBox 13"/>
          <p:cNvSpPr txBox="1"/>
          <p:nvPr/>
        </p:nvSpPr>
        <p:spPr>
          <a:xfrm>
            <a:off x="1051560" y="5230368"/>
            <a:ext cx="10149840" cy="548640"/>
          </a:xfrm>
          <a:prstGeom prst="rect">
            <a:avLst/>
          </a:prstGeom>
          <a:noFill/>
        </p:spPr>
        <p:txBody>
          <a:bodyPr wrap="square" anchor="t">
            <a:spAutoFit/>
          </a:bodyPr>
          <a:lstStyle/>
          <a:p>
            <a:pPr algn="l">
              <a:spcAft>
                <a:spcPts val="400"/>
              </a:spcAft>
            </a:pPr>
            <a:r>
              <a:rPr sz="1400" b="0">
                <a:solidFill>
                  <a:srgbClr val="161B26"/>
                </a:solidFill>
                <a:latin typeface="Arial"/>
              </a:rPr>
              <a:t>GenAI gives you a fast first draft. Check every figure, source and assumption before you use it.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CHECK YOUR 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Develop the Project Charter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34472"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9" name="TextBox 8"/>
          <p:cNvSpPr txBox="1"/>
          <p:nvPr/>
        </p:nvSpPr>
        <p:spPr>
          <a:xfrm>
            <a:off x="1097280" y="3017520"/>
            <a:ext cx="9966960" cy="1280160"/>
          </a:xfrm>
          <a:prstGeom prst="rect">
            <a:avLst/>
          </a:prstGeom>
          <a:noFill/>
        </p:spPr>
        <p:txBody>
          <a:bodyPr wrap="square" anchor="t">
            <a:spAutoFit/>
          </a:bodyPr>
          <a:lstStyle/>
          <a:p>
            <a:pPr algn="l">
              <a:spcAft>
                <a:spcPts val="400"/>
              </a:spcAft>
            </a:pPr>
            <a:r>
              <a:rPr sz="1700" b="0">
                <a:solidFill>
                  <a:srgbClr val="161B26"/>
                </a:solidFill>
                <a:latin typeface="Arial"/>
              </a:rPr>
              <a:t>Your charter names a sponsor and PM, has measurable objectives and explicit success AND exit criteria, and contains no unmarked AI-invented figures.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STARTING WELL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Kickoff Meeting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640080"/>
          </a:xfrm>
          <a:prstGeom prst="rect">
            <a:avLst/>
          </a:prstGeom>
          <a:noFill/>
        </p:spPr>
        <p:txBody>
          <a:bodyPr wrap="square" anchor="t">
            <a:spAutoFit/>
          </a:bodyPr>
          <a:lstStyle/>
          <a:p>
            <a:pPr algn="l">
              <a:spcAft>
                <a:spcPts val="400"/>
              </a:spcAft>
            </a:pPr>
            <a:r>
              <a:rPr sz="1800" b="1">
                <a:solidFill>
                  <a:srgbClr val="1F6FEB"/>
                </a:solidFill>
                <a:latin typeface="Arial"/>
              </a:rPr>
              <a:t>Purpose</a:t>
            </a:r>
          </a:p>
        </p:txBody>
      </p:sp>
      <p:sp>
        <p:nvSpPr>
          <p:cNvPr id="10" name="TextBox 9"/>
          <p:cNvSpPr txBox="1"/>
          <p:nvPr/>
        </p:nvSpPr>
        <p:spPr>
          <a:xfrm>
            <a:off x="1005840" y="2743200"/>
            <a:ext cx="2926080" cy="3063240"/>
          </a:xfrm>
          <a:prstGeom prst="rect">
            <a:avLst/>
          </a:prstGeom>
          <a:noFill/>
        </p:spPr>
        <p:txBody>
          <a:bodyPr wrap="square">
            <a:spAutoFit/>
          </a:bodyPr>
          <a:lstStyle/>
          <a:p>
            <a:pPr>
              <a:spcAft>
                <a:spcPts val="900"/>
              </a:spcAft>
            </a:pPr>
            <a:r>
              <a:rPr sz="1300">
                <a:solidFill>
                  <a:srgbClr val="161B26"/>
                </a:solidFill>
                <a:latin typeface="Arial"/>
              </a:rPr>
              <a:t>•  Establish project context</a:t>
            </a:r>
          </a:p>
          <a:p>
            <a:pPr>
              <a:spcAft>
                <a:spcPts val="900"/>
              </a:spcAft>
            </a:pPr>
            <a:r>
              <a:rPr sz="1300">
                <a:solidFill>
                  <a:srgbClr val="161B26"/>
                </a:solidFill>
                <a:latin typeface="Arial"/>
              </a:rPr>
              <a:t>•  Assist in team formation</a:t>
            </a:r>
          </a:p>
          <a:p>
            <a:pPr>
              <a:spcAft>
                <a:spcPts val="900"/>
              </a:spcAft>
            </a:pPr>
            <a:r>
              <a:rPr sz="1300">
                <a:solidFill>
                  <a:srgbClr val="161B26"/>
                </a:solidFill>
                <a:latin typeface="Arial"/>
              </a:rPr>
              <a:t>•  Align team and stakeholders with the vision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640080"/>
          </a:xfrm>
          <a:prstGeom prst="rect">
            <a:avLst/>
          </a:prstGeom>
          <a:noFill/>
        </p:spPr>
        <p:txBody>
          <a:bodyPr wrap="square" anchor="t">
            <a:spAutoFit/>
          </a:bodyPr>
          <a:lstStyle/>
          <a:p>
            <a:pPr algn="l">
              <a:spcAft>
                <a:spcPts val="400"/>
              </a:spcAft>
            </a:pPr>
            <a:r>
              <a:rPr sz="1800" b="1">
                <a:solidFill>
                  <a:srgbClr val="10B981"/>
                </a:solidFill>
                <a:latin typeface="Arial"/>
              </a:rPr>
              <a:t>Organisational / Public</a:t>
            </a:r>
          </a:p>
        </p:txBody>
      </p:sp>
      <p:sp>
        <p:nvSpPr>
          <p:cNvPr id="14" name="TextBox 13"/>
          <p:cNvSpPr txBox="1"/>
          <p:nvPr/>
        </p:nvSpPr>
        <p:spPr>
          <a:xfrm>
            <a:off x="4800600" y="2743200"/>
            <a:ext cx="2926080" cy="3063240"/>
          </a:xfrm>
          <a:prstGeom prst="rect">
            <a:avLst/>
          </a:prstGeom>
          <a:noFill/>
        </p:spPr>
        <p:txBody>
          <a:bodyPr wrap="square">
            <a:spAutoFit/>
          </a:bodyPr>
          <a:lstStyle/>
          <a:p>
            <a:pPr>
              <a:spcAft>
                <a:spcPts val="900"/>
              </a:spcAft>
            </a:pPr>
            <a:r>
              <a:rPr sz="1300">
                <a:solidFill>
                  <a:srgbClr val="161B26"/>
                </a:solidFill>
                <a:latin typeface="Arial"/>
              </a:rPr>
              <a:t>•  Announce project initiation</a:t>
            </a:r>
          </a:p>
          <a:p>
            <a:pPr>
              <a:spcAft>
                <a:spcPts val="900"/>
              </a:spcAft>
            </a:pPr>
            <a:r>
              <a:rPr sz="1300">
                <a:solidFill>
                  <a:srgbClr val="161B26"/>
                </a:solidFill>
                <a:latin typeface="Arial"/>
              </a:rPr>
              <a:t>•  Share the high-level vision, purpose and value</a:t>
            </a:r>
          </a:p>
          <a:p>
            <a:pPr>
              <a:spcAft>
                <a:spcPts val="900"/>
              </a:spcAft>
            </a:pPr>
            <a:r>
              <a:rPr sz="1300">
                <a:solidFill>
                  <a:srgbClr val="161B26"/>
                </a:solidFill>
                <a:latin typeface="Arial"/>
              </a:rPr>
              <a:t>•  Identify sponsor, key stakeholders and PM</a:t>
            </a:r>
          </a:p>
          <a:p>
            <a:pPr>
              <a:spcAft>
                <a:spcPts val="900"/>
              </a:spcAft>
            </a:pPr>
            <a:r>
              <a:rPr sz="1300">
                <a:solidFill>
                  <a:srgbClr val="161B26"/>
                </a:solidFill>
                <a:latin typeface="Arial"/>
              </a:rPr>
              <a:t>•  Cover high-level charter items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640080"/>
          </a:xfrm>
          <a:prstGeom prst="rect">
            <a:avLst/>
          </a:prstGeom>
          <a:noFill/>
        </p:spPr>
        <p:txBody>
          <a:bodyPr wrap="square" anchor="t">
            <a:spAutoFit/>
          </a:bodyPr>
          <a:lstStyle/>
          <a:p>
            <a:pPr algn="l">
              <a:spcAft>
                <a:spcPts val="400"/>
              </a:spcAft>
            </a:pPr>
            <a:r>
              <a:rPr sz="1800" b="1">
                <a:solidFill>
                  <a:srgbClr val="7C3AED"/>
                </a:solidFill>
                <a:latin typeface="Arial"/>
              </a:rPr>
              <a:t>Internal / Team</a:t>
            </a:r>
          </a:p>
        </p:txBody>
      </p:sp>
      <p:sp>
        <p:nvSpPr>
          <p:cNvPr id="18" name="TextBox 17"/>
          <p:cNvSpPr txBox="1"/>
          <p:nvPr/>
        </p:nvSpPr>
        <p:spPr>
          <a:xfrm>
            <a:off x="8595360" y="2743200"/>
            <a:ext cx="2926080" cy="3063240"/>
          </a:xfrm>
          <a:prstGeom prst="rect">
            <a:avLst/>
          </a:prstGeom>
          <a:noFill/>
        </p:spPr>
        <p:txBody>
          <a:bodyPr wrap="square">
            <a:spAutoFit/>
          </a:bodyPr>
          <a:lstStyle/>
          <a:p>
            <a:pPr>
              <a:spcAft>
                <a:spcPts val="900"/>
              </a:spcAft>
            </a:pPr>
            <a:r>
              <a:rPr sz="1300">
                <a:solidFill>
                  <a:srgbClr val="161B26"/>
                </a:solidFill>
                <a:latin typeface="Arial"/>
              </a:rPr>
              <a:t>•  Give a charter overview</a:t>
            </a:r>
          </a:p>
          <a:p>
            <a:pPr>
              <a:spcAft>
                <a:spcPts val="900"/>
              </a:spcAft>
            </a:pPr>
            <a:r>
              <a:rPr sz="1300">
                <a:solidFill>
                  <a:srgbClr val="161B26"/>
                </a:solidFill>
                <a:latin typeface="Arial"/>
              </a:rPr>
              <a:t>•  Clarify roles and responsibilities</a:t>
            </a:r>
          </a:p>
          <a:p>
            <a:pPr>
              <a:spcAft>
                <a:spcPts val="900"/>
              </a:spcAft>
            </a:pPr>
            <a:r>
              <a:rPr sz="1300">
                <a:solidFill>
                  <a:srgbClr val="161B26"/>
                </a:solidFill>
                <a:latin typeface="Arial"/>
              </a:rPr>
              <a:t>•  Present planning results</a:t>
            </a:r>
          </a:p>
          <a:p>
            <a:pPr>
              <a:spcAft>
                <a:spcPts val="900"/>
              </a:spcAft>
            </a:pPr>
            <a:r>
              <a:rPr sz="1300">
                <a:solidFill>
                  <a:srgbClr val="161B26"/>
                </a:solidFill>
                <a:latin typeface="Arial"/>
              </a:rPr>
              <a:t>•  Initiate the product backlog</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9509760" cy="548640"/>
          </a:xfrm>
          <a:prstGeom prst="rect">
            <a:avLst/>
          </a:prstGeom>
          <a:noFill/>
        </p:spPr>
        <p:txBody>
          <a:bodyPr wrap="square" anchor="t">
            <a:spAutoFit/>
          </a:bodyPr>
          <a:lstStyle/>
          <a:p>
            <a:pPr algn="l">
              <a:spcAft>
                <a:spcPts val="400"/>
              </a:spcAft>
            </a:pPr>
            <a:r>
              <a:rPr sz="1800" b="1">
                <a:solidFill>
                  <a:srgbClr val="1F6FEB"/>
                </a:solidFill>
                <a:latin typeface="Arial"/>
              </a:rPr>
              <a:t>PLANNING</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3800" b="1">
                <a:solidFill>
                  <a:srgbClr val="161B26"/>
                </a:solidFill>
                <a:latin typeface="Arial"/>
              </a:rPr>
              <a:t>The Project Management Plan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MASTER PLAN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Planning Starts with the Project Management Plan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Enables the PM</a:t>
            </a:r>
          </a:p>
          <a:p>
            <a:pPr algn="l">
              <a:spcAft>
                <a:spcPts val="300"/>
              </a:spcAft>
            </a:pPr>
            <a:r>
              <a:rPr sz="1200" b="0">
                <a:solidFill>
                  <a:srgbClr val="5B6372"/>
                </a:solidFill>
                <a:latin typeface="Arial"/>
              </a:rPr>
              <a:t>To execute, monitor, control and close the project.</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Establishes guardrails</a:t>
            </a:r>
          </a:p>
          <a:p>
            <a:pPr algn="l">
              <a:spcAft>
                <a:spcPts val="300"/>
              </a:spcAft>
            </a:pPr>
            <a:r>
              <a:rPr sz="1200" b="0">
                <a:solidFill>
                  <a:srgbClr val="5B6372"/>
                </a:solidFill>
                <a:latin typeface="Arial"/>
              </a:rPr>
              <a:t>So controls are maintained as the project runs.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Allows tailoring</a:t>
            </a:r>
          </a:p>
          <a:p>
            <a:pPr algn="l">
              <a:spcAft>
                <a:spcPts val="300"/>
              </a:spcAft>
            </a:pPr>
            <a:r>
              <a:rPr sz="1200" b="0">
                <a:solidFill>
                  <a:srgbClr val="5B6372"/>
                </a:solidFill>
                <a:latin typeface="Arial"/>
              </a:rPr>
              <a:t>Teams can adapt their way of working and act quickly and flexibly.</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Integrates everything</a:t>
            </a:r>
          </a:p>
          <a:p>
            <a:pPr algn="l">
              <a:spcAft>
                <a:spcPts val="300"/>
              </a:spcAft>
            </a:pPr>
            <a:r>
              <a:rPr sz="1200" b="0">
                <a:solidFill>
                  <a:srgbClr val="5B6372"/>
                </a:solidFill>
                <a:latin typeface="Arial"/>
              </a:rPr>
              <a:t>Scope, schedule, cost, quality, resource, communications, risk, procurement and stakeholders.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SIX PLANNING DOMAINS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You Plan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400"/>
              </a:spcAft>
            </a:pPr>
            <a:r>
              <a:rPr sz="1600" b="0">
                <a:solidFill>
                  <a:srgbClr val="161B26"/>
                </a:solidFill>
                <a:latin typeface="Arial"/>
              </a:rPr>
              <a:t>Scope — what is and is not included</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400"/>
              </a:spcAft>
            </a:pPr>
            <a:r>
              <a:rPr sz="1600" b="0">
                <a:solidFill>
                  <a:srgbClr val="161B26"/>
                </a:solidFill>
                <a:latin typeface="Arial"/>
              </a:rPr>
              <a:t>Schedule — when the work happens</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400"/>
              </a:spcAft>
            </a:pPr>
            <a:r>
              <a:rPr sz="1600" b="0">
                <a:solidFill>
                  <a:srgbClr val="161B26"/>
                </a:solidFill>
                <a:latin typeface="Arial"/>
              </a:rPr>
              <a:t>Resources — who and what is needed</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400"/>
              </a:spcAft>
            </a:pPr>
            <a:r>
              <a:rPr sz="1600" b="0">
                <a:solidFill>
                  <a:srgbClr val="161B26"/>
                </a:solidFill>
                <a:latin typeface="Arial"/>
              </a:rPr>
              <a:t>Budget — what it will cost</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400"/>
              </a:spcAft>
            </a:pPr>
            <a:r>
              <a:rPr sz="1600" b="0">
                <a:solidFill>
                  <a:srgbClr val="161B26"/>
                </a:solidFill>
                <a:latin typeface="Arial"/>
              </a:rPr>
              <a:t>Risks — what could go wrong or right</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400"/>
              </a:spcAft>
            </a:pPr>
            <a:r>
              <a:rPr sz="1600" b="0">
                <a:solidFill>
                  <a:srgbClr val="161B26"/>
                </a:solidFill>
                <a:latin typeface="Arial"/>
              </a:rPr>
              <a:t>Quality — how good it must be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TWO PLANNING TECHNIQUES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Collaborative and Rolling Wave Planning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36208" y="1783080"/>
            <a:ext cx="517550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36208" y="1783080"/>
            <a:ext cx="517550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011680"/>
            <a:ext cx="4754880" cy="365760"/>
          </a:xfrm>
          <a:prstGeom prst="rect">
            <a:avLst/>
          </a:prstGeom>
          <a:noFill/>
        </p:spPr>
        <p:txBody>
          <a:bodyPr wrap="square" anchor="t">
            <a:spAutoFit/>
          </a:bodyPr>
          <a:lstStyle/>
          <a:p>
            <a:pPr algn="l">
              <a:spcAft>
                <a:spcPts val="400"/>
              </a:spcAft>
            </a:pPr>
            <a:r>
              <a:rPr sz="1700" b="1">
                <a:solidFill>
                  <a:srgbClr val="1F6FEB"/>
                </a:solidFill>
                <a:latin typeface="Arial"/>
              </a:rPr>
              <a:t>Plan with the team</a:t>
            </a:r>
          </a:p>
        </p:txBody>
      </p:sp>
      <p:sp>
        <p:nvSpPr>
          <p:cNvPr id="12" name="TextBox 11"/>
          <p:cNvSpPr txBox="1"/>
          <p:nvPr/>
        </p:nvSpPr>
        <p:spPr>
          <a:xfrm>
            <a:off x="6464808" y="2011680"/>
            <a:ext cx="4663440" cy="365760"/>
          </a:xfrm>
          <a:prstGeom prst="rect">
            <a:avLst/>
          </a:prstGeom>
          <a:noFill/>
        </p:spPr>
        <p:txBody>
          <a:bodyPr wrap="square" anchor="t">
            <a:spAutoFit/>
          </a:bodyPr>
          <a:lstStyle/>
          <a:p>
            <a:pPr algn="l">
              <a:spcAft>
                <a:spcPts val="400"/>
              </a:spcAft>
            </a:pPr>
            <a:r>
              <a:rPr sz="1700" b="1">
                <a:solidFill>
                  <a:srgbClr val="10B981"/>
                </a:solidFill>
                <a:latin typeface="Arial"/>
              </a:rPr>
              <a:t>Plan progressively</a:t>
            </a:r>
          </a:p>
        </p:txBody>
      </p:sp>
      <p:sp>
        <p:nvSpPr>
          <p:cNvPr id="13" name="TextBox 12"/>
          <p:cNvSpPr txBox="1"/>
          <p:nvPr/>
        </p:nvSpPr>
        <p:spPr>
          <a:xfrm>
            <a:off x="1005840" y="2514600"/>
            <a:ext cx="4754880" cy="3383280"/>
          </a:xfrm>
          <a:prstGeom prst="rect">
            <a:avLst/>
          </a:prstGeom>
          <a:noFill/>
        </p:spPr>
        <p:txBody>
          <a:bodyPr wrap="square">
            <a:spAutoFit/>
          </a:bodyPr>
          <a:lstStyle/>
          <a:p>
            <a:pPr>
              <a:spcAft>
                <a:spcPts val="1000"/>
              </a:spcAft>
            </a:pPr>
            <a:r>
              <a:rPr sz="1400">
                <a:solidFill>
                  <a:srgbClr val="161B26"/>
                </a:solidFill>
                <a:latin typeface="Arial"/>
              </a:rPr>
              <a:t>•  Collaborative planning</a:t>
            </a:r>
          </a:p>
          <a:p>
            <a:pPr>
              <a:spcAft>
                <a:spcPts val="1000"/>
              </a:spcAft>
            </a:pPr>
            <a:r>
              <a:rPr sz="1200">
                <a:solidFill>
                  <a:srgbClr val="5B6372"/>
                </a:solidFill>
                <a:latin typeface="Arial"/>
              </a:rPr>
              <a:t>–  The product owner decides objectives per customer needs</a:t>
            </a:r>
          </a:p>
          <a:p>
            <a:pPr>
              <a:spcAft>
                <a:spcPts val="1000"/>
              </a:spcAft>
            </a:pPr>
            <a:r>
              <a:rPr sz="1200">
                <a:solidFill>
                  <a:srgbClr val="5B6372"/>
                </a:solidFill>
                <a:latin typeface="Arial"/>
              </a:rPr>
              <a:t>–  The team executes the work and helps plan it</a:t>
            </a:r>
          </a:p>
          <a:p>
            <a:pPr>
              <a:spcAft>
                <a:spcPts val="1000"/>
              </a:spcAft>
            </a:pPr>
            <a:r>
              <a:rPr sz="1200">
                <a:solidFill>
                  <a:srgbClr val="5B6372"/>
                </a:solidFill>
                <a:latin typeface="Arial"/>
              </a:rPr>
              <a:t>–  Team members are the local domain experts</a:t>
            </a:r>
          </a:p>
          <a:p>
            <a:pPr>
              <a:spcAft>
                <a:spcPts val="1000"/>
              </a:spcAft>
            </a:pPr>
            <a:r>
              <a:rPr sz="1200">
                <a:solidFill>
                  <a:srgbClr val="5B6372"/>
                </a:solidFill>
                <a:latin typeface="Arial"/>
              </a:rPr>
              <a:t>–  The PM / scrum master helps the team focus</a:t>
            </a:r>
          </a:p>
        </p:txBody>
      </p:sp>
      <p:sp>
        <p:nvSpPr>
          <p:cNvPr id="14" name="TextBox 13"/>
          <p:cNvSpPr txBox="1"/>
          <p:nvPr/>
        </p:nvSpPr>
        <p:spPr>
          <a:xfrm>
            <a:off x="6464808" y="2514600"/>
            <a:ext cx="4709160" cy="3383280"/>
          </a:xfrm>
          <a:prstGeom prst="rect">
            <a:avLst/>
          </a:prstGeom>
          <a:noFill/>
        </p:spPr>
        <p:txBody>
          <a:bodyPr wrap="square">
            <a:spAutoFit/>
          </a:bodyPr>
          <a:lstStyle/>
          <a:p>
            <a:pPr>
              <a:spcAft>
                <a:spcPts val="1000"/>
              </a:spcAft>
            </a:pPr>
            <a:r>
              <a:rPr sz="1400">
                <a:solidFill>
                  <a:srgbClr val="161B26"/>
                </a:solidFill>
                <a:latin typeface="Arial"/>
              </a:rPr>
              <a:t>•  Rolling wave planning</a:t>
            </a:r>
          </a:p>
          <a:p>
            <a:pPr>
              <a:spcAft>
                <a:spcPts val="1000"/>
              </a:spcAft>
            </a:pPr>
            <a:r>
              <a:rPr sz="1200">
                <a:solidFill>
                  <a:srgbClr val="5B6372"/>
                </a:solidFill>
                <a:latin typeface="Arial"/>
              </a:rPr>
              <a:t>–  A form of progressive elaboration</a:t>
            </a:r>
          </a:p>
          <a:p>
            <a:pPr>
              <a:spcAft>
                <a:spcPts val="1000"/>
              </a:spcAft>
            </a:pPr>
            <a:r>
              <a:rPr sz="1200">
                <a:solidFill>
                  <a:srgbClr val="5B6372"/>
                </a:solidFill>
                <a:latin typeface="Arial"/>
              </a:rPr>
              <a:t>–  Plan near-term work in detail, later work at a high level</a:t>
            </a:r>
          </a:p>
          <a:p>
            <a:pPr>
              <a:spcAft>
                <a:spcPts val="1000"/>
              </a:spcAft>
            </a:pPr>
            <a:r>
              <a:rPr sz="1200">
                <a:solidFill>
                  <a:srgbClr val="5B6372"/>
                </a:solidFill>
                <a:latin typeface="Arial"/>
              </a:rPr>
              <a:t>–  Applied to work packages, planning packages and releases</a:t>
            </a:r>
          </a:p>
          <a:p>
            <a:pPr>
              <a:spcAft>
                <a:spcPts val="1000"/>
              </a:spcAft>
            </a:pPr>
            <a:r>
              <a:rPr sz="1200">
                <a:solidFill>
                  <a:srgbClr val="5B6372"/>
                </a:solidFill>
                <a:latin typeface="Arial"/>
              </a:rPr>
              <a:t>–  Used in both adaptive and predictive approaches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9509760" cy="548640"/>
          </a:xfrm>
          <a:prstGeom prst="rect">
            <a:avLst/>
          </a:prstGeom>
          <a:noFill/>
        </p:spPr>
        <p:txBody>
          <a:bodyPr wrap="square" anchor="t">
            <a:spAutoFit/>
          </a:bodyPr>
          <a:lstStyle/>
          <a:p>
            <a:pPr algn="l">
              <a:spcAft>
                <a:spcPts val="400"/>
              </a:spcAft>
            </a:pPr>
            <a:r>
              <a:rPr sz="1800" b="1">
                <a:solidFill>
                  <a:srgbClr val="1F6FEB"/>
                </a:solidFill>
                <a:latin typeface="Arial"/>
              </a:rPr>
              <a:t>STAKEHOLDERS</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3800" b="1">
                <a:solidFill>
                  <a:srgbClr val="161B26"/>
                </a:solidFill>
                <a:latin typeface="Arial"/>
              </a:rPr>
              <a:t>Identify and Engage Stakeholders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DEFINITION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Who is a Stakeholder?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a:solidFill>
                  <a:srgbClr val="161B26"/>
                </a:solidFill>
                <a:latin typeface="Arial"/>
              </a:rPr>
              <a:t>•  A stakeholder is anyone affected by your project — or who believes they are affected.</a:t>
            </a:r>
          </a:p>
          <a:p>
            <a:pPr>
              <a:spcAft>
                <a:spcPts val="1000"/>
              </a:spcAft>
            </a:pPr>
            <a:r>
              <a:rPr sz="1800">
                <a:solidFill>
                  <a:srgbClr val="161B26"/>
                </a:solidFill>
                <a:latin typeface="Arial"/>
              </a:rPr>
              <a:t>•  The outcome you want: productive relationships that ensure stakeholders support the project objectives.</a:t>
            </a:r>
          </a:p>
          <a:p>
            <a:pPr>
              <a:spcAft>
                <a:spcPts val="1000"/>
              </a:spcAft>
            </a:pPr>
            <a:r>
              <a:rPr sz="1800">
                <a:solidFill>
                  <a:srgbClr val="161B26"/>
                </a:solidFill>
                <a:latin typeface="Arial"/>
              </a:rPr>
              <a:t>•  The process: Identify → Analyse → Prioritise → Engage → Monitor.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WHO TO LOOK FOR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Project Stakeholders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9860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187634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187634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552297"/>
          </a:xfrm>
          <a:prstGeom prst="rect">
            <a:avLst/>
          </a:prstGeom>
          <a:noFill/>
        </p:spPr>
        <p:txBody>
          <a:bodyPr wrap="square" anchor="ctr">
            <a:spAutoFit/>
          </a:bodyPr>
          <a:lstStyle/>
          <a:p>
            <a:pPr algn="l">
              <a:spcAft>
                <a:spcPts val="400"/>
              </a:spcAft>
            </a:pPr>
            <a:r>
              <a:rPr sz="1500" b="0">
                <a:solidFill>
                  <a:srgbClr val="161B26"/>
                </a:solidFill>
                <a:latin typeface="Arial"/>
              </a:rPr>
              <a:t>End users</a:t>
            </a:r>
          </a:p>
        </p:txBody>
      </p:sp>
      <p:sp>
        <p:nvSpPr>
          <p:cNvPr id="12" name="Rectangle 11"/>
          <p:cNvSpPr/>
          <p:nvPr/>
        </p:nvSpPr>
        <p:spPr>
          <a:xfrm>
            <a:off x="6231636" y="1783080"/>
            <a:ext cx="5180076"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69860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187634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187634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552297"/>
          </a:xfrm>
          <a:prstGeom prst="rect">
            <a:avLst/>
          </a:prstGeom>
          <a:noFill/>
        </p:spPr>
        <p:txBody>
          <a:bodyPr wrap="square" anchor="ctr">
            <a:spAutoFit/>
          </a:bodyPr>
          <a:lstStyle/>
          <a:p>
            <a:pPr algn="l">
              <a:spcAft>
                <a:spcPts val="400"/>
              </a:spcAft>
            </a:pPr>
            <a:r>
              <a:rPr sz="1500" b="0">
                <a:solidFill>
                  <a:srgbClr val="161B26"/>
                </a:solidFill>
                <a:latin typeface="Arial"/>
              </a:rPr>
              <a:t>Customers</a:t>
            </a:r>
          </a:p>
        </p:txBody>
      </p:sp>
      <p:sp>
        <p:nvSpPr>
          <p:cNvPr id="17" name="Rectangle 16"/>
          <p:cNvSpPr/>
          <p:nvPr/>
        </p:nvSpPr>
        <p:spPr>
          <a:xfrm>
            <a:off x="777240" y="2701137"/>
            <a:ext cx="5180076"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701137"/>
            <a:ext cx="91440" cy="69860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2794405"/>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2794405"/>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2792577"/>
            <a:ext cx="4027932" cy="552297"/>
          </a:xfrm>
          <a:prstGeom prst="rect">
            <a:avLst/>
          </a:prstGeom>
          <a:noFill/>
        </p:spPr>
        <p:txBody>
          <a:bodyPr wrap="square" anchor="ctr">
            <a:spAutoFit/>
          </a:bodyPr>
          <a:lstStyle/>
          <a:p>
            <a:pPr algn="l">
              <a:spcAft>
                <a:spcPts val="400"/>
              </a:spcAft>
            </a:pPr>
            <a:r>
              <a:rPr sz="1500" b="0">
                <a:solidFill>
                  <a:srgbClr val="161B26"/>
                </a:solidFill>
                <a:latin typeface="Arial"/>
              </a:rPr>
              <a:t>Employees</a:t>
            </a:r>
          </a:p>
        </p:txBody>
      </p:sp>
      <p:sp>
        <p:nvSpPr>
          <p:cNvPr id="22" name="Rectangle 21"/>
          <p:cNvSpPr/>
          <p:nvPr/>
        </p:nvSpPr>
        <p:spPr>
          <a:xfrm>
            <a:off x="6231636" y="2701137"/>
            <a:ext cx="5180076"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701137"/>
            <a:ext cx="91440" cy="69860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2794405"/>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2794405"/>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2792577"/>
            <a:ext cx="4027932" cy="552297"/>
          </a:xfrm>
          <a:prstGeom prst="rect">
            <a:avLst/>
          </a:prstGeom>
          <a:noFill/>
        </p:spPr>
        <p:txBody>
          <a:bodyPr wrap="square" anchor="ctr">
            <a:spAutoFit/>
          </a:bodyPr>
          <a:lstStyle/>
          <a:p>
            <a:pPr algn="l">
              <a:spcAft>
                <a:spcPts val="400"/>
              </a:spcAft>
            </a:pPr>
            <a:r>
              <a:rPr sz="1500" b="0">
                <a:solidFill>
                  <a:srgbClr val="161B26"/>
                </a:solidFill>
                <a:latin typeface="Arial"/>
              </a:rPr>
              <a:t>The organisation itself</a:t>
            </a:r>
          </a:p>
        </p:txBody>
      </p:sp>
      <p:sp>
        <p:nvSpPr>
          <p:cNvPr id="27" name="Rectangle 26"/>
          <p:cNvSpPr/>
          <p:nvPr/>
        </p:nvSpPr>
        <p:spPr>
          <a:xfrm>
            <a:off x="777240" y="3619194"/>
            <a:ext cx="5180076"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3619194"/>
            <a:ext cx="91440" cy="69860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371246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371246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3710634"/>
            <a:ext cx="4027932" cy="552297"/>
          </a:xfrm>
          <a:prstGeom prst="rect">
            <a:avLst/>
          </a:prstGeom>
          <a:noFill/>
        </p:spPr>
        <p:txBody>
          <a:bodyPr wrap="square" anchor="ctr">
            <a:spAutoFit/>
          </a:bodyPr>
          <a:lstStyle/>
          <a:p>
            <a:pPr algn="l">
              <a:spcAft>
                <a:spcPts val="400"/>
              </a:spcAft>
            </a:pPr>
            <a:r>
              <a:rPr sz="1500" b="0">
                <a:solidFill>
                  <a:srgbClr val="161B26"/>
                </a:solidFill>
                <a:latin typeface="Arial"/>
              </a:rPr>
              <a:t>Managers</a:t>
            </a:r>
          </a:p>
        </p:txBody>
      </p:sp>
      <p:sp>
        <p:nvSpPr>
          <p:cNvPr id="32" name="Rectangle 31"/>
          <p:cNvSpPr/>
          <p:nvPr/>
        </p:nvSpPr>
        <p:spPr>
          <a:xfrm>
            <a:off x="6231636" y="3619194"/>
            <a:ext cx="5180076"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3619194"/>
            <a:ext cx="91440" cy="69860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371246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371246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3710634"/>
            <a:ext cx="4027932" cy="552297"/>
          </a:xfrm>
          <a:prstGeom prst="rect">
            <a:avLst/>
          </a:prstGeom>
          <a:noFill/>
        </p:spPr>
        <p:txBody>
          <a:bodyPr wrap="square" anchor="ctr">
            <a:spAutoFit/>
          </a:bodyPr>
          <a:lstStyle/>
          <a:p>
            <a:pPr algn="l">
              <a:spcAft>
                <a:spcPts val="400"/>
              </a:spcAft>
            </a:pPr>
            <a:r>
              <a:rPr sz="1500" b="0">
                <a:solidFill>
                  <a:srgbClr val="161B26"/>
                </a:solidFill>
                <a:latin typeface="Arial"/>
              </a:rPr>
              <a:t>Sponsors</a:t>
            </a:r>
          </a:p>
        </p:txBody>
      </p:sp>
      <p:sp>
        <p:nvSpPr>
          <p:cNvPr id="37" name="Rectangle 36"/>
          <p:cNvSpPr/>
          <p:nvPr/>
        </p:nvSpPr>
        <p:spPr>
          <a:xfrm>
            <a:off x="777240" y="4537251"/>
            <a:ext cx="5180076"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4537251"/>
            <a:ext cx="91440" cy="69860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14984" y="4630519"/>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14984" y="4630519"/>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1" name="TextBox 40"/>
          <p:cNvSpPr txBox="1"/>
          <p:nvPr/>
        </p:nvSpPr>
        <p:spPr>
          <a:xfrm>
            <a:off x="1709928" y="4628691"/>
            <a:ext cx="4027932" cy="552297"/>
          </a:xfrm>
          <a:prstGeom prst="rect">
            <a:avLst/>
          </a:prstGeom>
          <a:noFill/>
        </p:spPr>
        <p:txBody>
          <a:bodyPr wrap="square" anchor="ctr">
            <a:spAutoFit/>
          </a:bodyPr>
          <a:lstStyle/>
          <a:p>
            <a:pPr algn="l">
              <a:spcAft>
                <a:spcPts val="400"/>
              </a:spcAft>
            </a:pPr>
            <a:r>
              <a:rPr sz="1500" b="0">
                <a:solidFill>
                  <a:srgbClr val="161B26"/>
                </a:solidFill>
                <a:latin typeface="Arial"/>
              </a:rPr>
              <a:t>Business partners</a:t>
            </a:r>
          </a:p>
        </p:txBody>
      </p:sp>
      <p:sp>
        <p:nvSpPr>
          <p:cNvPr id="42" name="Rectangle 41"/>
          <p:cNvSpPr/>
          <p:nvPr/>
        </p:nvSpPr>
        <p:spPr>
          <a:xfrm>
            <a:off x="6231636" y="4537251"/>
            <a:ext cx="5180076"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4537251"/>
            <a:ext cx="91440" cy="69860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69380" y="4630519"/>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69380" y="4630519"/>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6" name="TextBox 45"/>
          <p:cNvSpPr txBox="1"/>
          <p:nvPr/>
        </p:nvSpPr>
        <p:spPr>
          <a:xfrm>
            <a:off x="7164324" y="4628691"/>
            <a:ext cx="4027932" cy="552297"/>
          </a:xfrm>
          <a:prstGeom prst="rect">
            <a:avLst/>
          </a:prstGeom>
          <a:noFill/>
        </p:spPr>
        <p:txBody>
          <a:bodyPr wrap="square" anchor="ctr">
            <a:spAutoFit/>
          </a:bodyPr>
          <a:lstStyle/>
          <a:p>
            <a:pPr algn="l">
              <a:spcAft>
                <a:spcPts val="400"/>
              </a:spcAft>
            </a:pPr>
            <a:r>
              <a:rPr sz="1500" b="0">
                <a:solidFill>
                  <a:srgbClr val="161B26"/>
                </a:solidFill>
                <a:latin typeface="Arial"/>
              </a:rPr>
              <a:t>Suppliers and contractors</a:t>
            </a:r>
          </a:p>
        </p:txBody>
      </p:sp>
      <p:sp>
        <p:nvSpPr>
          <p:cNvPr id="47" name="Rectangle 46"/>
          <p:cNvSpPr/>
          <p:nvPr/>
        </p:nvSpPr>
        <p:spPr>
          <a:xfrm>
            <a:off x="777240" y="5455308"/>
            <a:ext cx="5180076"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77240" y="5455308"/>
            <a:ext cx="91440" cy="69860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014984" y="5548576"/>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14984" y="554857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9</a:t>
            </a:r>
          </a:p>
        </p:txBody>
      </p:sp>
      <p:sp>
        <p:nvSpPr>
          <p:cNvPr id="51" name="TextBox 50"/>
          <p:cNvSpPr txBox="1"/>
          <p:nvPr/>
        </p:nvSpPr>
        <p:spPr>
          <a:xfrm>
            <a:off x="1709928" y="5546748"/>
            <a:ext cx="4027932" cy="552297"/>
          </a:xfrm>
          <a:prstGeom prst="rect">
            <a:avLst/>
          </a:prstGeom>
          <a:noFill/>
        </p:spPr>
        <p:txBody>
          <a:bodyPr wrap="square" anchor="ctr">
            <a:spAutoFit/>
          </a:bodyPr>
          <a:lstStyle/>
          <a:p>
            <a:pPr algn="l">
              <a:spcAft>
                <a:spcPts val="400"/>
              </a:spcAft>
            </a:pPr>
            <a:r>
              <a:rPr sz="1500" b="0">
                <a:solidFill>
                  <a:srgbClr val="161B26"/>
                </a:solidFill>
                <a:latin typeface="Arial"/>
              </a:rPr>
              <a:t>Government and regulators</a:t>
            </a:r>
          </a:p>
        </p:txBody>
      </p:sp>
      <p:sp>
        <p:nvSpPr>
          <p:cNvPr id="52" name="Rectangle 51"/>
          <p:cNvSpPr/>
          <p:nvPr/>
        </p:nvSpPr>
        <p:spPr>
          <a:xfrm>
            <a:off x="6231636" y="5455308"/>
            <a:ext cx="5180076"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231636" y="5455308"/>
            <a:ext cx="91440" cy="69860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6469380" y="554857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469380" y="554857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10</a:t>
            </a:r>
          </a:p>
        </p:txBody>
      </p:sp>
      <p:sp>
        <p:nvSpPr>
          <p:cNvPr id="56" name="TextBox 55"/>
          <p:cNvSpPr txBox="1"/>
          <p:nvPr/>
        </p:nvSpPr>
        <p:spPr>
          <a:xfrm>
            <a:off x="7164324" y="5546748"/>
            <a:ext cx="4027932" cy="552297"/>
          </a:xfrm>
          <a:prstGeom prst="rect">
            <a:avLst/>
          </a:prstGeom>
          <a:noFill/>
        </p:spPr>
        <p:txBody>
          <a:bodyPr wrap="square" anchor="ctr">
            <a:spAutoFit/>
          </a:bodyPr>
          <a:lstStyle/>
          <a:p>
            <a:pPr algn="l">
              <a:spcAft>
                <a:spcPts val="400"/>
              </a:spcAft>
            </a:pPr>
            <a:r>
              <a:rPr sz="1500" b="0">
                <a:solidFill>
                  <a:srgbClr val="161B26"/>
                </a:solidFill>
                <a:latin typeface="Arial"/>
              </a:rPr>
              <a:t>The community</a:t>
            </a:r>
          </a:p>
        </p:txBody>
      </p:sp>
      <p:sp>
        <p:nvSpPr>
          <p:cNvPr id="57" name="TextBox 5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58" name="TextBox 5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9" name="TextBox 5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 RECORD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Stakeholder Register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146048"/>
          </a:xfrm>
          <a:prstGeom prst="rect">
            <a:avLst/>
          </a:prstGeom>
          <a:noFill/>
        </p:spPr>
        <p:txBody>
          <a:bodyPr wrap="square" anchor="ctr">
            <a:spAutoFit/>
          </a:bodyPr>
          <a:lstStyle/>
          <a:p>
            <a:pPr algn="l">
              <a:spcAft>
                <a:spcPts val="300"/>
              </a:spcAft>
            </a:pPr>
            <a:r>
              <a:rPr sz="1500" b="1">
                <a:solidFill>
                  <a:srgbClr val="161B26"/>
                </a:solidFill>
                <a:latin typeface="Arial"/>
              </a:rPr>
              <a:t>Name</a:t>
            </a:r>
          </a:p>
          <a:p>
            <a:pPr algn="l">
              <a:spcAft>
                <a:spcPts val="300"/>
              </a:spcAft>
            </a:pPr>
            <a:r>
              <a:rPr sz="1100" b="0">
                <a:solidFill>
                  <a:srgbClr val="5B6372"/>
                </a:solidFill>
                <a:latin typeface="Arial"/>
              </a:rPr>
              <a:t>Who they are.</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146048"/>
          </a:xfrm>
          <a:prstGeom prst="rect">
            <a:avLst/>
          </a:prstGeom>
          <a:noFill/>
        </p:spPr>
        <p:txBody>
          <a:bodyPr wrap="square" anchor="ctr">
            <a:spAutoFit/>
          </a:bodyPr>
          <a:lstStyle/>
          <a:p>
            <a:pPr algn="l">
              <a:spcAft>
                <a:spcPts val="300"/>
              </a:spcAft>
            </a:pPr>
            <a:r>
              <a:rPr sz="1500" b="1">
                <a:solidFill>
                  <a:srgbClr val="161B26"/>
                </a:solidFill>
                <a:latin typeface="Arial"/>
              </a:rPr>
              <a:t>Role</a:t>
            </a:r>
          </a:p>
          <a:p>
            <a:pPr algn="l">
              <a:spcAft>
                <a:spcPts val="300"/>
              </a:spcAft>
            </a:pPr>
            <a:r>
              <a:rPr sz="1100" b="0">
                <a:solidFill>
                  <a:srgbClr val="5B6372"/>
                </a:solidFill>
                <a:latin typeface="Arial"/>
              </a:rPr>
              <a:t>Their role on or around the project.</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22904"/>
            <a:ext cx="4027932" cy="1146048"/>
          </a:xfrm>
          <a:prstGeom prst="rect">
            <a:avLst/>
          </a:prstGeom>
          <a:noFill/>
        </p:spPr>
        <p:txBody>
          <a:bodyPr wrap="square" anchor="ctr">
            <a:spAutoFit/>
          </a:bodyPr>
          <a:lstStyle/>
          <a:p>
            <a:pPr algn="l">
              <a:spcAft>
                <a:spcPts val="300"/>
              </a:spcAft>
            </a:pPr>
            <a:r>
              <a:rPr sz="1500" b="1">
                <a:solidFill>
                  <a:srgbClr val="161B26"/>
                </a:solidFill>
                <a:latin typeface="Arial"/>
              </a:rPr>
              <a:t>Power / Interest / Influence</a:t>
            </a:r>
          </a:p>
          <a:p>
            <a:pPr algn="l">
              <a:spcAft>
                <a:spcPts val="300"/>
              </a:spcAft>
            </a:pPr>
            <a:r>
              <a:rPr sz="1100" b="0">
                <a:solidFill>
                  <a:srgbClr val="5B6372"/>
                </a:solidFill>
                <a:latin typeface="Arial"/>
              </a:rPr>
              <a:t>How much they can affect the project, and how much they care.</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22904"/>
            <a:ext cx="4027932" cy="1146048"/>
          </a:xfrm>
          <a:prstGeom prst="rect">
            <a:avLst/>
          </a:prstGeom>
          <a:noFill/>
        </p:spPr>
        <p:txBody>
          <a:bodyPr wrap="square" anchor="ctr">
            <a:spAutoFit/>
          </a:bodyPr>
          <a:lstStyle/>
          <a:p>
            <a:pPr algn="l">
              <a:spcAft>
                <a:spcPts val="300"/>
              </a:spcAft>
            </a:pPr>
            <a:r>
              <a:rPr sz="1500" b="1">
                <a:solidFill>
                  <a:srgbClr val="161B26"/>
                </a:solidFill>
                <a:latin typeface="Arial"/>
              </a:rPr>
              <a:t>Expectations and needs</a:t>
            </a:r>
          </a:p>
          <a:p>
            <a:pPr algn="l">
              <a:spcAft>
                <a:spcPts val="300"/>
              </a:spcAft>
            </a:pPr>
            <a:r>
              <a:rPr sz="1100" b="0">
                <a:solidFill>
                  <a:srgbClr val="5B6372"/>
                </a:solidFill>
                <a:latin typeface="Arial"/>
              </a:rPr>
              <a:t>What they want from the project.</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53000"/>
            <a:ext cx="4027932" cy="1146048"/>
          </a:xfrm>
          <a:prstGeom prst="rect">
            <a:avLst/>
          </a:prstGeom>
          <a:noFill/>
        </p:spPr>
        <p:txBody>
          <a:bodyPr wrap="square" anchor="ctr">
            <a:spAutoFit/>
          </a:bodyPr>
          <a:lstStyle/>
          <a:p>
            <a:pPr algn="l">
              <a:spcAft>
                <a:spcPts val="300"/>
              </a:spcAft>
            </a:pPr>
            <a:r>
              <a:rPr sz="1500" b="1">
                <a:solidFill>
                  <a:srgbClr val="161B26"/>
                </a:solidFill>
                <a:latin typeface="Arial"/>
              </a:rPr>
              <a:t>Communication requirements</a:t>
            </a:r>
          </a:p>
          <a:p>
            <a:pPr algn="l">
              <a:spcAft>
                <a:spcPts val="300"/>
              </a:spcAft>
            </a:pPr>
            <a:r>
              <a:rPr sz="1100" b="0">
                <a:solidFill>
                  <a:srgbClr val="5B6372"/>
                </a:solidFill>
                <a:latin typeface="Arial"/>
              </a:rPr>
              <a:t>What they need to know, how and how often.</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53000"/>
            <a:ext cx="4027932" cy="1146048"/>
          </a:xfrm>
          <a:prstGeom prst="rect">
            <a:avLst/>
          </a:prstGeom>
          <a:noFill/>
        </p:spPr>
        <p:txBody>
          <a:bodyPr wrap="square" anchor="ctr">
            <a:spAutoFit/>
          </a:bodyPr>
          <a:lstStyle/>
          <a:p>
            <a:pPr algn="l">
              <a:spcAft>
                <a:spcPts val="300"/>
              </a:spcAft>
            </a:pPr>
            <a:r>
              <a:rPr sz="1500" b="1">
                <a:solidFill>
                  <a:srgbClr val="161B26"/>
                </a:solidFill>
                <a:latin typeface="Arial"/>
              </a:rPr>
              <a:t>Engagement level</a:t>
            </a:r>
          </a:p>
          <a:p>
            <a:pPr algn="l">
              <a:spcAft>
                <a:spcPts val="300"/>
              </a:spcAft>
            </a:pPr>
            <a:r>
              <a:rPr sz="1100" b="0">
                <a:solidFill>
                  <a:srgbClr val="5B6372"/>
                </a:solidFill>
                <a:latin typeface="Arial"/>
              </a:rPr>
              <a:t>Unaware, Resistant, Neutral, Supportive or Leading.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FOUR REPRESENTATIONS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Analysing Stakeholders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2D grids</a:t>
            </a:r>
          </a:p>
          <a:p>
            <a:pPr algn="l">
              <a:spcAft>
                <a:spcPts val="300"/>
              </a:spcAft>
            </a:pPr>
            <a:r>
              <a:rPr sz="1200" b="0">
                <a:solidFill>
                  <a:srgbClr val="5B6372"/>
                </a:solidFill>
                <a:latin typeface="Arial"/>
              </a:rPr>
              <a:t>Power/Interest, Power/Influence, Impact/Influence.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3D grid</a:t>
            </a:r>
          </a:p>
          <a:p>
            <a:pPr algn="l">
              <a:spcAft>
                <a:spcPts val="300"/>
              </a:spcAft>
            </a:pPr>
            <a:r>
              <a:rPr sz="1200" b="0">
                <a:solidFill>
                  <a:srgbClr val="5B6372"/>
                </a:solidFill>
                <a:latin typeface="Arial"/>
              </a:rPr>
              <a:t>The stakeholder 'cube'.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Salience model</a:t>
            </a:r>
          </a:p>
          <a:p>
            <a:pPr algn="l">
              <a:spcAft>
                <a:spcPts val="300"/>
              </a:spcAft>
            </a:pPr>
            <a:r>
              <a:rPr sz="1200" b="0">
                <a:solidFill>
                  <a:srgbClr val="5B6372"/>
                </a:solidFill>
                <a:latin typeface="Arial"/>
              </a:rPr>
              <a:t>Power, Legitimacy and Urgency combined.</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Directions of influence</a:t>
            </a:r>
          </a:p>
          <a:p>
            <a:pPr algn="l">
              <a:spcAft>
                <a:spcPts val="300"/>
              </a:spcAft>
            </a:pPr>
            <a:r>
              <a:rPr sz="1200" b="0">
                <a:solidFill>
                  <a:srgbClr val="5B6372"/>
                </a:solidFill>
                <a:latin typeface="Arial"/>
              </a:rPr>
              <a:t>Upward, Downward, Sideward, Outward.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WHO YOU MUST INFLUENCE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Directions of Influence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Upward</a:t>
            </a:r>
          </a:p>
          <a:p>
            <a:pPr algn="l">
              <a:spcAft>
                <a:spcPts val="300"/>
              </a:spcAft>
            </a:pPr>
            <a:r>
              <a:rPr sz="1200" b="0">
                <a:solidFill>
                  <a:srgbClr val="5B6372"/>
                </a:solidFill>
                <a:latin typeface="Arial"/>
              </a:rPr>
              <a:t>Senior management, the sponsor, the steering committee.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Downward</a:t>
            </a:r>
          </a:p>
          <a:p>
            <a:pPr algn="l">
              <a:spcAft>
                <a:spcPts val="300"/>
              </a:spcAft>
            </a:pPr>
            <a:r>
              <a:rPr sz="1200" b="0">
                <a:solidFill>
                  <a:srgbClr val="5B6372"/>
                </a:solidFill>
                <a:latin typeface="Arial"/>
              </a:rPr>
              <a:t>The project team and specialists providing knowledge and skills.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Sideward</a:t>
            </a:r>
          </a:p>
          <a:p>
            <a:pPr algn="l">
              <a:spcAft>
                <a:spcPts val="300"/>
              </a:spcAft>
            </a:pPr>
            <a:r>
              <a:rPr sz="1200" b="0">
                <a:solidFill>
                  <a:srgbClr val="5B6372"/>
                </a:solidFill>
                <a:latin typeface="Arial"/>
              </a:rPr>
              <a:t>Peers of the PM — other managers competing for the same resources.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Outward</a:t>
            </a:r>
          </a:p>
          <a:p>
            <a:pPr algn="l">
              <a:spcAft>
                <a:spcPts val="300"/>
              </a:spcAft>
            </a:pPr>
            <a:r>
              <a:rPr sz="1200" b="0">
                <a:solidFill>
                  <a:srgbClr val="5B6372"/>
                </a:solidFill>
                <a:latin typeface="Arial"/>
              </a:rPr>
              <a:t>Suppliers, users, government departments and the public.</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ACTIVITY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Identify and Map Stakeholders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4</a:t>
            </a:r>
          </a:p>
        </p:txBody>
      </p:sp>
      <p:sp>
        <p:nvSpPr>
          <p:cNvPr id="9" name="TextBox 8"/>
          <p:cNvSpPr txBox="1"/>
          <p:nvPr/>
        </p:nvSpPr>
        <p:spPr>
          <a:xfrm>
            <a:off x="777240" y="2331720"/>
            <a:ext cx="10698480" cy="1554480"/>
          </a:xfrm>
          <a:prstGeom prst="rect">
            <a:avLst/>
          </a:prstGeom>
          <a:noFill/>
        </p:spPr>
        <p:txBody>
          <a:bodyPr wrap="square" anchor="t">
            <a:spAutoFit/>
          </a:bodyPr>
          <a:lstStyle/>
          <a:p>
            <a:pPr algn="l">
              <a:spcAft>
                <a:spcPts val="400"/>
              </a:spcAft>
            </a:pPr>
            <a:r>
              <a:rPr sz="1900" b="0">
                <a:solidFill>
                  <a:srgbClr val="161B26"/>
                </a:solidFill>
                <a:latin typeface="Arial"/>
              </a:rPr>
              <a:t>Projects fail on stakeholders more often than on technology. You will use GenAI to generate a stakeholder register, then map power against interest and decide an engagement strategy for each.</a:t>
            </a:r>
          </a:p>
        </p:txBody>
      </p:sp>
      <p:sp>
        <p:nvSpPr>
          <p:cNvPr id="10" name="Rectangle 9"/>
          <p:cNvSpPr/>
          <p:nvPr/>
        </p:nvSpPr>
        <p:spPr>
          <a:xfrm>
            <a:off x="777240" y="3977639"/>
            <a:ext cx="10634472" cy="17830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60520"/>
            <a:ext cx="10058400" cy="365760"/>
          </a:xfrm>
          <a:prstGeom prst="rect">
            <a:avLst/>
          </a:prstGeom>
          <a:noFill/>
        </p:spPr>
        <p:txBody>
          <a:bodyPr wrap="square" anchor="t">
            <a:spAutoFit/>
          </a:bodyPr>
          <a:lstStyle/>
          <a:p>
            <a:pPr algn="l">
              <a:spcAft>
                <a:spcPts val="400"/>
              </a:spcAft>
            </a:pPr>
            <a:r>
              <a:rPr sz="1300" b="1">
                <a:solidFill>
                  <a:srgbClr val="127A3E"/>
                </a:solidFill>
                <a:latin typeface="Arial"/>
              </a:rPr>
              <a:t>You'll produce</a:t>
            </a:r>
          </a:p>
        </p:txBody>
      </p:sp>
      <p:sp>
        <p:nvSpPr>
          <p:cNvPr id="12" name="TextBox 11"/>
          <p:cNvSpPr txBox="1"/>
          <p:nvPr/>
        </p:nvSpPr>
        <p:spPr>
          <a:xfrm>
            <a:off x="1005840" y="4498848"/>
            <a:ext cx="10149840" cy="685800"/>
          </a:xfrm>
          <a:prstGeom prst="rect">
            <a:avLst/>
          </a:prstGeom>
          <a:noFill/>
        </p:spPr>
        <p:txBody>
          <a:bodyPr wrap="square" anchor="t">
            <a:spAutoFit/>
          </a:bodyPr>
          <a:lstStyle/>
          <a:p>
            <a:pPr algn="l">
              <a:spcAft>
                <a:spcPts val="400"/>
              </a:spcAft>
            </a:pPr>
            <a:r>
              <a:rPr sz="1700" b="1">
                <a:solidFill>
                  <a:srgbClr val="161B26"/>
                </a:solidFill>
                <a:latin typeface="Arial"/>
              </a:rPr>
              <a:t>A stakeholder register, a power/interest map and a Stakeholder Engagement Assessment Matrix.</a:t>
            </a:r>
          </a:p>
        </p:txBody>
      </p:sp>
      <p:sp>
        <p:nvSpPr>
          <p:cNvPr id="13" name="TextBox 12"/>
          <p:cNvSpPr txBox="1"/>
          <p:nvPr/>
        </p:nvSpPr>
        <p:spPr>
          <a:xfrm>
            <a:off x="1005840" y="5257800"/>
            <a:ext cx="10241280" cy="4572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GenAI tool · Stakeholder Impact Over Influence Matrix.xlsx · Salience Model Template.pptx · Stakeholder Engagement Assessment Matrix.xlsx</a:t>
            </a:r>
          </a:p>
        </p:txBody>
      </p:sp>
      <p:sp>
        <p:nvSpPr>
          <p:cNvPr id="14" name="TextBox 13"/>
          <p:cNvSpPr txBox="1"/>
          <p:nvPr/>
        </p:nvSpPr>
        <p:spPr>
          <a:xfrm>
            <a:off x="777240" y="5897880"/>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Step-by-step instructions: see your Learner Guide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01 · ACTIVITY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Identify and Map Stakeholders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4</a:t>
            </a:r>
          </a:p>
        </p:txBody>
      </p:sp>
      <p:sp>
        <p:nvSpPr>
          <p:cNvPr id="9" name="TextBox 8"/>
          <p:cNvSpPr txBox="1"/>
          <p:nvPr/>
        </p:nvSpPr>
        <p:spPr>
          <a:xfrm>
            <a:off x="777240" y="2286000"/>
            <a:ext cx="10607040" cy="365760"/>
          </a:xfrm>
          <a:prstGeom prst="rect">
            <a:avLst/>
          </a:prstGeom>
          <a:noFill/>
        </p:spPr>
        <p:txBody>
          <a:bodyPr wrap="square" anchor="t">
            <a:spAutoFit/>
          </a:bodyPr>
          <a:lstStyle/>
          <a:p>
            <a:pPr algn="l">
              <a:spcAft>
                <a:spcPts val="400"/>
              </a:spcAft>
            </a:pPr>
            <a:r>
              <a:rPr sz="1200" b="1">
                <a:solidFill>
                  <a:srgbClr val="7C3AED"/>
                </a:solidFill>
                <a:latin typeface="Arial"/>
              </a:rPr>
              <a:t>PROMPT GenAI WITH</a:t>
            </a:r>
          </a:p>
        </p:txBody>
      </p:sp>
      <p:sp>
        <p:nvSpPr>
          <p:cNvPr id="10" name="Rectangle 9"/>
          <p:cNvSpPr/>
          <p:nvPr/>
        </p:nvSpPr>
        <p:spPr>
          <a:xfrm>
            <a:off x="777240" y="2651760"/>
            <a:ext cx="10634472" cy="19659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88920"/>
            <a:ext cx="10104120" cy="1691640"/>
          </a:xfrm>
          <a:prstGeom prst="rect">
            <a:avLst/>
          </a:prstGeom>
          <a:noFill/>
        </p:spPr>
        <p:txBody>
          <a:bodyPr wrap="square" anchor="ctr">
            <a:spAutoFit/>
          </a:bodyPr>
          <a:lstStyle/>
          <a:p>
            <a:pPr algn="l">
              <a:spcAft>
                <a:spcPts val="400"/>
              </a:spcAft>
            </a:pPr>
            <a:r>
              <a:rPr sz="1600" b="0">
                <a:solidFill>
                  <a:srgbClr val="D6E4FF"/>
                </a:solidFill>
                <a:latin typeface="Arial"/>
              </a:rPr>
              <a:t>Identify potential stakeholders and their influence and interest levels for a new city-wide bike-sharing system. Explain the evidence needed to validate each rating.</a:t>
            </a:r>
          </a:p>
        </p:txBody>
      </p:sp>
      <p:sp>
        <p:nvSpPr>
          <p:cNvPr id="12" name="Rectangle 11"/>
          <p:cNvSpPr/>
          <p:nvPr/>
        </p:nvSpPr>
        <p:spPr>
          <a:xfrm>
            <a:off x="777240" y="4800600"/>
            <a:ext cx="10634472" cy="1051560"/>
          </a:xfrm>
          <a:prstGeom prst="rect">
            <a:avLst/>
          </a:prstGeom>
          <a:solidFill>
            <a:srgbClr val="FFF4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4919472"/>
            <a:ext cx="10149840" cy="320040"/>
          </a:xfrm>
          <a:prstGeom prst="rect">
            <a:avLst/>
          </a:prstGeom>
          <a:noFill/>
        </p:spPr>
        <p:txBody>
          <a:bodyPr wrap="square" anchor="t">
            <a:spAutoFit/>
          </a:bodyPr>
          <a:lstStyle/>
          <a:p>
            <a:pPr algn="l">
              <a:spcAft>
                <a:spcPts val="400"/>
              </a:spcAft>
            </a:pPr>
            <a:r>
              <a:rPr sz="1200" b="1">
                <a:solidFill>
                  <a:srgbClr val="F59E0B"/>
                </a:solidFill>
                <a:latin typeface="Arial"/>
              </a:rPr>
              <a:t>⚠  THEN CHECK IT</a:t>
            </a:r>
          </a:p>
        </p:txBody>
      </p:sp>
      <p:sp>
        <p:nvSpPr>
          <p:cNvPr id="14" name="TextBox 13"/>
          <p:cNvSpPr txBox="1"/>
          <p:nvPr/>
        </p:nvSpPr>
        <p:spPr>
          <a:xfrm>
            <a:off x="1051560" y="5230368"/>
            <a:ext cx="10149840" cy="548640"/>
          </a:xfrm>
          <a:prstGeom prst="rect">
            <a:avLst/>
          </a:prstGeom>
          <a:noFill/>
        </p:spPr>
        <p:txBody>
          <a:bodyPr wrap="square" anchor="t">
            <a:spAutoFit/>
          </a:bodyPr>
          <a:lstStyle/>
          <a:p>
            <a:pPr algn="l">
              <a:spcAft>
                <a:spcPts val="400"/>
              </a:spcAft>
            </a:pPr>
            <a:r>
              <a:rPr sz="1400" b="0">
                <a:solidFill>
                  <a:srgbClr val="161B26"/>
                </a:solidFill>
                <a:latin typeface="Arial"/>
              </a:rPr>
              <a:t>GenAI gives you a fast first draft. Check every figure, source and assumption before you use it.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CHECK YOUR 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Identify and Map Stakeholders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34472"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9" name="TextBox 8"/>
          <p:cNvSpPr txBox="1"/>
          <p:nvPr/>
        </p:nvSpPr>
        <p:spPr>
          <a:xfrm>
            <a:off x="1097280" y="3017520"/>
            <a:ext cx="9966960" cy="1280160"/>
          </a:xfrm>
          <a:prstGeom prst="rect">
            <a:avLst/>
          </a:prstGeom>
          <a:noFill/>
        </p:spPr>
        <p:txBody>
          <a:bodyPr wrap="square" anchor="t">
            <a:spAutoFit/>
          </a:bodyPr>
          <a:lstStyle/>
          <a:p>
            <a:pPr algn="l">
              <a:spcAft>
                <a:spcPts val="400"/>
              </a:spcAft>
            </a:pPr>
            <a:r>
              <a:rPr sz="1700" b="0">
                <a:solidFill>
                  <a:srgbClr val="161B26"/>
                </a:solidFill>
                <a:latin typeface="Arial"/>
              </a:rPr>
              <a:t>Every stakeholder has a quadrant, a salience category, a current and desired engagement level, and one named action to close the gap.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MARK C FOR CURRENT, D FOR DESIRED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Stakeholder Engagement Assessment Matrix (SEAM)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9860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187634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187634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9482328" cy="534009"/>
          </a:xfrm>
          <a:prstGeom prst="rect">
            <a:avLst/>
          </a:prstGeom>
          <a:noFill/>
        </p:spPr>
        <p:txBody>
          <a:bodyPr wrap="square" anchor="ctr">
            <a:spAutoFit/>
          </a:bodyPr>
          <a:lstStyle/>
          <a:p>
            <a:pPr algn="l">
              <a:spcAft>
                <a:spcPts val="300"/>
              </a:spcAft>
            </a:pPr>
            <a:r>
              <a:rPr sz="1500" b="1">
                <a:solidFill>
                  <a:srgbClr val="161B26"/>
                </a:solidFill>
                <a:latin typeface="Arial"/>
              </a:rPr>
              <a:t>Unaware</a:t>
            </a:r>
          </a:p>
          <a:p>
            <a:pPr algn="l">
              <a:spcAft>
                <a:spcPts val="300"/>
              </a:spcAft>
            </a:pPr>
            <a:r>
              <a:rPr sz="1100" b="0">
                <a:solidFill>
                  <a:srgbClr val="5B6372"/>
                </a:solidFill>
                <a:latin typeface="Arial"/>
              </a:rPr>
              <a:t>Does not know the project exists or its potential impact.</a:t>
            </a:r>
          </a:p>
        </p:txBody>
      </p:sp>
      <p:sp>
        <p:nvSpPr>
          <p:cNvPr id="12" name="Rectangle 11"/>
          <p:cNvSpPr/>
          <p:nvPr/>
        </p:nvSpPr>
        <p:spPr>
          <a:xfrm>
            <a:off x="777240" y="2701137"/>
            <a:ext cx="10634472"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1137"/>
            <a:ext cx="91440" cy="69860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14984" y="2794405"/>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4" y="2794405"/>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1709928" y="2810865"/>
            <a:ext cx="9482328" cy="534009"/>
          </a:xfrm>
          <a:prstGeom prst="rect">
            <a:avLst/>
          </a:prstGeom>
          <a:noFill/>
        </p:spPr>
        <p:txBody>
          <a:bodyPr wrap="square" anchor="ctr">
            <a:spAutoFit/>
          </a:bodyPr>
          <a:lstStyle/>
          <a:p>
            <a:pPr algn="l">
              <a:spcAft>
                <a:spcPts val="300"/>
              </a:spcAft>
            </a:pPr>
            <a:r>
              <a:rPr sz="1500" b="1">
                <a:solidFill>
                  <a:srgbClr val="161B26"/>
                </a:solidFill>
                <a:latin typeface="Arial"/>
              </a:rPr>
              <a:t>Resistant</a:t>
            </a:r>
          </a:p>
          <a:p>
            <a:pPr algn="l">
              <a:spcAft>
                <a:spcPts val="300"/>
              </a:spcAft>
            </a:pPr>
            <a:r>
              <a:rPr sz="1100" b="0">
                <a:solidFill>
                  <a:srgbClr val="5B6372"/>
                </a:solidFill>
                <a:latin typeface="Arial"/>
              </a:rPr>
              <a:t>Aware, and opposed to the change.</a:t>
            </a:r>
          </a:p>
        </p:txBody>
      </p:sp>
      <p:sp>
        <p:nvSpPr>
          <p:cNvPr id="17" name="Rectangle 16"/>
          <p:cNvSpPr/>
          <p:nvPr/>
        </p:nvSpPr>
        <p:spPr>
          <a:xfrm>
            <a:off x="777240" y="3619194"/>
            <a:ext cx="10634472"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19194"/>
            <a:ext cx="91440" cy="69860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2"/>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728922"/>
            <a:ext cx="9482328" cy="534009"/>
          </a:xfrm>
          <a:prstGeom prst="rect">
            <a:avLst/>
          </a:prstGeom>
          <a:noFill/>
        </p:spPr>
        <p:txBody>
          <a:bodyPr wrap="square" anchor="ctr">
            <a:spAutoFit/>
          </a:bodyPr>
          <a:lstStyle/>
          <a:p>
            <a:pPr algn="l">
              <a:spcAft>
                <a:spcPts val="300"/>
              </a:spcAft>
            </a:pPr>
            <a:r>
              <a:rPr sz="1500" b="1">
                <a:solidFill>
                  <a:srgbClr val="161B26"/>
                </a:solidFill>
                <a:latin typeface="Arial"/>
              </a:rPr>
              <a:t>Neutral</a:t>
            </a:r>
          </a:p>
          <a:p>
            <a:pPr algn="l">
              <a:spcAft>
                <a:spcPts val="300"/>
              </a:spcAft>
            </a:pPr>
            <a:r>
              <a:rPr sz="1100" b="0">
                <a:solidFill>
                  <a:srgbClr val="5B6372"/>
                </a:solidFill>
                <a:latin typeface="Arial"/>
              </a:rPr>
              <a:t>Aware, but neither supportive nor resistant.</a:t>
            </a:r>
          </a:p>
        </p:txBody>
      </p:sp>
      <p:sp>
        <p:nvSpPr>
          <p:cNvPr id="22" name="Rectangle 21"/>
          <p:cNvSpPr/>
          <p:nvPr/>
        </p:nvSpPr>
        <p:spPr>
          <a:xfrm>
            <a:off x="777240" y="4537251"/>
            <a:ext cx="10634472"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37251"/>
            <a:ext cx="91440" cy="69860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14984" y="4630519"/>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4984" y="4630519"/>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1709928" y="4646979"/>
            <a:ext cx="9482328" cy="534009"/>
          </a:xfrm>
          <a:prstGeom prst="rect">
            <a:avLst/>
          </a:prstGeom>
          <a:noFill/>
        </p:spPr>
        <p:txBody>
          <a:bodyPr wrap="square" anchor="ctr">
            <a:spAutoFit/>
          </a:bodyPr>
          <a:lstStyle/>
          <a:p>
            <a:pPr algn="l">
              <a:spcAft>
                <a:spcPts val="300"/>
              </a:spcAft>
            </a:pPr>
            <a:r>
              <a:rPr sz="1500" b="1">
                <a:solidFill>
                  <a:srgbClr val="161B26"/>
                </a:solidFill>
                <a:latin typeface="Arial"/>
              </a:rPr>
              <a:t>Supportive</a:t>
            </a:r>
          </a:p>
          <a:p>
            <a:pPr algn="l">
              <a:spcAft>
                <a:spcPts val="300"/>
              </a:spcAft>
            </a:pPr>
            <a:r>
              <a:rPr sz="1100" b="0">
                <a:solidFill>
                  <a:srgbClr val="5B6372"/>
                </a:solidFill>
                <a:latin typeface="Arial"/>
              </a:rPr>
              <a:t>Aware and supportive of the change.</a:t>
            </a:r>
          </a:p>
        </p:txBody>
      </p:sp>
      <p:sp>
        <p:nvSpPr>
          <p:cNvPr id="27" name="Rectangle 26"/>
          <p:cNvSpPr/>
          <p:nvPr/>
        </p:nvSpPr>
        <p:spPr>
          <a:xfrm>
            <a:off x="777240" y="5455308"/>
            <a:ext cx="10634472"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55308"/>
            <a:ext cx="91440" cy="69860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548576"/>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54857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5565036"/>
            <a:ext cx="9482328" cy="534009"/>
          </a:xfrm>
          <a:prstGeom prst="rect">
            <a:avLst/>
          </a:prstGeom>
          <a:noFill/>
        </p:spPr>
        <p:txBody>
          <a:bodyPr wrap="square" anchor="ctr">
            <a:spAutoFit/>
          </a:bodyPr>
          <a:lstStyle/>
          <a:p>
            <a:pPr algn="l">
              <a:spcAft>
                <a:spcPts val="300"/>
              </a:spcAft>
            </a:pPr>
            <a:r>
              <a:rPr sz="1500" b="1">
                <a:solidFill>
                  <a:srgbClr val="161B26"/>
                </a:solidFill>
                <a:latin typeface="Arial"/>
              </a:rPr>
              <a:t>Leading</a:t>
            </a:r>
          </a:p>
          <a:p>
            <a:pPr algn="l">
              <a:spcAft>
                <a:spcPts val="300"/>
              </a:spcAft>
            </a:pPr>
            <a:r>
              <a:rPr sz="1100" b="0">
                <a:solidFill>
                  <a:srgbClr val="5B6372"/>
                </a:solidFill>
                <a:latin typeface="Arial"/>
              </a:rPr>
              <a:t>Actively engaged in making the project succeed.</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WHO DOES WHAT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Allocating Responsibilities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Responsibility Assignment Matrix</a:t>
            </a:r>
          </a:p>
          <a:p>
            <a:pPr algn="l">
              <a:spcAft>
                <a:spcPts val="300"/>
              </a:spcAft>
            </a:pPr>
            <a:r>
              <a:rPr sz="1100" b="0">
                <a:solidFill>
                  <a:srgbClr val="5B6372"/>
                </a:solidFill>
                <a:latin typeface="Arial"/>
              </a:rPr>
              <a:t>Shows which team members are responsible for which work packages — most commonly a RACI.</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Team Charter</a:t>
            </a:r>
          </a:p>
          <a:p>
            <a:pPr algn="l">
              <a:spcAft>
                <a:spcPts val="300"/>
              </a:spcAft>
            </a:pPr>
            <a:r>
              <a:rPr sz="1100" b="0">
                <a:solidFill>
                  <a:srgbClr val="5B6372"/>
                </a:solidFill>
                <a:latin typeface="Arial"/>
              </a:rPr>
              <a:t>Created with the team; establishes values, agreements and operating guidelines.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87952"/>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Resource Breakdown Structure</a:t>
            </a:r>
          </a:p>
          <a:p>
            <a:pPr algn="l">
              <a:spcAft>
                <a:spcPts val="300"/>
              </a:spcAft>
            </a:pPr>
            <a:r>
              <a:rPr sz="1100" b="0">
                <a:solidFill>
                  <a:srgbClr val="5B6372"/>
                </a:solidFill>
                <a:latin typeface="Arial"/>
              </a:rPr>
              <a:t>An organisational breakdown of the team showing where everyone fits.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87952"/>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Resource Calendars</a:t>
            </a:r>
          </a:p>
          <a:p>
            <a:pPr algn="l">
              <a:spcAft>
                <a:spcPts val="300"/>
              </a:spcAft>
            </a:pPr>
            <a:r>
              <a:rPr sz="1100" b="0">
                <a:solidFill>
                  <a:srgbClr val="5B6372"/>
                </a:solidFill>
                <a:latin typeface="Arial"/>
              </a:rPr>
              <a:t>Show when each resource is actually available, including leave and holidays.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ACTIVITY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Assign Responsibilities with the RACI Ed-Tool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5</a:t>
            </a:r>
          </a:p>
        </p:txBody>
      </p:sp>
      <p:sp>
        <p:nvSpPr>
          <p:cNvPr id="9" name="TextBox 8"/>
          <p:cNvSpPr txBox="1"/>
          <p:nvPr/>
        </p:nvSpPr>
        <p:spPr>
          <a:xfrm>
            <a:off x="777240" y="2331720"/>
            <a:ext cx="10698480" cy="1554480"/>
          </a:xfrm>
          <a:prstGeom prst="rect">
            <a:avLst/>
          </a:prstGeom>
          <a:noFill/>
        </p:spPr>
        <p:txBody>
          <a:bodyPr wrap="square" anchor="t">
            <a:spAutoFit/>
          </a:bodyPr>
          <a:lstStyle/>
          <a:p>
            <a:pPr algn="l">
              <a:spcAft>
                <a:spcPts val="400"/>
              </a:spcAft>
            </a:pPr>
            <a:r>
              <a:rPr sz="1900" b="0">
                <a:solidFill>
                  <a:srgbClr val="161B26"/>
                </a:solidFill>
                <a:latin typeface="Arial"/>
              </a:rPr>
              <a:t>A RACI matrix ends the 'I thought you were doing it' conversation. You will build one collaboratively in a live browser tool, using GenAI to propose the first pass.</a:t>
            </a:r>
          </a:p>
        </p:txBody>
      </p:sp>
      <p:sp>
        <p:nvSpPr>
          <p:cNvPr id="10" name="Rectangle 9"/>
          <p:cNvSpPr/>
          <p:nvPr/>
        </p:nvSpPr>
        <p:spPr>
          <a:xfrm>
            <a:off x="777240" y="3977639"/>
            <a:ext cx="10634472" cy="17830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60520"/>
            <a:ext cx="10058400" cy="365760"/>
          </a:xfrm>
          <a:prstGeom prst="rect">
            <a:avLst/>
          </a:prstGeom>
          <a:noFill/>
        </p:spPr>
        <p:txBody>
          <a:bodyPr wrap="square" anchor="t">
            <a:spAutoFit/>
          </a:bodyPr>
          <a:lstStyle/>
          <a:p>
            <a:pPr algn="l">
              <a:spcAft>
                <a:spcPts val="400"/>
              </a:spcAft>
            </a:pPr>
            <a:r>
              <a:rPr sz="1300" b="1">
                <a:solidFill>
                  <a:srgbClr val="127A3E"/>
                </a:solidFill>
                <a:latin typeface="Arial"/>
              </a:rPr>
              <a:t>You'll produce</a:t>
            </a:r>
          </a:p>
        </p:txBody>
      </p:sp>
      <p:sp>
        <p:nvSpPr>
          <p:cNvPr id="12" name="TextBox 11"/>
          <p:cNvSpPr txBox="1"/>
          <p:nvPr/>
        </p:nvSpPr>
        <p:spPr>
          <a:xfrm>
            <a:off x="1005840" y="4498848"/>
            <a:ext cx="10149840" cy="685800"/>
          </a:xfrm>
          <a:prstGeom prst="rect">
            <a:avLst/>
          </a:prstGeom>
          <a:noFill/>
        </p:spPr>
        <p:txBody>
          <a:bodyPr wrap="square" anchor="t">
            <a:spAutoFit/>
          </a:bodyPr>
          <a:lstStyle/>
          <a:p>
            <a:pPr algn="l">
              <a:spcAft>
                <a:spcPts val="400"/>
              </a:spcAft>
            </a:pPr>
            <a:r>
              <a:rPr sz="1700" b="1">
                <a:solidFill>
                  <a:srgbClr val="161B26"/>
                </a:solidFill>
                <a:latin typeface="Arial"/>
              </a:rPr>
              <a:t>A completed RACI matrix for your project, agreed by the whole group.</a:t>
            </a:r>
          </a:p>
        </p:txBody>
      </p:sp>
      <p:sp>
        <p:nvSpPr>
          <p:cNvPr id="13" name="TextBox 12"/>
          <p:cNvSpPr txBox="1"/>
          <p:nvPr/>
        </p:nvSpPr>
        <p:spPr>
          <a:xfrm>
            <a:off x="1005840" y="5257800"/>
            <a:ext cx="10241280" cy="4572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RACI Collaborative Matrix (alfredang.github.io/raci) · GenAI tool</a:t>
            </a:r>
          </a:p>
        </p:txBody>
      </p:sp>
      <p:sp>
        <p:nvSpPr>
          <p:cNvPr id="14" name="TextBox 13"/>
          <p:cNvSpPr txBox="1"/>
          <p:nvPr/>
        </p:nvSpPr>
        <p:spPr>
          <a:xfrm>
            <a:off x="777240" y="5897880"/>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Step-by-step instructions: see your Learner Guide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01 · ACTIVITY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Assign Responsibilities with the RACI Ed-Tool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5</a:t>
            </a:r>
          </a:p>
        </p:txBody>
      </p:sp>
      <p:sp>
        <p:nvSpPr>
          <p:cNvPr id="9" name="TextBox 8"/>
          <p:cNvSpPr txBox="1"/>
          <p:nvPr/>
        </p:nvSpPr>
        <p:spPr>
          <a:xfrm>
            <a:off x="777240" y="2286000"/>
            <a:ext cx="10607040" cy="365760"/>
          </a:xfrm>
          <a:prstGeom prst="rect">
            <a:avLst/>
          </a:prstGeom>
          <a:noFill/>
        </p:spPr>
        <p:txBody>
          <a:bodyPr wrap="square" anchor="t">
            <a:spAutoFit/>
          </a:bodyPr>
          <a:lstStyle/>
          <a:p>
            <a:pPr algn="l">
              <a:spcAft>
                <a:spcPts val="400"/>
              </a:spcAft>
            </a:pPr>
            <a:r>
              <a:rPr sz="1200" b="1">
                <a:solidFill>
                  <a:srgbClr val="7C3AED"/>
                </a:solidFill>
                <a:latin typeface="Arial"/>
              </a:rPr>
              <a:t>PROMPT GenAI WITH</a:t>
            </a:r>
          </a:p>
        </p:txBody>
      </p:sp>
      <p:sp>
        <p:nvSpPr>
          <p:cNvPr id="10" name="Rectangle 9"/>
          <p:cNvSpPr/>
          <p:nvPr/>
        </p:nvSpPr>
        <p:spPr>
          <a:xfrm>
            <a:off x="777240" y="2651760"/>
            <a:ext cx="10634472" cy="19659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88920"/>
            <a:ext cx="10104120" cy="1691640"/>
          </a:xfrm>
          <a:prstGeom prst="rect">
            <a:avLst/>
          </a:prstGeom>
          <a:noFill/>
        </p:spPr>
        <p:txBody>
          <a:bodyPr wrap="square" anchor="ctr">
            <a:spAutoFit/>
          </a:bodyPr>
          <a:lstStyle/>
          <a:p>
            <a:pPr algn="l">
              <a:spcAft>
                <a:spcPts val="400"/>
              </a:spcAft>
            </a:pPr>
            <a:r>
              <a:rPr sz="1600" b="0">
                <a:solidFill>
                  <a:srgbClr val="D6E4FF"/>
                </a:solidFill>
                <a:latin typeface="Arial"/>
              </a:rPr>
              <a:t>For a project with these activities [paste] and these roles [paste], propose a RACI assignment. Give exactly one Accountable role per activity and explain any ambiguous accountability.</a:t>
            </a:r>
          </a:p>
        </p:txBody>
      </p:sp>
      <p:sp>
        <p:nvSpPr>
          <p:cNvPr id="12" name="Rectangle 11"/>
          <p:cNvSpPr/>
          <p:nvPr/>
        </p:nvSpPr>
        <p:spPr>
          <a:xfrm>
            <a:off x="777240" y="4800600"/>
            <a:ext cx="10634472" cy="1051560"/>
          </a:xfrm>
          <a:prstGeom prst="rect">
            <a:avLst/>
          </a:prstGeom>
          <a:solidFill>
            <a:srgbClr val="FFF4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4919472"/>
            <a:ext cx="10149840" cy="320040"/>
          </a:xfrm>
          <a:prstGeom prst="rect">
            <a:avLst/>
          </a:prstGeom>
          <a:noFill/>
        </p:spPr>
        <p:txBody>
          <a:bodyPr wrap="square" anchor="t">
            <a:spAutoFit/>
          </a:bodyPr>
          <a:lstStyle/>
          <a:p>
            <a:pPr algn="l">
              <a:spcAft>
                <a:spcPts val="400"/>
              </a:spcAft>
            </a:pPr>
            <a:r>
              <a:rPr sz="1200" b="1">
                <a:solidFill>
                  <a:srgbClr val="F59E0B"/>
                </a:solidFill>
                <a:latin typeface="Arial"/>
              </a:rPr>
              <a:t>⚠  THEN CHECK IT</a:t>
            </a:r>
          </a:p>
        </p:txBody>
      </p:sp>
      <p:sp>
        <p:nvSpPr>
          <p:cNvPr id="14" name="TextBox 13"/>
          <p:cNvSpPr txBox="1"/>
          <p:nvPr/>
        </p:nvSpPr>
        <p:spPr>
          <a:xfrm>
            <a:off x="1051560" y="5230368"/>
            <a:ext cx="10149840" cy="548640"/>
          </a:xfrm>
          <a:prstGeom prst="rect">
            <a:avLst/>
          </a:prstGeom>
          <a:noFill/>
        </p:spPr>
        <p:txBody>
          <a:bodyPr wrap="square" anchor="t">
            <a:spAutoFit/>
          </a:bodyPr>
          <a:lstStyle/>
          <a:p>
            <a:pPr algn="l">
              <a:spcAft>
                <a:spcPts val="400"/>
              </a:spcAft>
            </a:pPr>
            <a:r>
              <a:rPr sz="1400" b="0">
                <a:solidFill>
                  <a:srgbClr val="161B26"/>
                </a:solidFill>
                <a:latin typeface="Arial"/>
              </a:rPr>
              <a:t>GenAI gives you a fast first draft. Check every figure, source and assumption before you use it.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CHECK YOUR 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Assign Responsibilities with the RACI Ed-Tool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34472"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9" name="TextBox 8"/>
          <p:cNvSpPr txBox="1"/>
          <p:nvPr/>
        </p:nvSpPr>
        <p:spPr>
          <a:xfrm>
            <a:off x="1097280" y="3017520"/>
            <a:ext cx="9966960" cy="1280160"/>
          </a:xfrm>
          <a:prstGeom prst="rect">
            <a:avLst/>
          </a:prstGeom>
          <a:noFill/>
        </p:spPr>
        <p:txBody>
          <a:bodyPr wrap="square" anchor="t">
            <a:spAutoFit/>
          </a:bodyPr>
          <a:lstStyle/>
          <a:p>
            <a:pPr algn="l">
              <a:spcAft>
                <a:spcPts val="400"/>
              </a:spcAft>
            </a:pPr>
            <a:r>
              <a:rPr sz="1700" b="0">
                <a:solidFill>
                  <a:srgbClr val="161B26"/>
                </a:solidFill>
                <a:latin typeface="Arial"/>
              </a:rPr>
              <a:t>Every activity row has exactly one A, at least one R, and your group can justify each assignment; you have a screenshot saved as evidence.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9509760" cy="548640"/>
          </a:xfrm>
          <a:prstGeom prst="rect">
            <a:avLst/>
          </a:prstGeom>
          <a:noFill/>
        </p:spPr>
        <p:txBody>
          <a:bodyPr wrap="square" anchor="t">
            <a:spAutoFit/>
          </a:bodyPr>
          <a:lstStyle/>
          <a:p>
            <a:pPr algn="l">
              <a:spcAft>
                <a:spcPts val="400"/>
              </a:spcAft>
            </a:pPr>
            <a:r>
              <a:rPr sz="1800" b="1">
                <a:solidFill>
                  <a:srgbClr val="1F6FEB"/>
                </a:solidFill>
                <a:latin typeface="Arial"/>
              </a:rPr>
              <a:t>SCOPE</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3800" b="1">
                <a:solidFill>
                  <a:srgbClr val="161B26"/>
                </a:solidFill>
                <a:latin typeface="Arial"/>
              </a:rPr>
              <a:t>Collect Requirements &amp; Define Scope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HOW SCOPE WILL BE MANAGED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Scope Management Plan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Prepares the scope statement</a:t>
            </a:r>
          </a:p>
          <a:p>
            <a:pPr algn="l">
              <a:spcAft>
                <a:spcPts val="300"/>
              </a:spcAft>
            </a:pPr>
            <a:r>
              <a:rPr sz="1200" b="0">
                <a:solidFill>
                  <a:srgbClr val="5B6372"/>
                </a:solidFill>
                <a:latin typeface="Arial"/>
              </a:rPr>
              <a:t>Defines the process for producing a detailed project scope statement.</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Enables the WBS</a:t>
            </a:r>
          </a:p>
          <a:p>
            <a:pPr algn="l">
              <a:spcAft>
                <a:spcPts val="300"/>
              </a:spcAft>
            </a:pPr>
            <a:r>
              <a:rPr sz="1200" b="0">
                <a:solidFill>
                  <a:srgbClr val="5B6372"/>
                </a:solidFill>
                <a:latin typeface="Arial"/>
              </a:rPr>
              <a:t>Establishes how the WBS is created from the scope statement.</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Maintains the baseline</a:t>
            </a:r>
          </a:p>
          <a:p>
            <a:pPr algn="l">
              <a:spcAft>
                <a:spcPts val="300"/>
              </a:spcAft>
            </a:pPr>
            <a:r>
              <a:rPr sz="1200" b="0">
                <a:solidFill>
                  <a:srgbClr val="5B6372"/>
                </a:solidFill>
                <a:latin typeface="Arial"/>
              </a:rPr>
              <a:t>States how the scope baseline is approved and maintained.</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Governs acceptance</a:t>
            </a:r>
          </a:p>
          <a:p>
            <a:pPr algn="l">
              <a:spcAft>
                <a:spcPts val="300"/>
              </a:spcAft>
            </a:pPr>
            <a:r>
              <a:rPr sz="1200" b="0">
                <a:solidFill>
                  <a:srgbClr val="5B6372"/>
                </a:solidFill>
                <a:latin typeface="Arial"/>
              </a:rPr>
              <a:t>Specifies how formal acceptance of deliverables is obtained.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FOUR TECHNIQUES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Scope Planning Techniques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Document analysis</a:t>
            </a:r>
          </a:p>
          <a:p>
            <a:pPr algn="l">
              <a:spcAft>
                <a:spcPts val="300"/>
              </a:spcAft>
            </a:pPr>
            <a:r>
              <a:rPr sz="1200" b="0">
                <a:solidFill>
                  <a:srgbClr val="5B6372"/>
                </a:solidFill>
                <a:latin typeface="Arial"/>
              </a:rPr>
              <a:t>Derive requirements from existing documents.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Alternatives analysis</a:t>
            </a:r>
          </a:p>
          <a:p>
            <a:pPr algn="l">
              <a:spcAft>
                <a:spcPts val="300"/>
              </a:spcAft>
            </a:pPr>
            <a:r>
              <a:rPr sz="1200" b="0">
                <a:solidFill>
                  <a:srgbClr val="5B6372"/>
                </a:solidFill>
                <a:latin typeface="Arial"/>
              </a:rPr>
              <a:t>Identify options and approaches for executing the work.</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Product analysis</a:t>
            </a:r>
          </a:p>
          <a:p>
            <a:pPr algn="l">
              <a:spcAft>
                <a:spcPts val="300"/>
              </a:spcAft>
            </a:pPr>
            <a:r>
              <a:rPr sz="1200" b="0">
                <a:solidFill>
                  <a:srgbClr val="5B6372"/>
                </a:solidFill>
                <a:latin typeface="Arial"/>
              </a:rPr>
              <a:t>Ask questions about the product — its use and characteristics.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Expert judgment</a:t>
            </a:r>
          </a:p>
          <a:p>
            <a:pPr algn="l">
              <a:spcAft>
                <a:spcPts val="300"/>
              </a:spcAft>
            </a:pPr>
            <a:r>
              <a:rPr sz="1200" b="0">
                <a:solidFill>
                  <a:srgbClr val="5B6372"/>
                </a:solidFill>
                <a:latin typeface="Arial"/>
              </a:rPr>
              <a:t>Draw on those who have done this work before.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HOW REQUIREMENTS ARE ELICITED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Collect Requirements — Techniques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Data gathering</a:t>
            </a:r>
          </a:p>
          <a:p>
            <a:pPr algn="l">
              <a:spcAft>
                <a:spcPts val="300"/>
              </a:spcAft>
            </a:pPr>
            <a:r>
              <a:rPr sz="1000" b="0">
                <a:solidFill>
                  <a:srgbClr val="5B6372"/>
                </a:solidFill>
                <a:latin typeface="Arial"/>
              </a:rPr>
              <a:t>Brainstorming, interviews, focus groups, questionnaires, surveys, benchmarking.</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Interpersonal &amp; team skills</a:t>
            </a:r>
          </a:p>
          <a:p>
            <a:pPr algn="l">
              <a:spcAft>
                <a:spcPts val="300"/>
              </a:spcAft>
            </a:pPr>
            <a:r>
              <a:rPr sz="1000" b="0">
                <a:solidFill>
                  <a:srgbClr val="5B6372"/>
                </a:solidFill>
                <a:latin typeface="Arial"/>
              </a:rPr>
              <a:t>Nominal group technique, observation, facilitation.</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22904"/>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Data analysis</a:t>
            </a:r>
          </a:p>
          <a:p>
            <a:pPr algn="l">
              <a:spcAft>
                <a:spcPts val="300"/>
              </a:spcAft>
            </a:pPr>
            <a:r>
              <a:rPr sz="1000" b="0">
                <a:solidFill>
                  <a:srgbClr val="5B6372"/>
                </a:solidFill>
                <a:latin typeface="Arial"/>
              </a:rPr>
              <a:t>Document analysis, alternatives analysis, product analysis.</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22904"/>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Decision making</a:t>
            </a:r>
          </a:p>
          <a:p>
            <a:pPr algn="l">
              <a:spcAft>
                <a:spcPts val="300"/>
              </a:spcAft>
            </a:pPr>
            <a:r>
              <a:rPr sz="1000" b="0">
                <a:solidFill>
                  <a:srgbClr val="5B6372"/>
                </a:solidFill>
                <a:latin typeface="Arial"/>
              </a:rPr>
              <a:t>Voting, multi-criteria decision analysis.</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53000"/>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Data representation</a:t>
            </a:r>
          </a:p>
          <a:p>
            <a:pPr algn="l">
              <a:spcAft>
                <a:spcPts val="300"/>
              </a:spcAft>
            </a:pPr>
            <a:r>
              <a:rPr sz="1000" b="0">
                <a:solidFill>
                  <a:srgbClr val="5B6372"/>
                </a:solidFill>
                <a:latin typeface="Arial"/>
              </a:rPr>
              <a:t>Mind mapping, affinity diagram, context diagram, use case diagram.</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53000"/>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Expert judgment</a:t>
            </a:r>
          </a:p>
          <a:p>
            <a:pPr algn="l">
              <a:spcAft>
                <a:spcPts val="300"/>
              </a:spcAft>
            </a:pPr>
            <a:r>
              <a:rPr sz="1000" b="0">
                <a:solidFill>
                  <a:srgbClr val="5B6372"/>
                </a:solidFill>
                <a:latin typeface="Arial"/>
              </a:rPr>
              <a:t>Subject matter experts who know the domain.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SIX TECHNIQUES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Ideation &amp; Structuring Techniques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Brainstorming</a:t>
            </a:r>
          </a:p>
          <a:p>
            <a:pPr algn="l">
              <a:spcAft>
                <a:spcPts val="300"/>
              </a:spcAft>
            </a:pPr>
            <a:r>
              <a:rPr sz="1000" b="0">
                <a:solidFill>
                  <a:srgbClr val="5B6372"/>
                </a:solidFill>
                <a:latin typeface="Arial"/>
              </a:rPr>
              <a:t>Combines a relaxed, informal approach with lateral thinking to generate many ideas.</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Affinity diagram</a:t>
            </a:r>
          </a:p>
          <a:p>
            <a:pPr algn="l">
              <a:spcAft>
                <a:spcPts val="300"/>
              </a:spcAft>
            </a:pPr>
            <a:r>
              <a:rPr sz="1000" b="0">
                <a:solidFill>
                  <a:srgbClr val="5B6372"/>
                </a:solidFill>
                <a:latin typeface="Arial"/>
              </a:rPr>
              <a:t>Classifies large numbers of ideas into themed groups for review and analysis.</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22904"/>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Nominal group technique</a:t>
            </a:r>
          </a:p>
          <a:p>
            <a:pPr algn="l">
              <a:spcAft>
                <a:spcPts val="300"/>
              </a:spcAft>
            </a:pPr>
            <a:r>
              <a:rPr sz="1000" b="0">
                <a:solidFill>
                  <a:srgbClr val="5B6372"/>
                </a:solidFill>
                <a:latin typeface="Arial"/>
              </a:rPr>
              <a:t>Individuals rank shortlisted ideas privately, then scores are tallied.</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22904"/>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Mind mapping</a:t>
            </a:r>
          </a:p>
          <a:p>
            <a:pPr algn="l">
              <a:spcAft>
                <a:spcPts val="300"/>
              </a:spcAft>
            </a:pPr>
            <a:r>
              <a:rPr sz="1000" b="0">
                <a:solidFill>
                  <a:srgbClr val="5B6372"/>
                </a:solidFill>
                <a:latin typeface="Arial"/>
              </a:rPr>
              <a:t>Consolidates ideas into a single map showing commonality and difference.</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53000"/>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Context diagram</a:t>
            </a:r>
          </a:p>
          <a:p>
            <a:pPr algn="l">
              <a:spcAft>
                <a:spcPts val="300"/>
              </a:spcAft>
            </a:pPr>
            <a:r>
              <a:rPr sz="1000" b="0">
                <a:solidFill>
                  <a:srgbClr val="5B6372"/>
                </a:solidFill>
                <a:latin typeface="Arial"/>
              </a:rPr>
              <a:t>Shows the system at the centre and its interactions with external entities.</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53000"/>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Benchmarking</a:t>
            </a:r>
          </a:p>
          <a:p>
            <a:pPr algn="l">
              <a:spcAft>
                <a:spcPts val="300"/>
              </a:spcAft>
            </a:pPr>
            <a:r>
              <a:rPr sz="1000" b="0">
                <a:solidFill>
                  <a:srgbClr val="5B6372"/>
                </a:solidFill>
                <a:latin typeface="Arial"/>
              </a:rPr>
              <a:t>Compares your practices against others to identify and adopt best practice.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ACTIVITY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Collect Requirements with GenAI and Design Thinking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6</a:t>
            </a:r>
          </a:p>
        </p:txBody>
      </p:sp>
      <p:sp>
        <p:nvSpPr>
          <p:cNvPr id="9" name="TextBox 8"/>
          <p:cNvSpPr txBox="1"/>
          <p:nvPr/>
        </p:nvSpPr>
        <p:spPr>
          <a:xfrm>
            <a:off x="777240" y="2331720"/>
            <a:ext cx="10698480" cy="1554480"/>
          </a:xfrm>
          <a:prstGeom prst="rect">
            <a:avLst/>
          </a:prstGeom>
          <a:noFill/>
        </p:spPr>
        <p:txBody>
          <a:bodyPr wrap="square" anchor="t">
            <a:spAutoFit/>
          </a:bodyPr>
          <a:lstStyle/>
          <a:p>
            <a:pPr algn="l">
              <a:spcAft>
                <a:spcPts val="400"/>
              </a:spcAft>
            </a:pPr>
            <a:r>
              <a:rPr sz="1900" b="0">
                <a:solidFill>
                  <a:srgbClr val="161B26"/>
                </a:solidFill>
                <a:latin typeface="Arial"/>
              </a:rPr>
              <a:t>Requirements gathering is where GenAI earns its keep. You will run brainstorming, affinity clustering and prioritisation — using the Design Thinking Studio to structure the work and dot-vote as a group.</a:t>
            </a:r>
          </a:p>
        </p:txBody>
      </p:sp>
      <p:sp>
        <p:nvSpPr>
          <p:cNvPr id="10" name="Rectangle 9"/>
          <p:cNvSpPr/>
          <p:nvPr/>
        </p:nvSpPr>
        <p:spPr>
          <a:xfrm>
            <a:off x="777240" y="3977639"/>
            <a:ext cx="10634472" cy="17830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60520"/>
            <a:ext cx="10058400" cy="365760"/>
          </a:xfrm>
          <a:prstGeom prst="rect">
            <a:avLst/>
          </a:prstGeom>
          <a:noFill/>
        </p:spPr>
        <p:txBody>
          <a:bodyPr wrap="square" anchor="t">
            <a:spAutoFit/>
          </a:bodyPr>
          <a:lstStyle/>
          <a:p>
            <a:pPr algn="l">
              <a:spcAft>
                <a:spcPts val="400"/>
              </a:spcAft>
            </a:pPr>
            <a:r>
              <a:rPr sz="1300" b="1">
                <a:solidFill>
                  <a:srgbClr val="127A3E"/>
                </a:solidFill>
                <a:latin typeface="Arial"/>
              </a:rPr>
              <a:t>You'll produce</a:t>
            </a:r>
          </a:p>
        </p:txBody>
      </p:sp>
      <p:sp>
        <p:nvSpPr>
          <p:cNvPr id="12" name="TextBox 11"/>
          <p:cNvSpPr txBox="1"/>
          <p:nvPr/>
        </p:nvSpPr>
        <p:spPr>
          <a:xfrm>
            <a:off x="1005840" y="4498848"/>
            <a:ext cx="10149840" cy="685800"/>
          </a:xfrm>
          <a:prstGeom prst="rect">
            <a:avLst/>
          </a:prstGeom>
          <a:noFill/>
        </p:spPr>
        <p:txBody>
          <a:bodyPr wrap="square" anchor="t">
            <a:spAutoFit/>
          </a:bodyPr>
          <a:lstStyle/>
          <a:p>
            <a:pPr algn="l">
              <a:spcAft>
                <a:spcPts val="400"/>
              </a:spcAft>
            </a:pPr>
            <a:r>
              <a:rPr sz="1700" b="1">
                <a:solidFill>
                  <a:srgbClr val="161B26"/>
                </a:solidFill>
                <a:latin typeface="Arial"/>
              </a:rPr>
              <a:t>A clustered, prioritised requirements set with a MoSCoW classification.</a:t>
            </a:r>
          </a:p>
        </p:txBody>
      </p:sp>
      <p:sp>
        <p:nvSpPr>
          <p:cNvPr id="13" name="TextBox 12"/>
          <p:cNvSpPr txBox="1"/>
          <p:nvPr/>
        </p:nvSpPr>
        <p:spPr>
          <a:xfrm>
            <a:off x="1005840" y="5257800"/>
            <a:ext cx="10241280" cy="4572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Design Thinking Studio (alfredang.github.io/designthinking) · GenAI tool · MoSCoW with Sliders Template.xlsx</a:t>
            </a:r>
          </a:p>
        </p:txBody>
      </p:sp>
      <p:sp>
        <p:nvSpPr>
          <p:cNvPr id="14" name="TextBox 13"/>
          <p:cNvSpPr txBox="1"/>
          <p:nvPr/>
        </p:nvSpPr>
        <p:spPr>
          <a:xfrm>
            <a:off x="777240" y="5897880"/>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Step-by-step instructions: see your Learner Guide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01 · ACTIVITY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Collect Requirements with GenAI and Design Thinking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6</a:t>
            </a:r>
          </a:p>
        </p:txBody>
      </p:sp>
      <p:sp>
        <p:nvSpPr>
          <p:cNvPr id="9" name="TextBox 8"/>
          <p:cNvSpPr txBox="1"/>
          <p:nvPr/>
        </p:nvSpPr>
        <p:spPr>
          <a:xfrm>
            <a:off x="777240" y="2286000"/>
            <a:ext cx="10607040" cy="365760"/>
          </a:xfrm>
          <a:prstGeom prst="rect">
            <a:avLst/>
          </a:prstGeom>
          <a:noFill/>
        </p:spPr>
        <p:txBody>
          <a:bodyPr wrap="square" anchor="t">
            <a:spAutoFit/>
          </a:bodyPr>
          <a:lstStyle/>
          <a:p>
            <a:pPr algn="l">
              <a:spcAft>
                <a:spcPts val="400"/>
              </a:spcAft>
            </a:pPr>
            <a:r>
              <a:rPr sz="1200" b="1">
                <a:solidFill>
                  <a:srgbClr val="7C3AED"/>
                </a:solidFill>
                <a:latin typeface="Arial"/>
              </a:rPr>
              <a:t>PROMPT GenAI WITH</a:t>
            </a:r>
          </a:p>
        </p:txBody>
      </p:sp>
      <p:sp>
        <p:nvSpPr>
          <p:cNvPr id="10" name="Rectangle 9"/>
          <p:cNvSpPr/>
          <p:nvPr/>
        </p:nvSpPr>
        <p:spPr>
          <a:xfrm>
            <a:off x="777240" y="2651760"/>
            <a:ext cx="10634472" cy="19659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88920"/>
            <a:ext cx="10104120" cy="1691640"/>
          </a:xfrm>
          <a:prstGeom prst="rect">
            <a:avLst/>
          </a:prstGeom>
          <a:noFill/>
        </p:spPr>
        <p:txBody>
          <a:bodyPr wrap="square" anchor="ctr">
            <a:spAutoFit/>
          </a:bodyPr>
          <a:lstStyle/>
          <a:p>
            <a:pPr algn="l">
              <a:spcAft>
                <a:spcPts val="400"/>
              </a:spcAft>
            </a:pPr>
            <a:r>
              <a:rPr sz="1600" b="0">
                <a:solidFill>
                  <a:srgbClr val="D6E4FF"/>
                </a:solidFill>
                <a:latin typeface="Arial"/>
              </a:rPr>
              <a:t>Create three user personas and their top pain points for [your project's users]. Then list 15 to 20 ideas for solving the highest-priority pain point. Mark assumptions that require user research.</a:t>
            </a:r>
          </a:p>
        </p:txBody>
      </p:sp>
      <p:sp>
        <p:nvSpPr>
          <p:cNvPr id="12" name="Rectangle 11"/>
          <p:cNvSpPr/>
          <p:nvPr/>
        </p:nvSpPr>
        <p:spPr>
          <a:xfrm>
            <a:off x="777240" y="4800600"/>
            <a:ext cx="10634472" cy="1051560"/>
          </a:xfrm>
          <a:prstGeom prst="rect">
            <a:avLst/>
          </a:prstGeom>
          <a:solidFill>
            <a:srgbClr val="FFF4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4919472"/>
            <a:ext cx="10149840" cy="320040"/>
          </a:xfrm>
          <a:prstGeom prst="rect">
            <a:avLst/>
          </a:prstGeom>
          <a:noFill/>
        </p:spPr>
        <p:txBody>
          <a:bodyPr wrap="square" anchor="t">
            <a:spAutoFit/>
          </a:bodyPr>
          <a:lstStyle/>
          <a:p>
            <a:pPr algn="l">
              <a:spcAft>
                <a:spcPts val="400"/>
              </a:spcAft>
            </a:pPr>
            <a:r>
              <a:rPr sz="1200" b="1">
                <a:solidFill>
                  <a:srgbClr val="F59E0B"/>
                </a:solidFill>
                <a:latin typeface="Arial"/>
              </a:rPr>
              <a:t>⚠  THEN CHECK IT</a:t>
            </a:r>
          </a:p>
        </p:txBody>
      </p:sp>
      <p:sp>
        <p:nvSpPr>
          <p:cNvPr id="14" name="TextBox 13"/>
          <p:cNvSpPr txBox="1"/>
          <p:nvPr/>
        </p:nvSpPr>
        <p:spPr>
          <a:xfrm>
            <a:off x="1051560" y="5230368"/>
            <a:ext cx="10149840" cy="548640"/>
          </a:xfrm>
          <a:prstGeom prst="rect">
            <a:avLst/>
          </a:prstGeom>
          <a:noFill/>
        </p:spPr>
        <p:txBody>
          <a:bodyPr wrap="square" anchor="t">
            <a:spAutoFit/>
          </a:bodyPr>
          <a:lstStyle/>
          <a:p>
            <a:pPr algn="l">
              <a:spcAft>
                <a:spcPts val="400"/>
              </a:spcAft>
            </a:pPr>
            <a:r>
              <a:rPr sz="1400" b="0">
                <a:solidFill>
                  <a:srgbClr val="161B26"/>
                </a:solidFill>
                <a:latin typeface="Arial"/>
              </a:rPr>
              <a:t>GenAI gives you a fast first draft. Check every figure, source and assumption before you use it.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6 · CHECK YOUR 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Collect Requirements with GenAI and Design Thinking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34472"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9" name="TextBox 8"/>
          <p:cNvSpPr txBox="1"/>
          <p:nvPr/>
        </p:nvSpPr>
        <p:spPr>
          <a:xfrm>
            <a:off x="1097280" y="3017520"/>
            <a:ext cx="9966960" cy="1280160"/>
          </a:xfrm>
          <a:prstGeom prst="rect">
            <a:avLst/>
          </a:prstGeom>
          <a:noFill/>
        </p:spPr>
        <p:txBody>
          <a:bodyPr wrap="square" anchor="t">
            <a:spAutoFit/>
          </a:bodyPr>
          <a:lstStyle/>
          <a:p>
            <a:pPr algn="l">
              <a:spcAft>
                <a:spcPts val="400"/>
              </a:spcAft>
            </a:pPr>
            <a:r>
              <a:rPr sz="1700" b="0">
                <a:solidFill>
                  <a:srgbClr val="161B26"/>
                </a:solidFill>
                <a:latin typeface="Arial"/>
              </a:rPr>
              <a:t>Your workspace has personas, an empathy map, a problem statement, a clustered idea board with vote counts, and a MoSCoW list where you changed at least one AI classification.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CHOOSING WHAT TO BUILD FIRST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Prioritisation Techniques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2126894"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828800"/>
            <a:ext cx="1907438" cy="475488"/>
          </a:xfrm>
          <a:prstGeom prst="rect">
            <a:avLst/>
          </a:prstGeom>
          <a:noFill/>
        </p:spPr>
        <p:txBody>
          <a:bodyPr wrap="square" anchor="ctr">
            <a:spAutoFit/>
          </a:bodyPr>
          <a:lstStyle/>
          <a:p>
            <a:pPr algn="l">
              <a:spcAft>
                <a:spcPts val="400"/>
              </a:spcAft>
            </a:pPr>
            <a:r>
              <a:rPr sz="1200" b="1">
                <a:solidFill>
                  <a:srgbClr val="FFFFFF"/>
                </a:solidFill>
                <a:latin typeface="Arial"/>
              </a:rPr>
              <a:t>Technique</a:t>
            </a:r>
          </a:p>
        </p:txBody>
      </p:sp>
      <p:sp>
        <p:nvSpPr>
          <p:cNvPr id="9" name="Rectangle 8"/>
          <p:cNvSpPr/>
          <p:nvPr/>
        </p:nvSpPr>
        <p:spPr>
          <a:xfrm>
            <a:off x="2904134" y="1828800"/>
            <a:ext cx="455763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13862" y="1828800"/>
            <a:ext cx="4338174" cy="475488"/>
          </a:xfrm>
          <a:prstGeom prst="rect">
            <a:avLst/>
          </a:prstGeom>
          <a:noFill/>
        </p:spPr>
        <p:txBody>
          <a:bodyPr wrap="square" anchor="ctr">
            <a:spAutoFit/>
          </a:bodyPr>
          <a:lstStyle/>
          <a:p>
            <a:pPr algn="l">
              <a:spcAft>
                <a:spcPts val="400"/>
              </a:spcAft>
            </a:pPr>
            <a:r>
              <a:rPr sz="1200" b="1">
                <a:solidFill>
                  <a:srgbClr val="FFFFFF"/>
                </a:solidFill>
                <a:latin typeface="Arial"/>
              </a:rPr>
              <a:t>How it works</a:t>
            </a:r>
          </a:p>
        </p:txBody>
      </p:sp>
      <p:sp>
        <p:nvSpPr>
          <p:cNvPr id="11" name="Rectangle 10"/>
          <p:cNvSpPr/>
          <p:nvPr/>
        </p:nvSpPr>
        <p:spPr>
          <a:xfrm>
            <a:off x="7461764" y="1828800"/>
            <a:ext cx="3949946"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71492" y="1828800"/>
            <a:ext cx="3730490" cy="475488"/>
          </a:xfrm>
          <a:prstGeom prst="rect">
            <a:avLst/>
          </a:prstGeom>
          <a:noFill/>
        </p:spPr>
        <p:txBody>
          <a:bodyPr wrap="square" anchor="ctr">
            <a:spAutoFit/>
          </a:bodyPr>
          <a:lstStyle/>
          <a:p>
            <a:pPr algn="l">
              <a:spcAft>
                <a:spcPts val="400"/>
              </a:spcAft>
            </a:pPr>
            <a:r>
              <a:rPr sz="1200" b="1">
                <a:solidFill>
                  <a:srgbClr val="FFFFFF"/>
                </a:solidFill>
                <a:latin typeface="Arial"/>
              </a:rPr>
              <a:t>Best for</a:t>
            </a:r>
          </a:p>
        </p:txBody>
      </p:sp>
      <p:sp>
        <p:nvSpPr>
          <p:cNvPr id="13" name="Rectangle 12"/>
          <p:cNvSpPr/>
          <p:nvPr/>
        </p:nvSpPr>
        <p:spPr>
          <a:xfrm>
            <a:off x="777240" y="2304288"/>
            <a:ext cx="2126894"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304288"/>
            <a:ext cx="1907438" cy="786384"/>
          </a:xfrm>
          <a:prstGeom prst="rect">
            <a:avLst/>
          </a:prstGeom>
          <a:noFill/>
        </p:spPr>
        <p:txBody>
          <a:bodyPr wrap="square" anchor="ctr">
            <a:spAutoFit/>
          </a:bodyPr>
          <a:lstStyle/>
          <a:p>
            <a:pPr algn="l">
              <a:spcAft>
                <a:spcPts val="400"/>
              </a:spcAft>
            </a:pPr>
            <a:r>
              <a:rPr sz="1300" b="1">
                <a:solidFill>
                  <a:srgbClr val="161B26"/>
                </a:solidFill>
                <a:latin typeface="Arial"/>
              </a:rPr>
              <a:t>MoSCoW</a:t>
            </a:r>
          </a:p>
        </p:txBody>
      </p:sp>
      <p:sp>
        <p:nvSpPr>
          <p:cNvPr id="15" name="Rectangle 14"/>
          <p:cNvSpPr/>
          <p:nvPr/>
        </p:nvSpPr>
        <p:spPr>
          <a:xfrm>
            <a:off x="2904134" y="2304288"/>
            <a:ext cx="4557630"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013862" y="2304288"/>
            <a:ext cx="4338174" cy="786384"/>
          </a:xfrm>
          <a:prstGeom prst="rect">
            <a:avLst/>
          </a:prstGeom>
          <a:noFill/>
        </p:spPr>
        <p:txBody>
          <a:bodyPr wrap="square" anchor="ctr">
            <a:spAutoFit/>
          </a:bodyPr>
          <a:lstStyle/>
          <a:p>
            <a:pPr algn="l">
              <a:spcAft>
                <a:spcPts val="400"/>
              </a:spcAft>
            </a:pPr>
            <a:r>
              <a:rPr sz="1200" b="0">
                <a:solidFill>
                  <a:srgbClr val="5B6372"/>
                </a:solidFill>
                <a:latin typeface="Arial"/>
              </a:rPr>
              <a:t>Must have / Should have / Could have / Won't have (for now)</a:t>
            </a:r>
          </a:p>
        </p:txBody>
      </p:sp>
      <p:sp>
        <p:nvSpPr>
          <p:cNvPr id="17" name="Rectangle 16"/>
          <p:cNvSpPr/>
          <p:nvPr/>
        </p:nvSpPr>
        <p:spPr>
          <a:xfrm>
            <a:off x="7461764" y="2304288"/>
            <a:ext cx="3949946"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492" y="2304288"/>
            <a:ext cx="3730490" cy="786384"/>
          </a:xfrm>
          <a:prstGeom prst="rect">
            <a:avLst/>
          </a:prstGeom>
          <a:noFill/>
        </p:spPr>
        <p:txBody>
          <a:bodyPr wrap="square" anchor="ctr">
            <a:spAutoFit/>
          </a:bodyPr>
          <a:lstStyle/>
          <a:p>
            <a:pPr algn="l">
              <a:spcAft>
                <a:spcPts val="400"/>
              </a:spcAft>
            </a:pPr>
            <a:r>
              <a:rPr sz="1200" b="0">
                <a:solidFill>
                  <a:srgbClr val="5B6372"/>
                </a:solidFill>
                <a:latin typeface="Arial"/>
              </a:rPr>
              <a:t>Timeboxed agile delivery; comparing several points of view</a:t>
            </a:r>
          </a:p>
        </p:txBody>
      </p:sp>
      <p:sp>
        <p:nvSpPr>
          <p:cNvPr id="19" name="Rectangle 18"/>
          <p:cNvSpPr/>
          <p:nvPr/>
        </p:nvSpPr>
        <p:spPr>
          <a:xfrm>
            <a:off x="777240" y="3090672"/>
            <a:ext cx="2126894"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3090672"/>
            <a:ext cx="1907438" cy="786384"/>
          </a:xfrm>
          <a:prstGeom prst="rect">
            <a:avLst/>
          </a:prstGeom>
          <a:noFill/>
        </p:spPr>
        <p:txBody>
          <a:bodyPr wrap="square" anchor="ctr">
            <a:spAutoFit/>
          </a:bodyPr>
          <a:lstStyle/>
          <a:p>
            <a:pPr algn="l">
              <a:spcAft>
                <a:spcPts val="400"/>
              </a:spcAft>
            </a:pPr>
            <a:r>
              <a:rPr sz="1300" b="1">
                <a:solidFill>
                  <a:srgbClr val="161B26"/>
                </a:solidFill>
                <a:latin typeface="Arial"/>
              </a:rPr>
              <a:t>Kano Model</a:t>
            </a:r>
          </a:p>
        </p:txBody>
      </p:sp>
      <p:sp>
        <p:nvSpPr>
          <p:cNvPr id="21" name="Rectangle 20"/>
          <p:cNvSpPr/>
          <p:nvPr/>
        </p:nvSpPr>
        <p:spPr>
          <a:xfrm>
            <a:off x="2904134" y="3090672"/>
            <a:ext cx="4557630"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013862" y="3090672"/>
            <a:ext cx="4338174" cy="786384"/>
          </a:xfrm>
          <a:prstGeom prst="rect">
            <a:avLst/>
          </a:prstGeom>
          <a:noFill/>
        </p:spPr>
        <p:txBody>
          <a:bodyPr wrap="square" anchor="ctr">
            <a:spAutoFit/>
          </a:bodyPr>
          <a:lstStyle/>
          <a:p>
            <a:pPr algn="l">
              <a:spcAft>
                <a:spcPts val="400"/>
              </a:spcAft>
            </a:pPr>
            <a:r>
              <a:rPr sz="1200" b="0">
                <a:solidFill>
                  <a:srgbClr val="5B6372"/>
                </a:solidFill>
                <a:latin typeface="Arial"/>
              </a:rPr>
              <a:t>Delighters, Satisfiers, Dissatisfiers, Indifferent</a:t>
            </a:r>
          </a:p>
        </p:txBody>
      </p:sp>
      <p:sp>
        <p:nvSpPr>
          <p:cNvPr id="23" name="Rectangle 22"/>
          <p:cNvSpPr/>
          <p:nvPr/>
        </p:nvSpPr>
        <p:spPr>
          <a:xfrm>
            <a:off x="7461764" y="3090672"/>
            <a:ext cx="3949946"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492" y="3090672"/>
            <a:ext cx="3730490" cy="786384"/>
          </a:xfrm>
          <a:prstGeom prst="rect">
            <a:avLst/>
          </a:prstGeom>
          <a:noFill/>
        </p:spPr>
        <p:txBody>
          <a:bodyPr wrap="square" anchor="ctr">
            <a:spAutoFit/>
          </a:bodyPr>
          <a:lstStyle/>
          <a:p>
            <a:pPr algn="l">
              <a:spcAft>
                <a:spcPts val="400"/>
              </a:spcAft>
            </a:pPr>
            <a:r>
              <a:rPr sz="1200" b="0">
                <a:solidFill>
                  <a:srgbClr val="5B6372"/>
                </a:solidFill>
                <a:latin typeface="Arial"/>
              </a:rPr>
              <a:t>Prioritising by what most influences customer satisfaction</a:t>
            </a:r>
          </a:p>
        </p:txBody>
      </p:sp>
      <p:sp>
        <p:nvSpPr>
          <p:cNvPr id="25" name="Rectangle 24"/>
          <p:cNvSpPr/>
          <p:nvPr/>
        </p:nvSpPr>
        <p:spPr>
          <a:xfrm>
            <a:off x="777240" y="3877056"/>
            <a:ext cx="2126894"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877056"/>
            <a:ext cx="1907438" cy="786384"/>
          </a:xfrm>
          <a:prstGeom prst="rect">
            <a:avLst/>
          </a:prstGeom>
          <a:noFill/>
        </p:spPr>
        <p:txBody>
          <a:bodyPr wrap="square" anchor="ctr">
            <a:spAutoFit/>
          </a:bodyPr>
          <a:lstStyle/>
          <a:p>
            <a:pPr algn="l">
              <a:spcAft>
                <a:spcPts val="400"/>
              </a:spcAft>
            </a:pPr>
            <a:r>
              <a:rPr sz="1300" b="1">
                <a:solidFill>
                  <a:srgbClr val="161B26"/>
                </a:solidFill>
                <a:latin typeface="Arial"/>
              </a:rPr>
              <a:t>Paired Comparison</a:t>
            </a:r>
          </a:p>
        </p:txBody>
      </p:sp>
      <p:sp>
        <p:nvSpPr>
          <p:cNvPr id="27" name="Rectangle 26"/>
          <p:cNvSpPr/>
          <p:nvPr/>
        </p:nvSpPr>
        <p:spPr>
          <a:xfrm>
            <a:off x="2904134" y="3877056"/>
            <a:ext cx="4557630"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013862" y="3877056"/>
            <a:ext cx="4338174" cy="786384"/>
          </a:xfrm>
          <a:prstGeom prst="rect">
            <a:avLst/>
          </a:prstGeom>
          <a:noFill/>
        </p:spPr>
        <p:txBody>
          <a:bodyPr wrap="square" anchor="ctr">
            <a:spAutoFit/>
          </a:bodyPr>
          <a:lstStyle/>
          <a:p>
            <a:pPr algn="l">
              <a:spcAft>
                <a:spcPts val="400"/>
              </a:spcAft>
            </a:pPr>
            <a:r>
              <a:rPr sz="1200" b="0">
                <a:solidFill>
                  <a:srgbClr val="5B6372"/>
                </a:solidFill>
                <a:latin typeface="Arial"/>
              </a:rPr>
              <a:t>Rate and rank alternatives by comparing each against the other</a:t>
            </a:r>
          </a:p>
        </p:txBody>
      </p:sp>
      <p:sp>
        <p:nvSpPr>
          <p:cNvPr id="29" name="Rectangle 28"/>
          <p:cNvSpPr/>
          <p:nvPr/>
        </p:nvSpPr>
        <p:spPr>
          <a:xfrm>
            <a:off x="7461764" y="3877056"/>
            <a:ext cx="3949946"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71492" y="3877056"/>
            <a:ext cx="3730490" cy="786384"/>
          </a:xfrm>
          <a:prstGeom prst="rect">
            <a:avLst/>
          </a:prstGeom>
          <a:noFill/>
        </p:spPr>
        <p:txBody>
          <a:bodyPr wrap="square" anchor="ctr">
            <a:spAutoFit/>
          </a:bodyPr>
          <a:lstStyle/>
          <a:p>
            <a:pPr algn="l">
              <a:spcAft>
                <a:spcPts val="400"/>
              </a:spcAft>
            </a:pPr>
            <a:r>
              <a:rPr sz="1200" b="0">
                <a:solidFill>
                  <a:srgbClr val="5B6372"/>
                </a:solidFill>
                <a:latin typeface="Arial"/>
              </a:rPr>
              <a:t>A small range of subjective requirements</a:t>
            </a:r>
          </a:p>
        </p:txBody>
      </p:sp>
      <p:sp>
        <p:nvSpPr>
          <p:cNvPr id="31" name="Rectangle 30"/>
          <p:cNvSpPr/>
          <p:nvPr/>
        </p:nvSpPr>
        <p:spPr>
          <a:xfrm>
            <a:off x="777240" y="4663440"/>
            <a:ext cx="2126894"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4663440"/>
            <a:ext cx="1907438" cy="786384"/>
          </a:xfrm>
          <a:prstGeom prst="rect">
            <a:avLst/>
          </a:prstGeom>
          <a:noFill/>
        </p:spPr>
        <p:txBody>
          <a:bodyPr wrap="square" anchor="ctr">
            <a:spAutoFit/>
          </a:bodyPr>
          <a:lstStyle/>
          <a:p>
            <a:pPr algn="l">
              <a:spcAft>
                <a:spcPts val="400"/>
              </a:spcAft>
            </a:pPr>
            <a:r>
              <a:rPr sz="1300" b="1">
                <a:solidFill>
                  <a:srgbClr val="161B26"/>
                </a:solidFill>
                <a:latin typeface="Arial"/>
              </a:rPr>
              <a:t>100 Points Method</a:t>
            </a:r>
          </a:p>
        </p:txBody>
      </p:sp>
      <p:sp>
        <p:nvSpPr>
          <p:cNvPr id="33" name="Rectangle 32"/>
          <p:cNvSpPr/>
          <p:nvPr/>
        </p:nvSpPr>
        <p:spPr>
          <a:xfrm>
            <a:off x="2904134" y="4663440"/>
            <a:ext cx="4557630"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013862" y="4663440"/>
            <a:ext cx="4338174" cy="786384"/>
          </a:xfrm>
          <a:prstGeom prst="rect">
            <a:avLst/>
          </a:prstGeom>
          <a:noFill/>
        </p:spPr>
        <p:txBody>
          <a:bodyPr wrap="square" anchor="ctr">
            <a:spAutoFit/>
          </a:bodyPr>
          <a:lstStyle/>
          <a:p>
            <a:pPr algn="l">
              <a:spcAft>
                <a:spcPts val="400"/>
              </a:spcAft>
            </a:pPr>
            <a:r>
              <a:rPr sz="1200" b="0">
                <a:solidFill>
                  <a:srgbClr val="5B6372"/>
                </a:solidFill>
                <a:latin typeface="Arial"/>
              </a:rPr>
              <a:t>Stakeholders distribute 100 points across requirements</a:t>
            </a:r>
          </a:p>
        </p:txBody>
      </p:sp>
      <p:sp>
        <p:nvSpPr>
          <p:cNvPr id="35" name="Rectangle 34"/>
          <p:cNvSpPr/>
          <p:nvPr/>
        </p:nvSpPr>
        <p:spPr>
          <a:xfrm>
            <a:off x="7461764" y="4663440"/>
            <a:ext cx="3949946"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71492" y="4663440"/>
            <a:ext cx="3730490" cy="786384"/>
          </a:xfrm>
          <a:prstGeom prst="rect">
            <a:avLst/>
          </a:prstGeom>
          <a:noFill/>
        </p:spPr>
        <p:txBody>
          <a:bodyPr wrap="square" anchor="ctr">
            <a:spAutoFit/>
          </a:bodyPr>
          <a:lstStyle/>
          <a:p>
            <a:pPr algn="l">
              <a:spcAft>
                <a:spcPts val="400"/>
              </a:spcAft>
            </a:pPr>
            <a:r>
              <a:rPr sz="1200" b="0">
                <a:solidFill>
                  <a:srgbClr val="5B6372"/>
                </a:solidFill>
                <a:latin typeface="Arial"/>
              </a:rPr>
              <a:t>Any size group; gives priority to stakeholder decision-making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PROVING YOU BUILT THE RIGHT THING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Requirements Traceability Matrix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Traces forward</a:t>
            </a:r>
          </a:p>
          <a:p>
            <a:pPr algn="l">
              <a:spcAft>
                <a:spcPts val="300"/>
              </a:spcAft>
            </a:pPr>
            <a:r>
              <a:rPr sz="1200" b="0">
                <a:solidFill>
                  <a:srgbClr val="5B6372"/>
                </a:solidFill>
                <a:latin typeface="Arial"/>
              </a:rPr>
              <a:t>From each requirement to the deliverable that satisfies it.</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Traces backward</a:t>
            </a:r>
          </a:p>
          <a:p>
            <a:pPr algn="l">
              <a:spcAft>
                <a:spcPts val="300"/>
              </a:spcAft>
            </a:pPr>
            <a:r>
              <a:rPr sz="1200" b="0">
                <a:solidFill>
                  <a:srgbClr val="5B6372"/>
                </a:solidFill>
                <a:latin typeface="Arial"/>
              </a:rPr>
              <a:t>From each deliverable to the stakeholder need that justified it.</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Links to tests</a:t>
            </a:r>
          </a:p>
          <a:p>
            <a:pPr algn="l">
              <a:spcAft>
                <a:spcPts val="300"/>
              </a:spcAft>
            </a:pPr>
            <a:r>
              <a:rPr sz="1200" b="0">
                <a:solidFill>
                  <a:srgbClr val="5B6372"/>
                </a:solidFill>
                <a:latin typeface="Arial"/>
              </a:rPr>
              <a:t>Every requirement has an acceptance criterion and a test case.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Proves completeness</a:t>
            </a:r>
          </a:p>
          <a:p>
            <a:pPr algn="l">
              <a:spcAft>
                <a:spcPts val="300"/>
              </a:spcAft>
            </a:pPr>
            <a:r>
              <a:rPr sz="1200" b="0">
                <a:solidFill>
                  <a:srgbClr val="5B6372"/>
                </a:solidFill>
                <a:latin typeface="Arial"/>
              </a:rPr>
              <a:t>At closure it proves every approved requirement was delivered.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ACTIVITY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Build the Requirements Traceability Matrix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7</a:t>
            </a:r>
          </a:p>
        </p:txBody>
      </p:sp>
      <p:sp>
        <p:nvSpPr>
          <p:cNvPr id="9" name="TextBox 8"/>
          <p:cNvSpPr txBox="1"/>
          <p:nvPr/>
        </p:nvSpPr>
        <p:spPr>
          <a:xfrm>
            <a:off x="777240" y="2331720"/>
            <a:ext cx="10698480" cy="1554480"/>
          </a:xfrm>
          <a:prstGeom prst="rect">
            <a:avLst/>
          </a:prstGeom>
          <a:noFill/>
        </p:spPr>
        <p:txBody>
          <a:bodyPr wrap="square" anchor="t">
            <a:spAutoFit/>
          </a:bodyPr>
          <a:lstStyle/>
          <a:p>
            <a:pPr algn="l">
              <a:spcAft>
                <a:spcPts val="400"/>
              </a:spcAft>
            </a:pPr>
            <a:r>
              <a:rPr sz="1900" b="0">
                <a:solidFill>
                  <a:srgbClr val="161B26"/>
                </a:solidFill>
                <a:latin typeface="Arial"/>
              </a:rPr>
              <a:t>An RTM proves that what you built is what was asked for. GenAI can populate one quickly, but it will happily invent requirement sources — which is exactly the failure mode an RTM exists to prevent.</a:t>
            </a:r>
          </a:p>
        </p:txBody>
      </p:sp>
      <p:sp>
        <p:nvSpPr>
          <p:cNvPr id="10" name="Rectangle 9"/>
          <p:cNvSpPr/>
          <p:nvPr/>
        </p:nvSpPr>
        <p:spPr>
          <a:xfrm>
            <a:off x="777240" y="3977639"/>
            <a:ext cx="10634472" cy="17830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60520"/>
            <a:ext cx="10058400" cy="365760"/>
          </a:xfrm>
          <a:prstGeom prst="rect">
            <a:avLst/>
          </a:prstGeom>
          <a:noFill/>
        </p:spPr>
        <p:txBody>
          <a:bodyPr wrap="square" anchor="t">
            <a:spAutoFit/>
          </a:bodyPr>
          <a:lstStyle/>
          <a:p>
            <a:pPr algn="l">
              <a:spcAft>
                <a:spcPts val="400"/>
              </a:spcAft>
            </a:pPr>
            <a:r>
              <a:rPr sz="1300" b="1">
                <a:solidFill>
                  <a:srgbClr val="127A3E"/>
                </a:solidFill>
                <a:latin typeface="Arial"/>
              </a:rPr>
              <a:t>You'll produce</a:t>
            </a:r>
          </a:p>
        </p:txBody>
      </p:sp>
      <p:sp>
        <p:nvSpPr>
          <p:cNvPr id="12" name="TextBox 11"/>
          <p:cNvSpPr txBox="1"/>
          <p:nvPr/>
        </p:nvSpPr>
        <p:spPr>
          <a:xfrm>
            <a:off x="1005840" y="4498848"/>
            <a:ext cx="10149840" cy="685800"/>
          </a:xfrm>
          <a:prstGeom prst="rect">
            <a:avLst/>
          </a:prstGeom>
          <a:noFill/>
        </p:spPr>
        <p:txBody>
          <a:bodyPr wrap="square" anchor="t">
            <a:spAutoFit/>
          </a:bodyPr>
          <a:lstStyle/>
          <a:p>
            <a:pPr algn="l">
              <a:spcAft>
                <a:spcPts val="400"/>
              </a:spcAft>
            </a:pPr>
            <a:r>
              <a:rPr sz="1700" b="1">
                <a:solidFill>
                  <a:srgbClr val="161B26"/>
                </a:solidFill>
                <a:latin typeface="Arial"/>
              </a:rPr>
              <a:t>A complete Requirements Traceability Matrix with verified sources.</a:t>
            </a:r>
          </a:p>
        </p:txBody>
      </p:sp>
      <p:sp>
        <p:nvSpPr>
          <p:cNvPr id="13" name="TextBox 12"/>
          <p:cNvSpPr txBox="1"/>
          <p:nvPr/>
        </p:nvSpPr>
        <p:spPr>
          <a:xfrm>
            <a:off x="1005840" y="5257800"/>
            <a:ext cx="10241280" cy="4572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GenAI tool · Requirements Traceability Matrix.xlsx</a:t>
            </a:r>
          </a:p>
        </p:txBody>
      </p:sp>
      <p:sp>
        <p:nvSpPr>
          <p:cNvPr id="14" name="TextBox 13"/>
          <p:cNvSpPr txBox="1"/>
          <p:nvPr/>
        </p:nvSpPr>
        <p:spPr>
          <a:xfrm>
            <a:off x="777240" y="5897880"/>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Step-by-step instructions: see your Learner Guide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01 · ACTIVITY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Build the Requirements Traceability Matrix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7</a:t>
            </a:r>
          </a:p>
        </p:txBody>
      </p:sp>
      <p:sp>
        <p:nvSpPr>
          <p:cNvPr id="9" name="TextBox 8"/>
          <p:cNvSpPr txBox="1"/>
          <p:nvPr/>
        </p:nvSpPr>
        <p:spPr>
          <a:xfrm>
            <a:off x="777240" y="2286000"/>
            <a:ext cx="10607040" cy="365760"/>
          </a:xfrm>
          <a:prstGeom prst="rect">
            <a:avLst/>
          </a:prstGeom>
          <a:noFill/>
        </p:spPr>
        <p:txBody>
          <a:bodyPr wrap="square" anchor="t">
            <a:spAutoFit/>
          </a:bodyPr>
          <a:lstStyle/>
          <a:p>
            <a:pPr algn="l">
              <a:spcAft>
                <a:spcPts val="400"/>
              </a:spcAft>
            </a:pPr>
            <a:r>
              <a:rPr sz="1200" b="1">
                <a:solidFill>
                  <a:srgbClr val="7C3AED"/>
                </a:solidFill>
                <a:latin typeface="Arial"/>
              </a:rPr>
              <a:t>PROMPT GenAI WITH</a:t>
            </a:r>
          </a:p>
        </p:txBody>
      </p:sp>
      <p:sp>
        <p:nvSpPr>
          <p:cNvPr id="10" name="Rectangle 9"/>
          <p:cNvSpPr/>
          <p:nvPr/>
        </p:nvSpPr>
        <p:spPr>
          <a:xfrm>
            <a:off x="777240" y="2651760"/>
            <a:ext cx="10634472" cy="19659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88920"/>
            <a:ext cx="10104120" cy="1691640"/>
          </a:xfrm>
          <a:prstGeom prst="rect">
            <a:avLst/>
          </a:prstGeom>
          <a:noFill/>
        </p:spPr>
        <p:txBody>
          <a:bodyPr wrap="square" anchor="ctr">
            <a:spAutoFit/>
          </a:bodyPr>
          <a:lstStyle/>
          <a:p>
            <a:pPr algn="l">
              <a:spcAft>
                <a:spcPts val="400"/>
              </a:spcAft>
            </a:pPr>
            <a:r>
              <a:rPr sz="1600" b="0">
                <a:solidFill>
                  <a:srgbClr val="D6E4FF"/>
                </a:solidFill>
                <a:latin typeface="Arial"/>
              </a:rPr>
              <a:t>Generate 5 to 10 sample requirements for a smart-city parking app. Include Requirement ID, Description, Source, Acceptance Criterion and Test Case ID. Flag any requirement that is not testable.</a:t>
            </a:r>
          </a:p>
        </p:txBody>
      </p:sp>
      <p:sp>
        <p:nvSpPr>
          <p:cNvPr id="12" name="Rectangle 11"/>
          <p:cNvSpPr/>
          <p:nvPr/>
        </p:nvSpPr>
        <p:spPr>
          <a:xfrm>
            <a:off x="777240" y="4800600"/>
            <a:ext cx="10634472" cy="1051560"/>
          </a:xfrm>
          <a:prstGeom prst="rect">
            <a:avLst/>
          </a:prstGeom>
          <a:solidFill>
            <a:srgbClr val="FFF4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4919472"/>
            <a:ext cx="10149840" cy="320040"/>
          </a:xfrm>
          <a:prstGeom prst="rect">
            <a:avLst/>
          </a:prstGeom>
          <a:noFill/>
        </p:spPr>
        <p:txBody>
          <a:bodyPr wrap="square" anchor="t">
            <a:spAutoFit/>
          </a:bodyPr>
          <a:lstStyle/>
          <a:p>
            <a:pPr algn="l">
              <a:spcAft>
                <a:spcPts val="400"/>
              </a:spcAft>
            </a:pPr>
            <a:r>
              <a:rPr sz="1200" b="1">
                <a:solidFill>
                  <a:srgbClr val="F59E0B"/>
                </a:solidFill>
                <a:latin typeface="Arial"/>
              </a:rPr>
              <a:t>⚠  THEN CHECK IT</a:t>
            </a:r>
          </a:p>
        </p:txBody>
      </p:sp>
      <p:sp>
        <p:nvSpPr>
          <p:cNvPr id="14" name="TextBox 13"/>
          <p:cNvSpPr txBox="1"/>
          <p:nvPr/>
        </p:nvSpPr>
        <p:spPr>
          <a:xfrm>
            <a:off x="1051560" y="5230368"/>
            <a:ext cx="10149840" cy="548640"/>
          </a:xfrm>
          <a:prstGeom prst="rect">
            <a:avLst/>
          </a:prstGeom>
          <a:noFill/>
        </p:spPr>
        <p:txBody>
          <a:bodyPr wrap="square" anchor="t">
            <a:spAutoFit/>
          </a:bodyPr>
          <a:lstStyle/>
          <a:p>
            <a:pPr algn="l">
              <a:spcAft>
                <a:spcPts val="400"/>
              </a:spcAft>
            </a:pPr>
            <a:r>
              <a:rPr sz="1400" b="0">
                <a:solidFill>
                  <a:srgbClr val="161B26"/>
                </a:solidFill>
                <a:latin typeface="Arial"/>
              </a:rPr>
              <a:t>GenAI gives you a fast first draft. Check every figure, source and assumption before you use it.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7 · CHECK YOUR 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Build the Requirements Traceability Matrix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34472"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9" name="TextBox 8"/>
          <p:cNvSpPr txBox="1"/>
          <p:nvPr/>
        </p:nvSpPr>
        <p:spPr>
          <a:xfrm>
            <a:off x="1097280" y="3017520"/>
            <a:ext cx="9966960" cy="1280160"/>
          </a:xfrm>
          <a:prstGeom prst="rect">
            <a:avLst/>
          </a:prstGeom>
          <a:noFill/>
        </p:spPr>
        <p:txBody>
          <a:bodyPr wrap="square" anchor="t">
            <a:spAutoFit/>
          </a:bodyPr>
          <a:lstStyle/>
          <a:p>
            <a:pPr algn="l">
              <a:spcAft>
                <a:spcPts val="400"/>
              </a:spcAft>
            </a:pPr>
            <a:r>
              <a:rPr sz="1700" b="0">
                <a:solidFill>
                  <a:srgbClr val="161B26"/>
                </a:solidFill>
                <a:latin typeface="Arial"/>
              </a:rPr>
              <a:t>Every row traces from a real, named source through to an acceptance criterion and a test case, with no orphan requirements or orphan tests.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IT CONTAINS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Project Scope Statement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Scope description — of the project and the product</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Acceptance criteria</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The required deliverables</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Out-of-scope items, stated explicitly for clarity</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Constraints</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Assumptions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 MEASURE AGAINST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Baselines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Scope baseline</a:t>
            </a:r>
          </a:p>
          <a:p>
            <a:pPr algn="l">
              <a:spcAft>
                <a:spcPts val="300"/>
              </a:spcAft>
            </a:pPr>
            <a:r>
              <a:rPr sz="1200" b="0">
                <a:solidFill>
                  <a:srgbClr val="5B6372"/>
                </a:solidFill>
                <a:latin typeface="Arial"/>
              </a:rPr>
              <a:t>The approved scope statement + WBS + WBS dictionary.</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Schedule baseline</a:t>
            </a:r>
          </a:p>
          <a:p>
            <a:pPr algn="l">
              <a:spcAft>
                <a:spcPts val="300"/>
              </a:spcAft>
            </a:pPr>
            <a:r>
              <a:rPr sz="1200" b="0">
                <a:solidFill>
                  <a:srgbClr val="5B6372"/>
                </a:solidFill>
                <a:latin typeface="Arial"/>
              </a:rPr>
              <a:t>The approved version of the schedule.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Cost baseline</a:t>
            </a:r>
          </a:p>
          <a:p>
            <a:pPr algn="l">
              <a:spcAft>
                <a:spcPts val="300"/>
              </a:spcAft>
            </a:pPr>
            <a:r>
              <a:rPr sz="1200" b="0">
                <a:solidFill>
                  <a:srgbClr val="5B6372"/>
                </a:solidFill>
                <a:latin typeface="Arial"/>
              </a:rPr>
              <a:t>The approved time-phased budget.</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Performance measurement baseline</a:t>
            </a:r>
          </a:p>
          <a:p>
            <a:pPr algn="l">
              <a:spcAft>
                <a:spcPts val="300"/>
              </a:spcAft>
            </a:pPr>
            <a:r>
              <a:rPr sz="1200" b="0">
                <a:solidFill>
                  <a:srgbClr val="5B6372"/>
                </a:solidFill>
                <a:latin typeface="Arial"/>
              </a:rPr>
              <a:t>The integrated scope, schedule and cost baseline you measure performance against.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CHANGING A BASELINE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Change Request Process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Any stakeholder raises a change request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Analyse impacts on scope, schedule and cost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Record it in the Change Log</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Change Control Board approves, defers or rejects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Communicate the outcome and update the log</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SCOPE CREEP vs GOLD PLATING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Two Ways Scope Goes Wrong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36208" y="1783080"/>
            <a:ext cx="517550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36208" y="1783080"/>
            <a:ext cx="5175504" cy="914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011680"/>
            <a:ext cx="4754880" cy="365760"/>
          </a:xfrm>
          <a:prstGeom prst="rect">
            <a:avLst/>
          </a:prstGeom>
          <a:noFill/>
        </p:spPr>
        <p:txBody>
          <a:bodyPr wrap="square" anchor="t">
            <a:spAutoFit/>
          </a:bodyPr>
          <a:lstStyle/>
          <a:p>
            <a:pPr algn="l">
              <a:spcAft>
                <a:spcPts val="400"/>
              </a:spcAft>
            </a:pPr>
            <a:r>
              <a:rPr sz="1700" b="1">
                <a:solidFill>
                  <a:srgbClr val="F59E0B"/>
                </a:solidFill>
                <a:latin typeface="Arial"/>
              </a:rPr>
              <a:t>Scope Creep</a:t>
            </a:r>
          </a:p>
        </p:txBody>
      </p:sp>
      <p:sp>
        <p:nvSpPr>
          <p:cNvPr id="12" name="TextBox 11"/>
          <p:cNvSpPr txBox="1"/>
          <p:nvPr/>
        </p:nvSpPr>
        <p:spPr>
          <a:xfrm>
            <a:off x="6464808" y="2011680"/>
            <a:ext cx="4663440" cy="365760"/>
          </a:xfrm>
          <a:prstGeom prst="rect">
            <a:avLst/>
          </a:prstGeom>
          <a:noFill/>
        </p:spPr>
        <p:txBody>
          <a:bodyPr wrap="square" anchor="t">
            <a:spAutoFit/>
          </a:bodyPr>
          <a:lstStyle/>
          <a:p>
            <a:pPr algn="l">
              <a:spcAft>
                <a:spcPts val="400"/>
              </a:spcAft>
            </a:pPr>
            <a:r>
              <a:rPr sz="1700" b="1">
                <a:solidFill>
                  <a:srgbClr val="E11D48"/>
                </a:solidFill>
                <a:latin typeface="Arial"/>
              </a:rPr>
              <a:t>Gold Plating</a:t>
            </a:r>
          </a:p>
        </p:txBody>
      </p:sp>
      <p:sp>
        <p:nvSpPr>
          <p:cNvPr id="13" name="TextBox 12"/>
          <p:cNvSpPr txBox="1"/>
          <p:nvPr/>
        </p:nvSpPr>
        <p:spPr>
          <a:xfrm>
            <a:off x="1005840" y="2514600"/>
            <a:ext cx="4754880" cy="3383280"/>
          </a:xfrm>
          <a:prstGeom prst="rect">
            <a:avLst/>
          </a:prstGeom>
          <a:noFill/>
        </p:spPr>
        <p:txBody>
          <a:bodyPr wrap="square">
            <a:spAutoFit/>
          </a:bodyPr>
          <a:lstStyle/>
          <a:p>
            <a:pPr>
              <a:spcAft>
                <a:spcPts val="1000"/>
              </a:spcAft>
            </a:pPr>
            <a:r>
              <a:rPr sz="1400">
                <a:solidFill>
                  <a:srgbClr val="161B26"/>
                </a:solidFill>
                <a:latin typeface="Arial"/>
              </a:rPr>
              <a:t>•  Scope Creep</a:t>
            </a:r>
          </a:p>
          <a:p>
            <a:pPr>
              <a:spcAft>
                <a:spcPts val="1000"/>
              </a:spcAft>
            </a:pPr>
            <a:r>
              <a:rPr sz="1200">
                <a:solidFill>
                  <a:srgbClr val="5B6372"/>
                </a:solidFill>
                <a:latin typeface="Arial"/>
              </a:rPr>
              <a:t>–  Scope or features are added that were not planned</a:t>
            </a:r>
          </a:p>
          <a:p>
            <a:pPr>
              <a:spcAft>
                <a:spcPts val="1000"/>
              </a:spcAft>
            </a:pPr>
            <a:r>
              <a:rPr sz="1200">
                <a:solidFill>
                  <a:srgbClr val="5B6372"/>
                </a:solidFill>
                <a:latin typeface="Arial"/>
              </a:rPr>
              <a:t>–  Not approved through change control</a:t>
            </a:r>
          </a:p>
          <a:p>
            <a:pPr>
              <a:spcAft>
                <a:spcPts val="1000"/>
              </a:spcAft>
            </a:pPr>
            <a:r>
              <a:rPr sz="1200">
                <a:solidFill>
                  <a:srgbClr val="5B6372"/>
                </a:solidFill>
                <a:latin typeface="Arial"/>
              </a:rPr>
              <a:t>–  Impacts cost and schedule</a:t>
            </a:r>
          </a:p>
          <a:p>
            <a:pPr>
              <a:spcAft>
                <a:spcPts val="1000"/>
              </a:spcAft>
            </a:pPr>
            <a:r>
              <a:rPr sz="1200">
                <a:solidFill>
                  <a:srgbClr val="5B6372"/>
                </a:solidFill>
                <a:latin typeface="Arial"/>
              </a:rPr>
              <a:t>–  Often arrives as many small 'while you're at it' requests</a:t>
            </a:r>
          </a:p>
        </p:txBody>
      </p:sp>
      <p:sp>
        <p:nvSpPr>
          <p:cNvPr id="14" name="TextBox 13"/>
          <p:cNvSpPr txBox="1"/>
          <p:nvPr/>
        </p:nvSpPr>
        <p:spPr>
          <a:xfrm>
            <a:off x="6464808" y="2514600"/>
            <a:ext cx="4709160" cy="3383280"/>
          </a:xfrm>
          <a:prstGeom prst="rect">
            <a:avLst/>
          </a:prstGeom>
          <a:noFill/>
        </p:spPr>
        <p:txBody>
          <a:bodyPr wrap="square">
            <a:spAutoFit/>
          </a:bodyPr>
          <a:lstStyle/>
          <a:p>
            <a:pPr>
              <a:spcAft>
                <a:spcPts val="1000"/>
              </a:spcAft>
            </a:pPr>
            <a:r>
              <a:rPr sz="1400">
                <a:solidFill>
                  <a:srgbClr val="161B26"/>
                </a:solidFill>
                <a:latin typeface="Arial"/>
              </a:rPr>
              <a:t>•  Gold Plating</a:t>
            </a:r>
          </a:p>
          <a:p>
            <a:pPr>
              <a:spcAft>
                <a:spcPts val="1000"/>
              </a:spcAft>
            </a:pPr>
            <a:r>
              <a:rPr sz="1200">
                <a:solidFill>
                  <a:srgbClr val="5B6372"/>
                </a:solidFill>
                <a:latin typeface="Arial"/>
              </a:rPr>
              <a:t>–  Delivering extra features the customer never asked for</a:t>
            </a:r>
          </a:p>
          <a:p>
            <a:pPr>
              <a:spcAft>
                <a:spcPts val="1000"/>
              </a:spcAft>
            </a:pPr>
            <a:r>
              <a:rPr sz="1200">
                <a:solidFill>
                  <a:srgbClr val="5B6372"/>
                </a:solidFill>
                <a:latin typeface="Arial"/>
              </a:rPr>
              <a:t>–  Usually well-intentioned — the team adds 'value'</a:t>
            </a:r>
          </a:p>
          <a:p>
            <a:pPr>
              <a:spcAft>
                <a:spcPts val="1000"/>
              </a:spcAft>
            </a:pPr>
            <a:r>
              <a:rPr sz="1200">
                <a:solidFill>
                  <a:srgbClr val="5B6372"/>
                </a:solidFill>
                <a:latin typeface="Arial"/>
              </a:rPr>
              <a:t>–  Consumes budget and schedule for no agreed benefit</a:t>
            </a:r>
          </a:p>
          <a:p>
            <a:pPr>
              <a:spcAft>
                <a:spcPts val="1000"/>
              </a:spcAft>
            </a:pPr>
            <a:r>
              <a:rPr sz="1200">
                <a:solidFill>
                  <a:srgbClr val="5B6372"/>
                </a:solidFill>
                <a:latin typeface="Arial"/>
              </a:rPr>
              <a:t>–  Creates support and quality burden later</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BUILDING THE WBS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Decomposing Work into the WBS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Decomposition</a:t>
            </a:r>
          </a:p>
          <a:p>
            <a:pPr algn="l">
              <a:spcAft>
                <a:spcPts val="300"/>
              </a:spcAft>
            </a:pPr>
            <a:r>
              <a:rPr sz="1200" b="0">
                <a:solidFill>
                  <a:srgbClr val="5B6372"/>
                </a:solidFill>
                <a:latin typeface="Arial"/>
              </a:rPr>
              <a:t>Break the work down with your team from deliverables into the smallest useful unit.</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Work package</a:t>
            </a:r>
          </a:p>
          <a:p>
            <a:pPr algn="l">
              <a:spcAft>
                <a:spcPts val="300"/>
              </a:spcAft>
            </a:pPr>
            <a:r>
              <a:rPr sz="1200" b="0">
                <a:solidFill>
                  <a:srgbClr val="5B6372"/>
                </a:solidFill>
                <a:latin typeface="Arial"/>
              </a:rPr>
              <a:t>A piece of work small enough to be assigned to one person or team.</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WBS dictionary</a:t>
            </a:r>
          </a:p>
          <a:p>
            <a:pPr algn="l">
              <a:spcAft>
                <a:spcPts val="300"/>
              </a:spcAft>
            </a:pPr>
            <a:r>
              <a:rPr sz="1200" b="0">
                <a:solidFill>
                  <a:srgbClr val="5B6372"/>
                </a:solidFill>
                <a:latin typeface="Arial"/>
              </a:rPr>
              <a:t>Additional scope information for each work package — usually a matrix.</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The 100% rule</a:t>
            </a:r>
          </a:p>
          <a:p>
            <a:pPr algn="l">
              <a:spcAft>
                <a:spcPts val="300"/>
              </a:spcAft>
            </a:pPr>
            <a:r>
              <a:rPr sz="1200" b="0">
                <a:solidFill>
                  <a:srgbClr val="5B6372"/>
                </a:solidFill>
                <a:latin typeface="Arial"/>
              </a:rPr>
              <a:t>The children of any node must total all of that node's work, with no overlap.</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PLANNING CHAIN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From Scope to Schedule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Scope Statement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Work Breakdown Structure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Work Packages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Activity List</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Project Schedule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EACH ENTRY HOLDS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WBS Dictionary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WBS code identifier</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Associated schedule activities</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Resources required to complete the work</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Cost estimates</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Quality requirements</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Acceptance criteria and technical references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ACTIVITY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Decompose Scope into a WBS and WBS Dictionary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8</a:t>
            </a:r>
          </a:p>
        </p:txBody>
      </p:sp>
      <p:sp>
        <p:nvSpPr>
          <p:cNvPr id="9" name="TextBox 8"/>
          <p:cNvSpPr txBox="1"/>
          <p:nvPr/>
        </p:nvSpPr>
        <p:spPr>
          <a:xfrm>
            <a:off x="777240" y="2331720"/>
            <a:ext cx="10698480" cy="1554480"/>
          </a:xfrm>
          <a:prstGeom prst="rect">
            <a:avLst/>
          </a:prstGeom>
          <a:noFill/>
        </p:spPr>
        <p:txBody>
          <a:bodyPr wrap="square" anchor="t">
            <a:spAutoFit/>
          </a:bodyPr>
          <a:lstStyle/>
          <a:p>
            <a:pPr algn="l">
              <a:spcAft>
                <a:spcPts val="400"/>
              </a:spcAft>
            </a:pPr>
            <a:r>
              <a:rPr sz="1900" b="0">
                <a:solidFill>
                  <a:srgbClr val="161B26"/>
                </a:solidFill>
                <a:latin typeface="Arial"/>
              </a:rPr>
              <a:t>The WBS is the backbone of the plan — everything downstream, schedule and cost, is built from it. GenAI decomposes work quickly; your job is to check the decomposition is complete and mutually exclusive.</a:t>
            </a:r>
          </a:p>
        </p:txBody>
      </p:sp>
      <p:sp>
        <p:nvSpPr>
          <p:cNvPr id="10" name="Rectangle 9"/>
          <p:cNvSpPr/>
          <p:nvPr/>
        </p:nvSpPr>
        <p:spPr>
          <a:xfrm>
            <a:off x="777240" y="3977639"/>
            <a:ext cx="10634472" cy="17830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60520"/>
            <a:ext cx="10058400" cy="365760"/>
          </a:xfrm>
          <a:prstGeom prst="rect">
            <a:avLst/>
          </a:prstGeom>
          <a:noFill/>
        </p:spPr>
        <p:txBody>
          <a:bodyPr wrap="square" anchor="t">
            <a:spAutoFit/>
          </a:bodyPr>
          <a:lstStyle/>
          <a:p>
            <a:pPr algn="l">
              <a:spcAft>
                <a:spcPts val="400"/>
              </a:spcAft>
            </a:pPr>
            <a:r>
              <a:rPr sz="1300" b="1">
                <a:solidFill>
                  <a:srgbClr val="127A3E"/>
                </a:solidFill>
                <a:latin typeface="Arial"/>
              </a:rPr>
              <a:t>You'll produce</a:t>
            </a:r>
          </a:p>
        </p:txBody>
      </p:sp>
      <p:sp>
        <p:nvSpPr>
          <p:cNvPr id="12" name="TextBox 11"/>
          <p:cNvSpPr txBox="1"/>
          <p:nvPr/>
        </p:nvSpPr>
        <p:spPr>
          <a:xfrm>
            <a:off x="1005840" y="4498848"/>
            <a:ext cx="10149840" cy="685800"/>
          </a:xfrm>
          <a:prstGeom prst="rect">
            <a:avLst/>
          </a:prstGeom>
          <a:noFill/>
        </p:spPr>
        <p:txBody>
          <a:bodyPr wrap="square" anchor="t">
            <a:spAutoFit/>
          </a:bodyPr>
          <a:lstStyle/>
          <a:p>
            <a:pPr algn="l">
              <a:spcAft>
                <a:spcPts val="400"/>
              </a:spcAft>
            </a:pPr>
            <a:r>
              <a:rPr sz="1700" b="1">
                <a:solidFill>
                  <a:srgbClr val="161B26"/>
                </a:solidFill>
                <a:latin typeface="Arial"/>
              </a:rPr>
              <a:t>A three-level WBS and a WBS Dictionary for your work packages.</a:t>
            </a:r>
          </a:p>
        </p:txBody>
      </p:sp>
      <p:sp>
        <p:nvSpPr>
          <p:cNvPr id="13" name="TextBox 12"/>
          <p:cNvSpPr txBox="1"/>
          <p:nvPr/>
        </p:nvSpPr>
        <p:spPr>
          <a:xfrm>
            <a:off x="1005840" y="5257800"/>
            <a:ext cx="10241280" cy="4572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GenAI tool · WBS Template.pptx · WBS Dictionary.xlsx</a:t>
            </a:r>
          </a:p>
        </p:txBody>
      </p:sp>
      <p:sp>
        <p:nvSpPr>
          <p:cNvPr id="14" name="TextBox 13"/>
          <p:cNvSpPr txBox="1"/>
          <p:nvPr/>
        </p:nvSpPr>
        <p:spPr>
          <a:xfrm>
            <a:off x="777240" y="5897880"/>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Step-by-step instructions: see your Learner Guide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01 · ACTIVITY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Decompose Scope into a WBS and WBS Dictionary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8</a:t>
            </a:r>
          </a:p>
        </p:txBody>
      </p:sp>
      <p:sp>
        <p:nvSpPr>
          <p:cNvPr id="9" name="TextBox 8"/>
          <p:cNvSpPr txBox="1"/>
          <p:nvPr/>
        </p:nvSpPr>
        <p:spPr>
          <a:xfrm>
            <a:off x="777240" y="2286000"/>
            <a:ext cx="10607040" cy="365760"/>
          </a:xfrm>
          <a:prstGeom prst="rect">
            <a:avLst/>
          </a:prstGeom>
          <a:noFill/>
        </p:spPr>
        <p:txBody>
          <a:bodyPr wrap="square" anchor="t">
            <a:spAutoFit/>
          </a:bodyPr>
          <a:lstStyle/>
          <a:p>
            <a:pPr algn="l">
              <a:spcAft>
                <a:spcPts val="400"/>
              </a:spcAft>
            </a:pPr>
            <a:r>
              <a:rPr sz="1200" b="1">
                <a:solidFill>
                  <a:srgbClr val="7C3AED"/>
                </a:solidFill>
                <a:latin typeface="Arial"/>
              </a:rPr>
              <a:t>PROMPT GenAI WITH</a:t>
            </a:r>
          </a:p>
        </p:txBody>
      </p:sp>
      <p:sp>
        <p:nvSpPr>
          <p:cNvPr id="10" name="Rectangle 9"/>
          <p:cNvSpPr/>
          <p:nvPr/>
        </p:nvSpPr>
        <p:spPr>
          <a:xfrm>
            <a:off x="777240" y="2651760"/>
            <a:ext cx="10634472" cy="19659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88920"/>
            <a:ext cx="10104120" cy="1691640"/>
          </a:xfrm>
          <a:prstGeom prst="rect">
            <a:avLst/>
          </a:prstGeom>
          <a:noFill/>
        </p:spPr>
        <p:txBody>
          <a:bodyPr wrap="square" anchor="ctr">
            <a:spAutoFit/>
          </a:bodyPr>
          <a:lstStyle/>
          <a:p>
            <a:pPr algn="l">
              <a:spcAft>
                <a:spcPts val="400"/>
              </a:spcAft>
            </a:pPr>
            <a:r>
              <a:rPr sz="1600" b="0">
                <a:solidFill>
                  <a:srgbClr val="D6E4FF"/>
                </a:solidFill>
                <a:latin typeface="Arial"/>
              </a:rPr>
              <a:t>Create a three-level work breakdown structure for implementing an internal knowledge portal for a consulting firm. Make every lowest-level item a deliverable-based work package.</a:t>
            </a:r>
          </a:p>
        </p:txBody>
      </p:sp>
      <p:sp>
        <p:nvSpPr>
          <p:cNvPr id="12" name="Rectangle 11"/>
          <p:cNvSpPr/>
          <p:nvPr/>
        </p:nvSpPr>
        <p:spPr>
          <a:xfrm>
            <a:off x="777240" y="4800600"/>
            <a:ext cx="10634472" cy="1051560"/>
          </a:xfrm>
          <a:prstGeom prst="rect">
            <a:avLst/>
          </a:prstGeom>
          <a:solidFill>
            <a:srgbClr val="FFF4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4919472"/>
            <a:ext cx="10149840" cy="320040"/>
          </a:xfrm>
          <a:prstGeom prst="rect">
            <a:avLst/>
          </a:prstGeom>
          <a:noFill/>
        </p:spPr>
        <p:txBody>
          <a:bodyPr wrap="square" anchor="t">
            <a:spAutoFit/>
          </a:bodyPr>
          <a:lstStyle/>
          <a:p>
            <a:pPr algn="l">
              <a:spcAft>
                <a:spcPts val="400"/>
              </a:spcAft>
            </a:pPr>
            <a:r>
              <a:rPr sz="1200" b="1">
                <a:solidFill>
                  <a:srgbClr val="F59E0B"/>
                </a:solidFill>
                <a:latin typeface="Arial"/>
              </a:rPr>
              <a:t>⚠  THEN CHECK IT</a:t>
            </a:r>
          </a:p>
        </p:txBody>
      </p:sp>
      <p:sp>
        <p:nvSpPr>
          <p:cNvPr id="14" name="TextBox 13"/>
          <p:cNvSpPr txBox="1"/>
          <p:nvPr/>
        </p:nvSpPr>
        <p:spPr>
          <a:xfrm>
            <a:off x="1051560" y="5230368"/>
            <a:ext cx="10149840" cy="548640"/>
          </a:xfrm>
          <a:prstGeom prst="rect">
            <a:avLst/>
          </a:prstGeom>
          <a:noFill/>
        </p:spPr>
        <p:txBody>
          <a:bodyPr wrap="square" anchor="t">
            <a:spAutoFit/>
          </a:bodyPr>
          <a:lstStyle/>
          <a:p>
            <a:pPr algn="l">
              <a:spcAft>
                <a:spcPts val="400"/>
              </a:spcAft>
            </a:pPr>
            <a:r>
              <a:rPr sz="1400" b="0">
                <a:solidFill>
                  <a:srgbClr val="161B26"/>
                </a:solidFill>
                <a:latin typeface="Arial"/>
              </a:rPr>
              <a:t>GenAI gives you a fast first draft. Check every figure, source and assumption before you use it.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8 · CHECK YOUR 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Decompose Scope into a WBS and WBS Dictionary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34472"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9" name="TextBox 8"/>
          <p:cNvSpPr txBox="1"/>
          <p:nvPr/>
        </p:nvSpPr>
        <p:spPr>
          <a:xfrm>
            <a:off x="1097280" y="3017520"/>
            <a:ext cx="9966960" cy="1280160"/>
          </a:xfrm>
          <a:prstGeom prst="rect">
            <a:avLst/>
          </a:prstGeom>
          <a:noFill/>
        </p:spPr>
        <p:txBody>
          <a:bodyPr wrap="square" anchor="t">
            <a:spAutoFit/>
          </a:bodyPr>
          <a:lstStyle/>
          <a:p>
            <a:pPr algn="l">
              <a:spcAft>
                <a:spcPts val="400"/>
              </a:spcAft>
            </a:pPr>
            <a:r>
              <a:rPr sz="1700" b="0">
                <a:solidFill>
                  <a:srgbClr val="161B26"/>
                </a:solidFill>
                <a:latin typeface="Arial"/>
              </a:rPr>
              <a:t>Your WBS decomposes to assignable work packages, satisfies the 100% rule, includes PM/testing/training effort, and every dictionary entry has testable acceptance criteria.</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9509760" cy="548640"/>
          </a:xfrm>
          <a:prstGeom prst="rect">
            <a:avLst/>
          </a:prstGeom>
          <a:noFill/>
        </p:spPr>
        <p:txBody>
          <a:bodyPr wrap="square" anchor="t">
            <a:spAutoFit/>
          </a:bodyPr>
          <a:lstStyle/>
          <a:p>
            <a:pPr algn="l">
              <a:spcAft>
                <a:spcPts val="400"/>
              </a:spcAft>
            </a:pPr>
            <a:r>
              <a:rPr sz="1800" b="1">
                <a:solidFill>
                  <a:srgbClr val="1F6FEB"/>
                </a:solidFill>
                <a:latin typeface="Arial"/>
              </a:rPr>
              <a:t>SCHEDULE</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3800" b="1">
                <a:solidFill>
                  <a:srgbClr val="161B26"/>
                </a:solidFill>
                <a:latin typeface="Arial"/>
              </a:rPr>
              <a:t>Build the Schedule &amp; Find the Critical Path</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HOW SCHEDULING WILL 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Schedule Management Plan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Defines activities</a:t>
            </a:r>
          </a:p>
          <a:p>
            <a:pPr algn="l">
              <a:spcAft>
                <a:spcPts val="300"/>
              </a:spcAft>
            </a:pPr>
            <a:r>
              <a:rPr sz="1200" b="0">
                <a:solidFill>
                  <a:srgbClr val="5B6372"/>
                </a:solidFill>
                <a:latin typeface="Arial"/>
              </a:rPr>
              <a:t>How activities will be defined and progressively elaborated.</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Names the method and tool</a:t>
            </a:r>
          </a:p>
          <a:p>
            <a:pPr algn="l">
              <a:spcAft>
                <a:spcPts val="300"/>
              </a:spcAft>
            </a:pPr>
            <a:r>
              <a:rPr sz="1200" b="0">
                <a:solidFill>
                  <a:srgbClr val="5B6372"/>
                </a:solidFill>
                <a:latin typeface="Arial"/>
              </a:rPr>
              <a:t>The scheduling methodology and the software used.</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Sets the format</a:t>
            </a:r>
          </a:p>
          <a:p>
            <a:pPr algn="l">
              <a:spcAft>
                <a:spcPts val="300"/>
              </a:spcAft>
            </a:pPr>
            <a:r>
              <a:rPr sz="1200" b="0">
                <a:solidFill>
                  <a:srgbClr val="5B6372"/>
                </a:solidFill>
                <a:latin typeface="Arial"/>
              </a:rPr>
              <a:t>How the schedule will be presented.</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Sets control criteria</a:t>
            </a:r>
          </a:p>
          <a:p>
            <a:pPr algn="l">
              <a:spcAft>
                <a:spcPts val="300"/>
              </a:spcAft>
            </a:pPr>
            <a:r>
              <a:rPr sz="1200" b="0">
                <a:solidFill>
                  <a:srgbClr val="5B6372"/>
                </a:solidFill>
                <a:latin typeface="Arial"/>
              </a:rPr>
              <a:t>How the schedule will be developed, controlled and updated during execution.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FOUR WAYS TO SHOW A 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Schedule Presentation Formats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Roadmap</a:t>
            </a:r>
          </a:p>
          <a:p>
            <a:pPr algn="l">
              <a:spcAft>
                <a:spcPts val="300"/>
              </a:spcAft>
            </a:pPr>
            <a:r>
              <a:rPr sz="1200" b="0">
                <a:solidFill>
                  <a:srgbClr val="5B6372"/>
                </a:solidFill>
                <a:latin typeface="Arial"/>
              </a:rPr>
              <a:t>High-level view of direction over time — for executives.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Gantt Chart</a:t>
            </a:r>
          </a:p>
          <a:p>
            <a:pPr algn="l">
              <a:spcAft>
                <a:spcPts val="300"/>
              </a:spcAft>
            </a:pPr>
            <a:r>
              <a:rPr sz="1200" b="0">
                <a:solidFill>
                  <a:srgbClr val="5B6372"/>
                </a:solidFill>
                <a:latin typeface="Arial"/>
              </a:rPr>
              <a:t>Bars against a calendar showing activities, durations and overlap.</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Milestone Chart</a:t>
            </a:r>
          </a:p>
          <a:p>
            <a:pPr algn="l">
              <a:spcAft>
                <a:spcPts val="300"/>
              </a:spcAft>
            </a:pPr>
            <a:r>
              <a:rPr sz="1200" b="0">
                <a:solidFill>
                  <a:srgbClr val="5B6372"/>
                </a:solidFill>
                <a:latin typeface="Arial"/>
              </a:rPr>
              <a:t>Key dates only — no durations.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Network Diagram</a:t>
            </a:r>
          </a:p>
          <a:p>
            <a:pPr algn="l">
              <a:spcAft>
                <a:spcPts val="300"/>
              </a:spcAft>
            </a:pPr>
            <a:r>
              <a:rPr sz="1200" b="0">
                <a:solidFill>
                  <a:srgbClr val="5B6372"/>
                </a:solidFill>
                <a:latin typeface="Arial"/>
              </a:rPr>
              <a:t>Activities and their dependencies — this is what reveals the critical path.</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FOUR DEPENDENCY TYPES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Activity Dependency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8938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828800"/>
            <a:ext cx="1674354" cy="475488"/>
          </a:xfrm>
          <a:prstGeom prst="rect">
            <a:avLst/>
          </a:prstGeom>
          <a:noFill/>
        </p:spPr>
        <p:txBody>
          <a:bodyPr wrap="square" anchor="ctr">
            <a:spAutoFit/>
          </a:bodyPr>
          <a:lstStyle/>
          <a:p>
            <a:pPr algn="l">
              <a:spcAft>
                <a:spcPts val="400"/>
              </a:spcAft>
            </a:pPr>
            <a:r>
              <a:rPr sz="1200" b="1">
                <a:solidFill>
                  <a:srgbClr val="FFFFFF"/>
                </a:solidFill>
                <a:latin typeface="Arial"/>
              </a:rPr>
              <a:t>Type</a:t>
            </a:r>
          </a:p>
        </p:txBody>
      </p:sp>
      <p:sp>
        <p:nvSpPr>
          <p:cNvPr id="9" name="Rectangle 8"/>
          <p:cNvSpPr/>
          <p:nvPr/>
        </p:nvSpPr>
        <p:spPr>
          <a:xfrm>
            <a:off x="2671050" y="1828800"/>
            <a:ext cx="437033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80778" y="1828800"/>
            <a:ext cx="4150874" cy="475488"/>
          </a:xfrm>
          <a:prstGeom prst="rect">
            <a:avLst/>
          </a:prstGeom>
          <a:noFill/>
        </p:spPr>
        <p:txBody>
          <a:bodyPr wrap="square" anchor="ctr">
            <a:spAutoFit/>
          </a:bodyPr>
          <a:lstStyle/>
          <a:p>
            <a:pPr algn="l">
              <a:spcAft>
                <a:spcPts val="400"/>
              </a:spcAft>
            </a:pPr>
            <a:r>
              <a:rPr sz="1200" b="1">
                <a:solidFill>
                  <a:srgbClr val="FFFFFF"/>
                </a:solidFill>
                <a:latin typeface="Arial"/>
              </a:rPr>
              <a:t>Meaning</a:t>
            </a:r>
          </a:p>
        </p:txBody>
      </p:sp>
      <p:sp>
        <p:nvSpPr>
          <p:cNvPr id="11" name="Rectangle 10"/>
          <p:cNvSpPr/>
          <p:nvPr/>
        </p:nvSpPr>
        <p:spPr>
          <a:xfrm>
            <a:off x="7041380" y="1828800"/>
            <a:ext cx="437033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51108" y="1828800"/>
            <a:ext cx="4150874" cy="475488"/>
          </a:xfrm>
          <a:prstGeom prst="rect">
            <a:avLst/>
          </a:prstGeom>
          <a:noFill/>
        </p:spPr>
        <p:txBody>
          <a:bodyPr wrap="square" anchor="ctr">
            <a:spAutoFit/>
          </a:bodyPr>
          <a:lstStyle/>
          <a:p>
            <a:pPr algn="l">
              <a:spcAft>
                <a:spcPts val="400"/>
              </a:spcAft>
            </a:pPr>
            <a:r>
              <a:rPr sz="1200" b="1">
                <a:solidFill>
                  <a:srgbClr val="FFFFFF"/>
                </a:solidFill>
                <a:latin typeface="Arial"/>
              </a:rPr>
              <a:t>What the PM can do</a:t>
            </a:r>
          </a:p>
        </p:txBody>
      </p:sp>
      <p:sp>
        <p:nvSpPr>
          <p:cNvPr id="13" name="Rectangle 12"/>
          <p:cNvSpPr/>
          <p:nvPr/>
        </p:nvSpPr>
        <p:spPr>
          <a:xfrm>
            <a:off x="777240" y="2304288"/>
            <a:ext cx="1893810"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304288"/>
            <a:ext cx="1674354" cy="786384"/>
          </a:xfrm>
          <a:prstGeom prst="rect">
            <a:avLst/>
          </a:prstGeom>
          <a:noFill/>
        </p:spPr>
        <p:txBody>
          <a:bodyPr wrap="square" anchor="ctr">
            <a:spAutoFit/>
          </a:bodyPr>
          <a:lstStyle/>
          <a:p>
            <a:pPr algn="l">
              <a:spcAft>
                <a:spcPts val="400"/>
              </a:spcAft>
            </a:pPr>
            <a:r>
              <a:rPr sz="1300" b="1">
                <a:solidFill>
                  <a:srgbClr val="161B26"/>
                </a:solidFill>
                <a:latin typeface="Arial"/>
              </a:rPr>
              <a:t>Mandatory</a:t>
            </a:r>
          </a:p>
        </p:txBody>
      </p:sp>
      <p:sp>
        <p:nvSpPr>
          <p:cNvPr id="15" name="Rectangle 14"/>
          <p:cNvSpPr/>
          <p:nvPr/>
        </p:nvSpPr>
        <p:spPr>
          <a:xfrm>
            <a:off x="2671050" y="2304288"/>
            <a:ext cx="4370330"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80778" y="2304288"/>
            <a:ext cx="4150874" cy="786384"/>
          </a:xfrm>
          <a:prstGeom prst="rect">
            <a:avLst/>
          </a:prstGeom>
          <a:noFill/>
        </p:spPr>
        <p:txBody>
          <a:bodyPr wrap="square" anchor="ctr">
            <a:spAutoFit/>
          </a:bodyPr>
          <a:lstStyle/>
          <a:p>
            <a:pPr algn="l">
              <a:spcAft>
                <a:spcPts val="400"/>
              </a:spcAft>
            </a:pPr>
            <a:r>
              <a:rPr sz="1200" b="0">
                <a:solidFill>
                  <a:srgbClr val="5B6372"/>
                </a:solidFill>
                <a:latin typeface="Arial"/>
              </a:rPr>
              <a:t>Contractually required or inherent in the nature of the work</a:t>
            </a:r>
          </a:p>
        </p:txBody>
      </p:sp>
      <p:sp>
        <p:nvSpPr>
          <p:cNvPr id="17" name="Rectangle 16"/>
          <p:cNvSpPr/>
          <p:nvPr/>
        </p:nvSpPr>
        <p:spPr>
          <a:xfrm>
            <a:off x="7041380" y="2304288"/>
            <a:ext cx="4370330"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51108" y="2304288"/>
            <a:ext cx="4150874" cy="786384"/>
          </a:xfrm>
          <a:prstGeom prst="rect">
            <a:avLst/>
          </a:prstGeom>
          <a:noFill/>
        </p:spPr>
        <p:txBody>
          <a:bodyPr wrap="square" anchor="ctr">
            <a:spAutoFit/>
          </a:bodyPr>
          <a:lstStyle/>
          <a:p>
            <a:pPr algn="l">
              <a:spcAft>
                <a:spcPts val="400"/>
              </a:spcAft>
            </a:pPr>
            <a:r>
              <a:rPr sz="1200" b="0">
                <a:solidFill>
                  <a:srgbClr val="5B6372"/>
                </a:solidFill>
                <a:latin typeface="Arial"/>
              </a:rPr>
              <a:t>Must schedule it — there is no way around this sequence</a:t>
            </a:r>
          </a:p>
        </p:txBody>
      </p:sp>
      <p:sp>
        <p:nvSpPr>
          <p:cNvPr id="19" name="Rectangle 18"/>
          <p:cNvSpPr/>
          <p:nvPr/>
        </p:nvSpPr>
        <p:spPr>
          <a:xfrm>
            <a:off x="777240" y="3090672"/>
            <a:ext cx="1893810"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3090672"/>
            <a:ext cx="1674354" cy="786384"/>
          </a:xfrm>
          <a:prstGeom prst="rect">
            <a:avLst/>
          </a:prstGeom>
          <a:noFill/>
        </p:spPr>
        <p:txBody>
          <a:bodyPr wrap="square" anchor="ctr">
            <a:spAutoFit/>
          </a:bodyPr>
          <a:lstStyle/>
          <a:p>
            <a:pPr algn="l">
              <a:spcAft>
                <a:spcPts val="400"/>
              </a:spcAft>
            </a:pPr>
            <a:r>
              <a:rPr sz="1300" b="1">
                <a:solidFill>
                  <a:srgbClr val="161B26"/>
                </a:solidFill>
                <a:latin typeface="Arial"/>
              </a:rPr>
              <a:t>Discretionary</a:t>
            </a:r>
          </a:p>
        </p:txBody>
      </p:sp>
      <p:sp>
        <p:nvSpPr>
          <p:cNvPr id="21" name="Rectangle 20"/>
          <p:cNvSpPr/>
          <p:nvPr/>
        </p:nvSpPr>
        <p:spPr>
          <a:xfrm>
            <a:off x="2671050" y="3090672"/>
            <a:ext cx="4370330"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80778" y="3090672"/>
            <a:ext cx="4150874" cy="786384"/>
          </a:xfrm>
          <a:prstGeom prst="rect">
            <a:avLst/>
          </a:prstGeom>
          <a:noFill/>
        </p:spPr>
        <p:txBody>
          <a:bodyPr wrap="square" anchor="ctr">
            <a:spAutoFit/>
          </a:bodyPr>
          <a:lstStyle/>
          <a:p>
            <a:pPr algn="l">
              <a:spcAft>
                <a:spcPts val="400"/>
              </a:spcAft>
            </a:pPr>
            <a:r>
              <a:rPr sz="1200" b="0">
                <a:solidFill>
                  <a:srgbClr val="5B6372"/>
                </a:solidFill>
                <a:latin typeface="Arial"/>
              </a:rPr>
              <a:t>Established from best practice or a preferred sequence</a:t>
            </a:r>
          </a:p>
        </p:txBody>
      </p:sp>
      <p:sp>
        <p:nvSpPr>
          <p:cNvPr id="23" name="Rectangle 22"/>
          <p:cNvSpPr/>
          <p:nvPr/>
        </p:nvSpPr>
        <p:spPr>
          <a:xfrm>
            <a:off x="7041380" y="3090672"/>
            <a:ext cx="4370330"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51108" y="3090672"/>
            <a:ext cx="4150874" cy="786384"/>
          </a:xfrm>
          <a:prstGeom prst="rect">
            <a:avLst/>
          </a:prstGeom>
          <a:noFill/>
        </p:spPr>
        <p:txBody>
          <a:bodyPr wrap="square" anchor="ctr">
            <a:spAutoFit/>
          </a:bodyPr>
          <a:lstStyle/>
          <a:p>
            <a:pPr algn="l">
              <a:spcAft>
                <a:spcPts val="400"/>
              </a:spcAft>
            </a:pPr>
            <a:r>
              <a:rPr sz="1200" b="0">
                <a:solidFill>
                  <a:srgbClr val="5B6372"/>
                </a:solidFill>
                <a:latin typeface="Arial"/>
              </a:rPr>
              <a:t>Can be changed if a better sequence exists or compression is needed</a:t>
            </a:r>
          </a:p>
        </p:txBody>
      </p:sp>
      <p:sp>
        <p:nvSpPr>
          <p:cNvPr id="25" name="Rectangle 24"/>
          <p:cNvSpPr/>
          <p:nvPr/>
        </p:nvSpPr>
        <p:spPr>
          <a:xfrm>
            <a:off x="777240" y="3877056"/>
            <a:ext cx="1893810"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877056"/>
            <a:ext cx="1674354" cy="786384"/>
          </a:xfrm>
          <a:prstGeom prst="rect">
            <a:avLst/>
          </a:prstGeom>
          <a:noFill/>
        </p:spPr>
        <p:txBody>
          <a:bodyPr wrap="square" anchor="ctr">
            <a:spAutoFit/>
          </a:bodyPr>
          <a:lstStyle/>
          <a:p>
            <a:pPr algn="l">
              <a:spcAft>
                <a:spcPts val="400"/>
              </a:spcAft>
            </a:pPr>
            <a:r>
              <a:rPr sz="1300" b="1">
                <a:solidFill>
                  <a:srgbClr val="161B26"/>
                </a:solidFill>
                <a:latin typeface="Arial"/>
              </a:rPr>
              <a:t>External</a:t>
            </a:r>
          </a:p>
        </p:txBody>
      </p:sp>
      <p:sp>
        <p:nvSpPr>
          <p:cNvPr id="27" name="Rectangle 26"/>
          <p:cNvSpPr/>
          <p:nvPr/>
        </p:nvSpPr>
        <p:spPr>
          <a:xfrm>
            <a:off x="2671050" y="3877056"/>
            <a:ext cx="4370330"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80778" y="3877056"/>
            <a:ext cx="4150874" cy="786384"/>
          </a:xfrm>
          <a:prstGeom prst="rect">
            <a:avLst/>
          </a:prstGeom>
          <a:noFill/>
        </p:spPr>
        <p:txBody>
          <a:bodyPr wrap="square" anchor="ctr">
            <a:spAutoFit/>
          </a:bodyPr>
          <a:lstStyle/>
          <a:p>
            <a:pPr algn="l">
              <a:spcAft>
                <a:spcPts val="400"/>
              </a:spcAft>
            </a:pPr>
            <a:r>
              <a:rPr sz="1200" b="0">
                <a:solidFill>
                  <a:srgbClr val="5B6372"/>
                </a:solidFill>
                <a:latin typeface="Arial"/>
              </a:rPr>
              <a:t>Activities performed outside the project team's work</a:t>
            </a:r>
          </a:p>
        </p:txBody>
      </p:sp>
      <p:sp>
        <p:nvSpPr>
          <p:cNvPr id="29" name="Rectangle 28"/>
          <p:cNvSpPr/>
          <p:nvPr/>
        </p:nvSpPr>
        <p:spPr>
          <a:xfrm>
            <a:off x="7041380" y="3877056"/>
            <a:ext cx="4370330"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51108" y="3877056"/>
            <a:ext cx="4150874" cy="786384"/>
          </a:xfrm>
          <a:prstGeom prst="rect">
            <a:avLst/>
          </a:prstGeom>
          <a:noFill/>
        </p:spPr>
        <p:txBody>
          <a:bodyPr wrap="square" anchor="ctr">
            <a:spAutoFit/>
          </a:bodyPr>
          <a:lstStyle/>
          <a:p>
            <a:pPr algn="l">
              <a:spcAft>
                <a:spcPts val="400"/>
              </a:spcAft>
            </a:pPr>
            <a:r>
              <a:rPr sz="1200" b="0">
                <a:solidFill>
                  <a:srgbClr val="5B6372"/>
                </a:solidFill>
                <a:latin typeface="Arial"/>
              </a:rPr>
              <a:t>Limited or no control — manage as a risk</a:t>
            </a:r>
          </a:p>
        </p:txBody>
      </p:sp>
      <p:sp>
        <p:nvSpPr>
          <p:cNvPr id="31" name="Rectangle 30"/>
          <p:cNvSpPr/>
          <p:nvPr/>
        </p:nvSpPr>
        <p:spPr>
          <a:xfrm>
            <a:off x="777240" y="4663440"/>
            <a:ext cx="1893810"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4663440"/>
            <a:ext cx="1674354" cy="786384"/>
          </a:xfrm>
          <a:prstGeom prst="rect">
            <a:avLst/>
          </a:prstGeom>
          <a:noFill/>
        </p:spPr>
        <p:txBody>
          <a:bodyPr wrap="square" anchor="ctr">
            <a:spAutoFit/>
          </a:bodyPr>
          <a:lstStyle/>
          <a:p>
            <a:pPr algn="l">
              <a:spcAft>
                <a:spcPts val="400"/>
              </a:spcAft>
            </a:pPr>
            <a:r>
              <a:rPr sz="1300" b="1">
                <a:solidFill>
                  <a:srgbClr val="161B26"/>
                </a:solidFill>
                <a:latin typeface="Arial"/>
              </a:rPr>
              <a:t>Internal</a:t>
            </a:r>
          </a:p>
        </p:txBody>
      </p:sp>
      <p:sp>
        <p:nvSpPr>
          <p:cNvPr id="33" name="Rectangle 32"/>
          <p:cNvSpPr/>
          <p:nvPr/>
        </p:nvSpPr>
        <p:spPr>
          <a:xfrm>
            <a:off x="2671050" y="4663440"/>
            <a:ext cx="4370330"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780778" y="4663440"/>
            <a:ext cx="4150874" cy="786384"/>
          </a:xfrm>
          <a:prstGeom prst="rect">
            <a:avLst/>
          </a:prstGeom>
          <a:noFill/>
        </p:spPr>
        <p:txBody>
          <a:bodyPr wrap="square" anchor="ctr">
            <a:spAutoFit/>
          </a:bodyPr>
          <a:lstStyle/>
          <a:p>
            <a:pPr algn="l">
              <a:spcAft>
                <a:spcPts val="400"/>
              </a:spcAft>
            </a:pPr>
            <a:r>
              <a:rPr sz="1200" b="0">
                <a:solidFill>
                  <a:srgbClr val="5B6372"/>
                </a:solidFill>
                <a:latin typeface="Arial"/>
              </a:rPr>
              <a:t>Within project work, contingent on the team's own inputs</a:t>
            </a:r>
          </a:p>
        </p:txBody>
      </p:sp>
      <p:sp>
        <p:nvSpPr>
          <p:cNvPr id="35" name="Rectangle 34"/>
          <p:cNvSpPr/>
          <p:nvPr/>
        </p:nvSpPr>
        <p:spPr>
          <a:xfrm>
            <a:off x="7041380" y="4663440"/>
            <a:ext cx="4370330"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151108" y="4663440"/>
            <a:ext cx="4150874" cy="786384"/>
          </a:xfrm>
          <a:prstGeom prst="rect">
            <a:avLst/>
          </a:prstGeom>
          <a:noFill/>
        </p:spPr>
        <p:txBody>
          <a:bodyPr wrap="square" anchor="ctr">
            <a:spAutoFit/>
          </a:bodyPr>
          <a:lstStyle/>
          <a:p>
            <a:pPr algn="l">
              <a:spcAft>
                <a:spcPts val="400"/>
              </a:spcAft>
            </a:pPr>
            <a:r>
              <a:rPr sz="1200" b="0">
                <a:solidFill>
                  <a:srgbClr val="5B6372"/>
                </a:solidFill>
                <a:latin typeface="Arial"/>
              </a:rPr>
              <a:t>Full control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ADJUSTING THE SEQUENCE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Leads and Lags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36208" y="1783080"/>
            <a:ext cx="517550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36208" y="1783080"/>
            <a:ext cx="517550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011680"/>
            <a:ext cx="4754880" cy="365760"/>
          </a:xfrm>
          <a:prstGeom prst="rect">
            <a:avLst/>
          </a:prstGeom>
          <a:noFill/>
        </p:spPr>
        <p:txBody>
          <a:bodyPr wrap="square" anchor="t">
            <a:spAutoFit/>
          </a:bodyPr>
          <a:lstStyle/>
          <a:p>
            <a:pPr algn="l">
              <a:spcAft>
                <a:spcPts val="400"/>
              </a:spcAft>
            </a:pPr>
            <a:r>
              <a:rPr sz="1700" b="1">
                <a:solidFill>
                  <a:srgbClr val="1F6FEB"/>
                </a:solidFill>
                <a:latin typeface="Arial"/>
              </a:rPr>
              <a:t>Lead — pull forward</a:t>
            </a:r>
          </a:p>
        </p:txBody>
      </p:sp>
      <p:sp>
        <p:nvSpPr>
          <p:cNvPr id="12" name="TextBox 11"/>
          <p:cNvSpPr txBox="1"/>
          <p:nvPr/>
        </p:nvSpPr>
        <p:spPr>
          <a:xfrm>
            <a:off x="6464808" y="2011680"/>
            <a:ext cx="4663440" cy="365760"/>
          </a:xfrm>
          <a:prstGeom prst="rect">
            <a:avLst/>
          </a:prstGeom>
          <a:noFill/>
        </p:spPr>
        <p:txBody>
          <a:bodyPr wrap="square" anchor="t">
            <a:spAutoFit/>
          </a:bodyPr>
          <a:lstStyle/>
          <a:p>
            <a:pPr algn="l">
              <a:spcAft>
                <a:spcPts val="400"/>
              </a:spcAft>
            </a:pPr>
            <a:r>
              <a:rPr sz="1700" b="1">
                <a:solidFill>
                  <a:srgbClr val="10B981"/>
                </a:solidFill>
                <a:latin typeface="Arial"/>
              </a:rPr>
              <a:t>Lag — push back</a:t>
            </a:r>
          </a:p>
        </p:txBody>
      </p:sp>
      <p:sp>
        <p:nvSpPr>
          <p:cNvPr id="13" name="TextBox 12"/>
          <p:cNvSpPr txBox="1"/>
          <p:nvPr/>
        </p:nvSpPr>
        <p:spPr>
          <a:xfrm>
            <a:off x="1005840" y="2514600"/>
            <a:ext cx="4754880" cy="3383280"/>
          </a:xfrm>
          <a:prstGeom prst="rect">
            <a:avLst/>
          </a:prstGeom>
          <a:noFill/>
        </p:spPr>
        <p:txBody>
          <a:bodyPr wrap="square">
            <a:spAutoFit/>
          </a:bodyPr>
          <a:lstStyle/>
          <a:p>
            <a:pPr>
              <a:spcAft>
                <a:spcPts val="1000"/>
              </a:spcAft>
            </a:pPr>
            <a:r>
              <a:rPr sz="1500">
                <a:solidFill>
                  <a:srgbClr val="161B26"/>
                </a:solidFill>
                <a:latin typeface="Arial"/>
              </a:rPr>
              <a:t>•  Lead</a:t>
            </a:r>
          </a:p>
          <a:p>
            <a:pPr>
              <a:spcAft>
                <a:spcPts val="1000"/>
              </a:spcAft>
            </a:pPr>
            <a:r>
              <a:rPr sz="1300">
                <a:solidFill>
                  <a:srgbClr val="5B6372"/>
                </a:solidFill>
                <a:latin typeface="Arial"/>
              </a:rPr>
              <a:t>–  The amount of time an activity can be brought FORWARD</a:t>
            </a:r>
          </a:p>
          <a:p>
            <a:pPr>
              <a:spcAft>
                <a:spcPts val="1000"/>
              </a:spcAft>
            </a:pPr>
            <a:r>
              <a:rPr sz="1300">
                <a:solidFill>
                  <a:srgbClr val="5B6372"/>
                </a:solidFill>
                <a:latin typeface="Arial"/>
              </a:rPr>
              <a:t>–  Allows a successor to start before the predecessor finishes</a:t>
            </a:r>
          </a:p>
          <a:p>
            <a:pPr>
              <a:spcAft>
                <a:spcPts val="1000"/>
              </a:spcAft>
            </a:pPr>
            <a:r>
              <a:rPr sz="1300">
                <a:solidFill>
                  <a:srgbClr val="5B6372"/>
                </a:solidFill>
                <a:latin typeface="Arial"/>
              </a:rPr>
              <a:t>–  Written as a negative value, e.g. FS – 2 days</a:t>
            </a:r>
          </a:p>
        </p:txBody>
      </p:sp>
      <p:sp>
        <p:nvSpPr>
          <p:cNvPr id="14" name="TextBox 13"/>
          <p:cNvSpPr txBox="1"/>
          <p:nvPr/>
        </p:nvSpPr>
        <p:spPr>
          <a:xfrm>
            <a:off x="6464808" y="2514600"/>
            <a:ext cx="4709160" cy="3383280"/>
          </a:xfrm>
          <a:prstGeom prst="rect">
            <a:avLst/>
          </a:prstGeom>
          <a:noFill/>
        </p:spPr>
        <p:txBody>
          <a:bodyPr wrap="square">
            <a:spAutoFit/>
          </a:bodyPr>
          <a:lstStyle/>
          <a:p>
            <a:pPr>
              <a:spcAft>
                <a:spcPts val="1000"/>
              </a:spcAft>
            </a:pPr>
            <a:r>
              <a:rPr sz="1500">
                <a:solidFill>
                  <a:srgbClr val="161B26"/>
                </a:solidFill>
                <a:latin typeface="Arial"/>
              </a:rPr>
              <a:t>•  Lag</a:t>
            </a:r>
          </a:p>
          <a:p>
            <a:pPr>
              <a:spcAft>
                <a:spcPts val="1000"/>
              </a:spcAft>
            </a:pPr>
            <a:r>
              <a:rPr sz="1300">
                <a:solidFill>
                  <a:srgbClr val="5B6372"/>
                </a:solidFill>
                <a:latin typeface="Arial"/>
              </a:rPr>
              <a:t>–  The amount of time an activity is DELAYED</a:t>
            </a:r>
          </a:p>
          <a:p>
            <a:pPr>
              <a:spcAft>
                <a:spcPts val="1000"/>
              </a:spcAft>
            </a:pPr>
            <a:r>
              <a:rPr sz="1300">
                <a:solidFill>
                  <a:srgbClr val="5B6372"/>
                </a:solidFill>
                <a:latin typeface="Arial"/>
              </a:rPr>
              <a:t>–  Waiting time between activities — concrete curing, approval periods</a:t>
            </a:r>
          </a:p>
          <a:p>
            <a:pPr>
              <a:spcAft>
                <a:spcPts val="1000"/>
              </a:spcAft>
            </a:pPr>
            <a:r>
              <a:rPr sz="1300">
                <a:solidFill>
                  <a:srgbClr val="5B6372"/>
                </a:solidFill>
                <a:latin typeface="Arial"/>
              </a:rPr>
              <a:t>–  Written as a positive value, e.g. FS + 3 days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SIX ESTIMATING TECHNIQUES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Estimating Durations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Expert judgement</a:t>
            </a:r>
          </a:p>
          <a:p>
            <a:pPr algn="l">
              <a:spcAft>
                <a:spcPts val="300"/>
              </a:spcAft>
            </a:pPr>
            <a:r>
              <a:rPr sz="1000" b="0">
                <a:solidFill>
                  <a:srgbClr val="5B6372"/>
                </a:solidFill>
                <a:latin typeface="Arial"/>
              </a:rPr>
              <a:t>Ask the people who will actually do the work.</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Analogous</a:t>
            </a:r>
          </a:p>
          <a:p>
            <a:pPr algn="l">
              <a:spcAft>
                <a:spcPts val="300"/>
              </a:spcAft>
            </a:pPr>
            <a:r>
              <a:rPr sz="1000" b="0">
                <a:solidFill>
                  <a:srgbClr val="5B6372"/>
                </a:solidFill>
                <a:latin typeface="Arial"/>
              </a:rPr>
              <a:t>Use a similar past activity — fast, lower accuracy.</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22904"/>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Parametric</a:t>
            </a:r>
          </a:p>
          <a:p>
            <a:pPr algn="l">
              <a:spcAft>
                <a:spcPts val="300"/>
              </a:spcAft>
            </a:pPr>
            <a:r>
              <a:rPr sz="1000" b="0">
                <a:solidFill>
                  <a:srgbClr val="5B6372"/>
                </a:solidFill>
                <a:latin typeface="Arial"/>
              </a:rPr>
              <a:t>Use a rate — $55 per metre, 8 hours per test case. Medium effort and accuracy.</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22904"/>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Bottom-up</a:t>
            </a:r>
          </a:p>
          <a:p>
            <a:pPr algn="l">
              <a:spcAft>
                <a:spcPts val="300"/>
              </a:spcAft>
            </a:pPr>
            <a:r>
              <a:rPr sz="1000" b="0">
                <a:solidFill>
                  <a:srgbClr val="5B6372"/>
                </a:solidFill>
                <a:latin typeface="Arial"/>
              </a:rPr>
              <a:t>Add up the smallest pieces — high effort, high accuracy.</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53000"/>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Three-point</a:t>
            </a:r>
          </a:p>
          <a:p>
            <a:pPr algn="l">
              <a:spcAft>
                <a:spcPts val="300"/>
              </a:spcAft>
            </a:pPr>
            <a:r>
              <a:rPr sz="1000" b="0">
                <a:solidFill>
                  <a:srgbClr val="5B6372"/>
                </a:solidFill>
                <a:latin typeface="Arial"/>
              </a:rPr>
              <a:t>(O + M + P) / 3 — useful when opinions differ.</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53000"/>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PERT / Beta</a:t>
            </a:r>
          </a:p>
          <a:p>
            <a:pPr algn="l">
              <a:spcAft>
                <a:spcPts val="300"/>
              </a:spcAft>
            </a:pPr>
            <a:r>
              <a:rPr sz="1000" b="0">
                <a:solidFill>
                  <a:srgbClr val="5B6372"/>
                </a:solidFill>
                <a:latin typeface="Arial"/>
              </a:rPr>
              <a:t>(O + 4M + P) / 6 — weights the most likely estimate.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ESTIMATING AS A TEAM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Wideband Delphi and Planning Poker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a:solidFill>
                  <a:srgbClr val="161B26"/>
                </a:solidFill>
                <a:latin typeface="Arial"/>
              </a:rPr>
              <a:t>•  The people who will do the work estimate the effort independently.</a:t>
            </a:r>
          </a:p>
          <a:p>
            <a:pPr>
              <a:spcAft>
                <a:spcPts val="1000"/>
              </a:spcAft>
            </a:pPr>
            <a:r>
              <a:rPr sz="1700">
                <a:solidFill>
                  <a:srgbClr val="161B26"/>
                </a:solidFill>
                <a:latin typeface="Arial"/>
              </a:rPr>
              <a:t>•  The highest and lowest estimates explain their reasoning to the group.</a:t>
            </a:r>
          </a:p>
          <a:p>
            <a:pPr>
              <a:spcAft>
                <a:spcPts val="1000"/>
              </a:spcAft>
            </a:pPr>
            <a:r>
              <a:rPr sz="1700">
                <a:solidFill>
                  <a:srgbClr val="161B26"/>
                </a:solidFill>
                <a:latin typeface="Arial"/>
              </a:rPr>
              <a:t>•  Everyone re-estimates. Repeat until the estimates converge.</a:t>
            </a:r>
          </a:p>
          <a:p>
            <a:pPr>
              <a:spcAft>
                <a:spcPts val="1000"/>
              </a:spcAft>
            </a:pPr>
            <a:r>
              <a:rPr sz="1700">
                <a:solidFill>
                  <a:srgbClr val="161B26"/>
                </a:solidFill>
                <a:latin typeface="Arial"/>
              </a:rPr>
              <a:t>•  Useful in complex situations, and it surfaces hidden assumptions that a single estimate hides.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FOUR TERMS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Schedule Definitions You Must Know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Free Float</a:t>
            </a:r>
          </a:p>
          <a:p>
            <a:pPr algn="l">
              <a:spcAft>
                <a:spcPts val="300"/>
              </a:spcAft>
            </a:pPr>
            <a:r>
              <a:rPr sz="1200" b="0">
                <a:solidFill>
                  <a:srgbClr val="5B6372"/>
                </a:solidFill>
                <a:latin typeface="Arial"/>
              </a:rPr>
              <a:t>How long an activity can be delayed without delaying its successor.</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Total Float</a:t>
            </a:r>
          </a:p>
          <a:p>
            <a:pPr algn="l">
              <a:spcAft>
                <a:spcPts val="300"/>
              </a:spcAft>
            </a:pPr>
            <a:r>
              <a:rPr sz="1200" b="0">
                <a:solidFill>
                  <a:srgbClr val="5B6372"/>
                </a:solidFill>
                <a:latin typeface="Arial"/>
              </a:rPr>
              <a:t>How long an activity can be delayed without delaying the project.</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Critical Path</a:t>
            </a:r>
          </a:p>
          <a:p>
            <a:pPr algn="l">
              <a:spcAft>
                <a:spcPts val="300"/>
              </a:spcAft>
            </a:pPr>
            <a:r>
              <a:rPr sz="1200" b="0">
                <a:solidFill>
                  <a:srgbClr val="5B6372"/>
                </a:solidFill>
                <a:latin typeface="Arial"/>
              </a:rPr>
              <a:t>The sequence of activities that determines the shortest possible project duration.</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Forward &amp; Backward Pass</a:t>
            </a:r>
          </a:p>
          <a:p>
            <a:pPr algn="l">
              <a:spcAft>
                <a:spcPts val="300"/>
              </a:spcAft>
            </a:pPr>
            <a:r>
              <a:rPr sz="1200" b="0">
                <a:solidFill>
                  <a:srgbClr val="5B6372"/>
                </a:solidFill>
                <a:latin typeface="Arial"/>
              </a:rPr>
              <a:t>The calculation that determines each activity's float.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E11D48"/>
                </a:solidFill>
                <a:latin typeface="Arial"/>
              </a:rPr>
              <a:t>THE CRITICAL PATH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600" b="1">
                <a:solidFill>
                  <a:srgbClr val="161B26"/>
                </a:solidFill>
                <a:latin typeface="Arial"/>
              </a:rPr>
              <a:t>Activities on the critical path have zero float.</a:t>
            </a:r>
          </a:p>
        </p:txBody>
      </p:sp>
      <p:sp>
        <p:nvSpPr>
          <p:cNvPr id="6" name="TextBox 5"/>
          <p:cNvSpPr txBox="1"/>
          <p:nvPr/>
        </p:nvSpPr>
        <p:spPr>
          <a:xfrm>
            <a:off x="1024128" y="457200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Delay any one of them and you delay the whole project. This is why you must know which activities are critical — and GenAI's arithmetic on this must be checked.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ACTIVITY 9</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Build the Schedule and Find the Critical Path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9</a:t>
            </a:r>
          </a:p>
        </p:txBody>
      </p:sp>
      <p:sp>
        <p:nvSpPr>
          <p:cNvPr id="9" name="TextBox 8"/>
          <p:cNvSpPr txBox="1"/>
          <p:nvPr/>
        </p:nvSpPr>
        <p:spPr>
          <a:xfrm>
            <a:off x="777240" y="2331720"/>
            <a:ext cx="10698480" cy="1554480"/>
          </a:xfrm>
          <a:prstGeom prst="rect">
            <a:avLst/>
          </a:prstGeom>
          <a:noFill/>
        </p:spPr>
        <p:txBody>
          <a:bodyPr wrap="square" anchor="t">
            <a:spAutoFit/>
          </a:bodyPr>
          <a:lstStyle/>
          <a:p>
            <a:pPr algn="l">
              <a:spcAft>
                <a:spcPts val="400"/>
              </a:spcAft>
            </a:pPr>
            <a:r>
              <a:rPr sz="1900" b="0">
                <a:solidFill>
                  <a:srgbClr val="161B26"/>
                </a:solidFill>
                <a:latin typeface="Arial"/>
              </a:rPr>
              <a:t>You will turn your work packages into a sequenced, estimated schedule, draw the network diagram, and compute the critical path — then check whether GenAI's arithmetic can be trusted.</a:t>
            </a:r>
          </a:p>
        </p:txBody>
      </p:sp>
      <p:sp>
        <p:nvSpPr>
          <p:cNvPr id="10" name="Rectangle 9"/>
          <p:cNvSpPr/>
          <p:nvPr/>
        </p:nvSpPr>
        <p:spPr>
          <a:xfrm>
            <a:off x="777240" y="3977639"/>
            <a:ext cx="10634472" cy="17830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60520"/>
            <a:ext cx="10058400" cy="365760"/>
          </a:xfrm>
          <a:prstGeom prst="rect">
            <a:avLst/>
          </a:prstGeom>
          <a:noFill/>
        </p:spPr>
        <p:txBody>
          <a:bodyPr wrap="square" anchor="t">
            <a:spAutoFit/>
          </a:bodyPr>
          <a:lstStyle/>
          <a:p>
            <a:pPr algn="l">
              <a:spcAft>
                <a:spcPts val="400"/>
              </a:spcAft>
            </a:pPr>
            <a:r>
              <a:rPr sz="1300" b="1">
                <a:solidFill>
                  <a:srgbClr val="127A3E"/>
                </a:solidFill>
                <a:latin typeface="Arial"/>
              </a:rPr>
              <a:t>You'll produce</a:t>
            </a:r>
          </a:p>
        </p:txBody>
      </p:sp>
      <p:sp>
        <p:nvSpPr>
          <p:cNvPr id="12" name="TextBox 11"/>
          <p:cNvSpPr txBox="1"/>
          <p:nvPr/>
        </p:nvSpPr>
        <p:spPr>
          <a:xfrm>
            <a:off x="1005840" y="4498848"/>
            <a:ext cx="10149840" cy="685800"/>
          </a:xfrm>
          <a:prstGeom prst="rect">
            <a:avLst/>
          </a:prstGeom>
          <a:noFill/>
        </p:spPr>
        <p:txBody>
          <a:bodyPr wrap="square" anchor="t">
            <a:spAutoFit/>
          </a:bodyPr>
          <a:lstStyle/>
          <a:p>
            <a:pPr algn="l">
              <a:spcAft>
                <a:spcPts val="400"/>
              </a:spcAft>
            </a:pPr>
            <a:r>
              <a:rPr sz="1700" b="1">
                <a:solidFill>
                  <a:srgbClr val="161B26"/>
                </a:solidFill>
                <a:latin typeface="Arial"/>
              </a:rPr>
              <a:t>A Gantt chart, a schedule network diagram and a calculated critical path.</a:t>
            </a:r>
          </a:p>
        </p:txBody>
      </p:sp>
      <p:sp>
        <p:nvSpPr>
          <p:cNvPr id="13" name="TextBox 12"/>
          <p:cNvSpPr txBox="1"/>
          <p:nvPr/>
        </p:nvSpPr>
        <p:spPr>
          <a:xfrm>
            <a:off x="1005840" y="5257800"/>
            <a:ext cx="10241280" cy="4572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GenAI tool · Gantt Chart Template.xlsx · Schedule Network Diagram.xlsx</a:t>
            </a:r>
          </a:p>
        </p:txBody>
      </p:sp>
      <p:sp>
        <p:nvSpPr>
          <p:cNvPr id="14" name="TextBox 13"/>
          <p:cNvSpPr txBox="1"/>
          <p:nvPr/>
        </p:nvSpPr>
        <p:spPr>
          <a:xfrm>
            <a:off x="777240" y="5897880"/>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Step-by-step instructions: see your Learner Guide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01 · ACTIVITY 9</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Build the Schedule and Find the Critical Path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9</a:t>
            </a:r>
          </a:p>
        </p:txBody>
      </p:sp>
      <p:sp>
        <p:nvSpPr>
          <p:cNvPr id="9" name="TextBox 8"/>
          <p:cNvSpPr txBox="1"/>
          <p:nvPr/>
        </p:nvSpPr>
        <p:spPr>
          <a:xfrm>
            <a:off x="777240" y="2286000"/>
            <a:ext cx="10607040" cy="365760"/>
          </a:xfrm>
          <a:prstGeom prst="rect">
            <a:avLst/>
          </a:prstGeom>
          <a:noFill/>
        </p:spPr>
        <p:txBody>
          <a:bodyPr wrap="square" anchor="t">
            <a:spAutoFit/>
          </a:bodyPr>
          <a:lstStyle/>
          <a:p>
            <a:pPr algn="l">
              <a:spcAft>
                <a:spcPts val="400"/>
              </a:spcAft>
            </a:pPr>
            <a:r>
              <a:rPr sz="1200" b="1">
                <a:solidFill>
                  <a:srgbClr val="7C3AED"/>
                </a:solidFill>
                <a:latin typeface="Arial"/>
              </a:rPr>
              <a:t>PROMPT GenAI WITH</a:t>
            </a:r>
          </a:p>
        </p:txBody>
      </p:sp>
      <p:sp>
        <p:nvSpPr>
          <p:cNvPr id="10" name="Rectangle 9"/>
          <p:cNvSpPr/>
          <p:nvPr/>
        </p:nvSpPr>
        <p:spPr>
          <a:xfrm>
            <a:off x="777240" y="2651760"/>
            <a:ext cx="10634472" cy="19659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88920"/>
            <a:ext cx="10104120" cy="1691640"/>
          </a:xfrm>
          <a:prstGeom prst="rect">
            <a:avLst/>
          </a:prstGeom>
          <a:noFill/>
        </p:spPr>
        <p:txBody>
          <a:bodyPr wrap="square" anchor="ctr">
            <a:spAutoFit/>
          </a:bodyPr>
          <a:lstStyle/>
          <a:p>
            <a:pPr algn="l">
              <a:spcAft>
                <a:spcPts val="400"/>
              </a:spcAft>
            </a:pPr>
            <a:r>
              <a:rPr sz="1600" b="0">
                <a:solidFill>
                  <a:srgbClr val="D6E4FF"/>
                </a:solidFill>
                <a:latin typeface="Arial"/>
              </a:rPr>
              <a:t>Using the task data provided, propose a project schedule for building a CRM system. Preserve the stated dependencies, identify the critical path and show your forward-pass and backward-pass calculations.</a:t>
            </a:r>
          </a:p>
        </p:txBody>
      </p:sp>
      <p:sp>
        <p:nvSpPr>
          <p:cNvPr id="12" name="Rectangle 11"/>
          <p:cNvSpPr/>
          <p:nvPr/>
        </p:nvSpPr>
        <p:spPr>
          <a:xfrm>
            <a:off x="777240" y="4800600"/>
            <a:ext cx="10634472" cy="1051560"/>
          </a:xfrm>
          <a:prstGeom prst="rect">
            <a:avLst/>
          </a:prstGeom>
          <a:solidFill>
            <a:srgbClr val="FFF4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4919472"/>
            <a:ext cx="10149840" cy="320040"/>
          </a:xfrm>
          <a:prstGeom prst="rect">
            <a:avLst/>
          </a:prstGeom>
          <a:noFill/>
        </p:spPr>
        <p:txBody>
          <a:bodyPr wrap="square" anchor="t">
            <a:spAutoFit/>
          </a:bodyPr>
          <a:lstStyle/>
          <a:p>
            <a:pPr algn="l">
              <a:spcAft>
                <a:spcPts val="400"/>
              </a:spcAft>
            </a:pPr>
            <a:r>
              <a:rPr sz="1200" b="1">
                <a:solidFill>
                  <a:srgbClr val="F59E0B"/>
                </a:solidFill>
                <a:latin typeface="Arial"/>
              </a:rPr>
              <a:t>⚠  THEN CHECK IT</a:t>
            </a:r>
          </a:p>
        </p:txBody>
      </p:sp>
      <p:sp>
        <p:nvSpPr>
          <p:cNvPr id="14" name="TextBox 13"/>
          <p:cNvSpPr txBox="1"/>
          <p:nvPr/>
        </p:nvSpPr>
        <p:spPr>
          <a:xfrm>
            <a:off x="1051560" y="5230368"/>
            <a:ext cx="10149840" cy="548640"/>
          </a:xfrm>
          <a:prstGeom prst="rect">
            <a:avLst/>
          </a:prstGeom>
          <a:noFill/>
        </p:spPr>
        <p:txBody>
          <a:bodyPr wrap="square" anchor="t">
            <a:spAutoFit/>
          </a:bodyPr>
          <a:lstStyle/>
          <a:p>
            <a:pPr algn="l">
              <a:spcAft>
                <a:spcPts val="400"/>
              </a:spcAft>
            </a:pPr>
            <a:r>
              <a:rPr sz="1400" b="0">
                <a:solidFill>
                  <a:srgbClr val="161B26"/>
                </a:solidFill>
                <a:latin typeface="Arial"/>
              </a:rPr>
              <a:t>GenAI gives you a fast first draft. Check every figure, source and assumption before you use it.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9 · CHECK YOUR 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Build the Schedule and Find the Critical Path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34472"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9" name="TextBox 8"/>
          <p:cNvSpPr txBox="1"/>
          <p:nvPr/>
        </p:nvSpPr>
        <p:spPr>
          <a:xfrm>
            <a:off x="1097280" y="3017520"/>
            <a:ext cx="9966960" cy="1280160"/>
          </a:xfrm>
          <a:prstGeom prst="rect">
            <a:avLst/>
          </a:prstGeom>
          <a:noFill/>
        </p:spPr>
        <p:txBody>
          <a:bodyPr wrap="square" anchor="t">
            <a:spAutoFit/>
          </a:bodyPr>
          <a:lstStyle/>
          <a:p>
            <a:pPr algn="l">
              <a:spcAft>
                <a:spcPts val="400"/>
              </a:spcAft>
            </a:pPr>
            <a:r>
              <a:rPr sz="1700" b="0">
                <a:solidFill>
                  <a:srgbClr val="161B26"/>
                </a:solidFill>
                <a:latin typeface="Arial"/>
              </a:rPr>
              <a:t>You can state the critical path, the total duration and the float on at least one non-critical activity, and you have checked GenAI's computed path against your own.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9509760" cy="548640"/>
          </a:xfrm>
          <a:prstGeom prst="rect">
            <a:avLst/>
          </a:prstGeom>
          <a:noFill/>
        </p:spPr>
        <p:txBody>
          <a:bodyPr wrap="square" anchor="t">
            <a:spAutoFit/>
          </a:bodyPr>
          <a:lstStyle/>
          <a:p>
            <a:pPr algn="l">
              <a:spcAft>
                <a:spcPts val="400"/>
              </a:spcAft>
            </a:pPr>
            <a:r>
              <a:rPr sz="1800" b="1">
                <a:solidFill>
                  <a:srgbClr val="1F6FEB"/>
                </a:solidFill>
                <a:latin typeface="Arial"/>
              </a:rPr>
              <a:t>COST</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3800" b="1">
                <a:solidFill>
                  <a:srgbClr val="161B26"/>
                </a:solidFill>
                <a:latin typeface="Arial"/>
              </a:rPr>
              <a:t>Estimate Costs &amp; Determine the Budget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FOUR WAYS TO ESTIMATE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Estimating Costs — Four Techniques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Analogous</a:t>
            </a:r>
          </a:p>
          <a:p>
            <a:pPr algn="l">
              <a:spcAft>
                <a:spcPts val="300"/>
              </a:spcAft>
            </a:pPr>
            <a:r>
              <a:rPr sz="1100" b="0">
                <a:solidFill>
                  <a:srgbClr val="5B6372"/>
                </a:solidFill>
                <a:latin typeface="Arial"/>
              </a:rPr>
              <a:t>Use historical information and expert judgement from a previous similar project. Low cost, reasonably accurate.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Parametric</a:t>
            </a:r>
          </a:p>
          <a:p>
            <a:pPr algn="l">
              <a:spcAft>
                <a:spcPts val="300"/>
              </a:spcAft>
            </a:pPr>
            <a:r>
              <a:rPr sz="1100" b="0">
                <a:solidFill>
                  <a:srgbClr val="5B6372"/>
                </a:solidFill>
                <a:latin typeface="Arial"/>
              </a:rPr>
              <a:t>Take a rate from historical data and apply it: cost = quantity × rate per unit.</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87952"/>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Bottom-up</a:t>
            </a:r>
          </a:p>
          <a:p>
            <a:pPr algn="l">
              <a:spcAft>
                <a:spcPts val="300"/>
              </a:spcAft>
            </a:pPr>
            <a:r>
              <a:rPr sz="1100" b="0">
                <a:solidFill>
                  <a:srgbClr val="5B6372"/>
                </a:solidFill>
                <a:latin typeface="Arial"/>
              </a:rPr>
              <a:t>Roll costs up from the smallest activity. Most accurate, but time consuming and costly.</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87952"/>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Three-point</a:t>
            </a:r>
          </a:p>
          <a:p>
            <a:pPr algn="l">
              <a:spcAft>
                <a:spcPts val="300"/>
              </a:spcAft>
            </a:pPr>
            <a:r>
              <a:rPr sz="1100" b="0">
                <a:solidFill>
                  <a:srgbClr val="5B6372"/>
                </a:solidFill>
                <a:latin typeface="Arial"/>
              </a:rPr>
              <a:t>Ce = (Co + 4Cm + Cp) / 6 — a weighted average that reduces bias and uncertainty.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TWO FUNDING MODELS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Budgets — Predictive vs Agile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36208" y="1783080"/>
            <a:ext cx="517550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36208" y="1783080"/>
            <a:ext cx="517550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011680"/>
            <a:ext cx="4754880" cy="365760"/>
          </a:xfrm>
          <a:prstGeom prst="rect">
            <a:avLst/>
          </a:prstGeom>
          <a:noFill/>
        </p:spPr>
        <p:txBody>
          <a:bodyPr wrap="square" anchor="t">
            <a:spAutoFit/>
          </a:bodyPr>
          <a:lstStyle/>
          <a:p>
            <a:pPr algn="l">
              <a:spcAft>
                <a:spcPts val="400"/>
              </a:spcAft>
            </a:pPr>
            <a:r>
              <a:rPr sz="1700" b="1">
                <a:solidFill>
                  <a:srgbClr val="1F6FEB"/>
                </a:solidFill>
                <a:latin typeface="Arial"/>
              </a:rPr>
              <a:t>Predictive</a:t>
            </a:r>
          </a:p>
        </p:txBody>
      </p:sp>
      <p:sp>
        <p:nvSpPr>
          <p:cNvPr id="12" name="TextBox 11"/>
          <p:cNvSpPr txBox="1"/>
          <p:nvPr/>
        </p:nvSpPr>
        <p:spPr>
          <a:xfrm>
            <a:off x="6464808" y="2011680"/>
            <a:ext cx="4663440" cy="365760"/>
          </a:xfrm>
          <a:prstGeom prst="rect">
            <a:avLst/>
          </a:prstGeom>
          <a:noFill/>
        </p:spPr>
        <p:txBody>
          <a:bodyPr wrap="square" anchor="t">
            <a:spAutoFit/>
          </a:bodyPr>
          <a:lstStyle/>
          <a:p>
            <a:pPr algn="l">
              <a:spcAft>
                <a:spcPts val="400"/>
              </a:spcAft>
            </a:pPr>
            <a:r>
              <a:rPr sz="1700" b="1">
                <a:solidFill>
                  <a:srgbClr val="10B981"/>
                </a:solidFill>
                <a:latin typeface="Arial"/>
              </a:rPr>
              <a:t>Agile</a:t>
            </a:r>
          </a:p>
        </p:txBody>
      </p:sp>
      <p:sp>
        <p:nvSpPr>
          <p:cNvPr id="13" name="TextBox 12"/>
          <p:cNvSpPr txBox="1"/>
          <p:nvPr/>
        </p:nvSpPr>
        <p:spPr>
          <a:xfrm>
            <a:off x="1005840" y="2514600"/>
            <a:ext cx="4754880" cy="3383280"/>
          </a:xfrm>
          <a:prstGeom prst="rect">
            <a:avLst/>
          </a:prstGeom>
          <a:noFill/>
        </p:spPr>
        <p:txBody>
          <a:bodyPr wrap="square">
            <a:spAutoFit/>
          </a:bodyPr>
          <a:lstStyle/>
          <a:p>
            <a:pPr>
              <a:spcAft>
                <a:spcPts val="1000"/>
              </a:spcAft>
            </a:pPr>
            <a:r>
              <a:rPr sz="1400">
                <a:solidFill>
                  <a:srgbClr val="161B26"/>
                </a:solidFill>
                <a:latin typeface="Arial"/>
              </a:rPr>
              <a:t>•  Predictive projects</a:t>
            </a:r>
          </a:p>
          <a:p>
            <a:pPr>
              <a:spcAft>
                <a:spcPts val="1000"/>
              </a:spcAft>
            </a:pPr>
            <a:r>
              <a:rPr sz="1200">
                <a:solidFill>
                  <a:srgbClr val="5B6372"/>
                </a:solidFill>
                <a:latin typeface="Arial"/>
              </a:rPr>
              <a:t>–  Total budget built bottom-up from work package estimates</a:t>
            </a:r>
          </a:p>
          <a:p>
            <a:pPr>
              <a:spcAft>
                <a:spcPts val="1000"/>
              </a:spcAft>
            </a:pPr>
            <a:r>
              <a:rPr sz="1200">
                <a:solidFill>
                  <a:srgbClr val="5B6372"/>
                </a:solidFill>
                <a:latin typeface="Arial"/>
              </a:rPr>
              <a:t>–  Contingency reserves added for identified risks</a:t>
            </a:r>
          </a:p>
          <a:p>
            <a:pPr>
              <a:spcAft>
                <a:spcPts val="1000"/>
              </a:spcAft>
            </a:pPr>
            <a:r>
              <a:rPr sz="1200">
                <a:solidFill>
                  <a:srgbClr val="5B6372"/>
                </a:solidFill>
                <a:latin typeface="Arial"/>
              </a:rPr>
              <a:t>–  Management reserves added for unforeseen scope</a:t>
            </a:r>
          </a:p>
          <a:p>
            <a:pPr>
              <a:spcAft>
                <a:spcPts val="1000"/>
              </a:spcAft>
            </a:pPr>
            <a:r>
              <a:rPr sz="1200">
                <a:solidFill>
                  <a:srgbClr val="5B6372"/>
                </a:solidFill>
                <a:latin typeface="Arial"/>
              </a:rPr>
              <a:t>–  Once approved, changed only by change request</a:t>
            </a:r>
          </a:p>
        </p:txBody>
      </p:sp>
      <p:sp>
        <p:nvSpPr>
          <p:cNvPr id="14" name="TextBox 13"/>
          <p:cNvSpPr txBox="1"/>
          <p:nvPr/>
        </p:nvSpPr>
        <p:spPr>
          <a:xfrm>
            <a:off x="6464808" y="2514600"/>
            <a:ext cx="4709160" cy="3383280"/>
          </a:xfrm>
          <a:prstGeom prst="rect">
            <a:avLst/>
          </a:prstGeom>
          <a:noFill/>
        </p:spPr>
        <p:txBody>
          <a:bodyPr wrap="square">
            <a:spAutoFit/>
          </a:bodyPr>
          <a:lstStyle/>
          <a:p>
            <a:pPr>
              <a:spcAft>
                <a:spcPts val="1000"/>
              </a:spcAft>
            </a:pPr>
            <a:r>
              <a:rPr sz="1400">
                <a:solidFill>
                  <a:srgbClr val="161B26"/>
                </a:solidFill>
                <a:latin typeface="Arial"/>
              </a:rPr>
              <a:t>•  Agile projects</a:t>
            </a:r>
          </a:p>
          <a:p>
            <a:pPr>
              <a:spcAft>
                <a:spcPts val="1000"/>
              </a:spcAft>
            </a:pPr>
            <a:r>
              <a:rPr sz="1200">
                <a:solidFill>
                  <a:srgbClr val="5B6372"/>
                </a:solidFill>
                <a:latin typeface="Arial"/>
              </a:rPr>
              <a:t>–  The team is fully funded for a set period</a:t>
            </a:r>
          </a:p>
          <a:p>
            <a:pPr>
              <a:spcAft>
                <a:spcPts val="1000"/>
              </a:spcAft>
            </a:pPr>
            <a:r>
              <a:rPr sz="1200">
                <a:solidFill>
                  <a:srgbClr val="5B6372"/>
                </a:solidFill>
                <a:latin typeface="Arial"/>
              </a:rPr>
              <a:t>–  Cost and time are FIXED</a:t>
            </a:r>
          </a:p>
          <a:p>
            <a:pPr>
              <a:spcAft>
                <a:spcPts val="1000"/>
              </a:spcAft>
            </a:pPr>
            <a:r>
              <a:rPr sz="1200">
                <a:solidFill>
                  <a:srgbClr val="5B6372"/>
                </a:solidFill>
                <a:latin typeface="Arial"/>
              </a:rPr>
              <a:t>–  Scope is the variable — prioritised by the product owner</a:t>
            </a:r>
          </a:p>
          <a:p>
            <a:pPr>
              <a:spcAft>
                <a:spcPts val="1000"/>
              </a:spcAft>
            </a:pPr>
            <a:r>
              <a:rPr sz="1200">
                <a:solidFill>
                  <a:srgbClr val="5B6372"/>
                </a:solidFill>
                <a:latin typeface="Arial"/>
              </a:rPr>
              <a:t>–  Value is delivered incrementally within the funded period</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PLANNING FOR WHAT YOU DON'T KNOW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Reserves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Contingency Reserve</a:t>
            </a:r>
          </a:p>
          <a:p>
            <a:pPr algn="l">
              <a:spcAft>
                <a:spcPts val="300"/>
              </a:spcAft>
            </a:pPr>
            <a:r>
              <a:rPr sz="1100" b="0">
                <a:solidFill>
                  <a:srgbClr val="5B6372"/>
                </a:solidFill>
                <a:latin typeface="Arial"/>
              </a:rPr>
              <a:t>Set aside for identified risks should they occur. Sits INSIDE the cost baseline. Controlled by the PM.</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Management Reserve</a:t>
            </a:r>
          </a:p>
          <a:p>
            <a:pPr algn="l">
              <a:spcAft>
                <a:spcPts val="300"/>
              </a:spcAft>
            </a:pPr>
            <a:r>
              <a:rPr sz="1100" b="0">
                <a:solidFill>
                  <a:srgbClr val="5B6372"/>
                </a:solidFill>
                <a:latin typeface="Arial"/>
              </a:rPr>
              <a:t>Set aside for unforeseen work within scope. Sits OUTSIDE the cost baseline. Requires management approval.</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87952"/>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Reserve Analysis</a:t>
            </a:r>
          </a:p>
          <a:p>
            <a:pPr algn="l">
              <a:spcAft>
                <a:spcPts val="300"/>
              </a:spcAft>
            </a:pPr>
            <a:r>
              <a:rPr sz="1100" b="0">
                <a:solidFill>
                  <a:srgbClr val="5B6372"/>
                </a:solidFill>
                <a:latin typeface="Arial"/>
              </a:rPr>
              <a:t>Compares the amount of risk remaining against the amount of contingency remaining.</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87952"/>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Cost Baseline</a:t>
            </a:r>
          </a:p>
          <a:p>
            <a:pPr algn="l">
              <a:spcAft>
                <a:spcPts val="300"/>
              </a:spcAft>
            </a:pPr>
            <a:r>
              <a:rPr sz="1100" b="0">
                <a:solidFill>
                  <a:srgbClr val="5B6372"/>
                </a:solidFill>
                <a:latin typeface="Arial"/>
              </a:rPr>
              <a:t>All work package costs (bottom-up) plus the contingency reserve.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ACTIVITY 10</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Estimate Costs and Build the Budget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10</a:t>
            </a:r>
          </a:p>
        </p:txBody>
      </p:sp>
      <p:sp>
        <p:nvSpPr>
          <p:cNvPr id="9" name="TextBox 8"/>
          <p:cNvSpPr txBox="1"/>
          <p:nvPr/>
        </p:nvSpPr>
        <p:spPr>
          <a:xfrm>
            <a:off x="777240" y="2331720"/>
            <a:ext cx="10698480" cy="1554480"/>
          </a:xfrm>
          <a:prstGeom prst="rect">
            <a:avLst/>
          </a:prstGeom>
          <a:noFill/>
        </p:spPr>
        <p:txBody>
          <a:bodyPr wrap="square" anchor="t">
            <a:spAutoFit/>
          </a:bodyPr>
          <a:lstStyle/>
          <a:p>
            <a:pPr algn="l">
              <a:spcAft>
                <a:spcPts val="400"/>
              </a:spcAft>
            </a:pPr>
            <a:r>
              <a:rPr sz="1900" b="0">
                <a:solidFill>
                  <a:srgbClr val="161B26"/>
                </a:solidFill>
                <a:latin typeface="Arial"/>
              </a:rPr>
              <a:t>You will apply the four estimating techniques to the same work, compare what each produces, and assemble a cost baseline with contingency and management reserves.</a:t>
            </a:r>
          </a:p>
        </p:txBody>
      </p:sp>
      <p:sp>
        <p:nvSpPr>
          <p:cNvPr id="10" name="Rectangle 9"/>
          <p:cNvSpPr/>
          <p:nvPr/>
        </p:nvSpPr>
        <p:spPr>
          <a:xfrm>
            <a:off x="777240" y="3977639"/>
            <a:ext cx="10634472" cy="17830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60520"/>
            <a:ext cx="10058400" cy="365760"/>
          </a:xfrm>
          <a:prstGeom prst="rect">
            <a:avLst/>
          </a:prstGeom>
          <a:noFill/>
        </p:spPr>
        <p:txBody>
          <a:bodyPr wrap="square" anchor="t">
            <a:spAutoFit/>
          </a:bodyPr>
          <a:lstStyle/>
          <a:p>
            <a:pPr algn="l">
              <a:spcAft>
                <a:spcPts val="400"/>
              </a:spcAft>
            </a:pPr>
            <a:r>
              <a:rPr sz="1300" b="1">
                <a:solidFill>
                  <a:srgbClr val="127A3E"/>
                </a:solidFill>
                <a:latin typeface="Arial"/>
              </a:rPr>
              <a:t>You'll produce</a:t>
            </a:r>
          </a:p>
        </p:txBody>
      </p:sp>
      <p:sp>
        <p:nvSpPr>
          <p:cNvPr id="12" name="TextBox 11"/>
          <p:cNvSpPr txBox="1"/>
          <p:nvPr/>
        </p:nvSpPr>
        <p:spPr>
          <a:xfrm>
            <a:off x="1005840" y="4498848"/>
            <a:ext cx="10149840" cy="685800"/>
          </a:xfrm>
          <a:prstGeom prst="rect">
            <a:avLst/>
          </a:prstGeom>
          <a:noFill/>
        </p:spPr>
        <p:txBody>
          <a:bodyPr wrap="square" anchor="t">
            <a:spAutoFit/>
          </a:bodyPr>
          <a:lstStyle/>
          <a:p>
            <a:pPr algn="l">
              <a:spcAft>
                <a:spcPts val="400"/>
              </a:spcAft>
            </a:pPr>
            <a:r>
              <a:rPr sz="1700" b="1">
                <a:solidFill>
                  <a:srgbClr val="161B26"/>
                </a:solidFill>
                <a:latin typeface="Arial"/>
              </a:rPr>
              <a:t>A cost baseline built bottom-up from your WBS, with reserves and a documented estimating basis.</a:t>
            </a:r>
          </a:p>
        </p:txBody>
      </p:sp>
      <p:sp>
        <p:nvSpPr>
          <p:cNvPr id="13" name="TextBox 12"/>
          <p:cNvSpPr txBox="1"/>
          <p:nvPr/>
        </p:nvSpPr>
        <p:spPr>
          <a:xfrm>
            <a:off x="1005840" y="5257800"/>
            <a:ext cx="10241280" cy="4572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GenAI tool · Cost Benefit Analysis.xlsx · your WBS from Activity 8</a:t>
            </a:r>
          </a:p>
        </p:txBody>
      </p:sp>
      <p:sp>
        <p:nvSpPr>
          <p:cNvPr id="14" name="TextBox 13"/>
          <p:cNvSpPr txBox="1"/>
          <p:nvPr/>
        </p:nvSpPr>
        <p:spPr>
          <a:xfrm>
            <a:off x="777240" y="5897880"/>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Step-by-step instructions: see your Learner Guide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01 · ACTIVITY 10</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Estimate Costs and Build the Budget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10</a:t>
            </a:r>
          </a:p>
        </p:txBody>
      </p:sp>
      <p:sp>
        <p:nvSpPr>
          <p:cNvPr id="9" name="TextBox 8"/>
          <p:cNvSpPr txBox="1"/>
          <p:nvPr/>
        </p:nvSpPr>
        <p:spPr>
          <a:xfrm>
            <a:off x="777240" y="2286000"/>
            <a:ext cx="10607040" cy="365760"/>
          </a:xfrm>
          <a:prstGeom prst="rect">
            <a:avLst/>
          </a:prstGeom>
          <a:noFill/>
        </p:spPr>
        <p:txBody>
          <a:bodyPr wrap="square" anchor="t">
            <a:spAutoFit/>
          </a:bodyPr>
          <a:lstStyle/>
          <a:p>
            <a:pPr algn="l">
              <a:spcAft>
                <a:spcPts val="400"/>
              </a:spcAft>
            </a:pPr>
            <a:r>
              <a:rPr sz="1200" b="1">
                <a:solidFill>
                  <a:srgbClr val="7C3AED"/>
                </a:solidFill>
                <a:latin typeface="Arial"/>
              </a:rPr>
              <a:t>PROMPT GenAI WITH</a:t>
            </a:r>
          </a:p>
        </p:txBody>
      </p:sp>
      <p:sp>
        <p:nvSpPr>
          <p:cNvPr id="10" name="Rectangle 9"/>
          <p:cNvSpPr/>
          <p:nvPr/>
        </p:nvSpPr>
        <p:spPr>
          <a:xfrm>
            <a:off x="777240" y="2651760"/>
            <a:ext cx="10634472" cy="19659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88920"/>
            <a:ext cx="10104120" cy="1691640"/>
          </a:xfrm>
          <a:prstGeom prst="rect">
            <a:avLst/>
          </a:prstGeom>
          <a:noFill/>
        </p:spPr>
        <p:txBody>
          <a:bodyPr wrap="square" anchor="ctr">
            <a:spAutoFit/>
          </a:bodyPr>
          <a:lstStyle/>
          <a:p>
            <a:pPr algn="l">
              <a:spcAft>
                <a:spcPts val="400"/>
              </a:spcAft>
            </a:pPr>
            <a:r>
              <a:rPr sz="1600" b="0">
                <a:solidFill>
                  <a:srgbClr val="D6E4FF"/>
                </a:solidFill>
                <a:latin typeface="Arial"/>
              </a:rPr>
              <a:t>Estimate the cost of each work package in this WBS using bottom-up estimating. Show assumed rates and quantities separately from totals, then add contingency and management reserves without double counting.</a:t>
            </a:r>
          </a:p>
        </p:txBody>
      </p:sp>
      <p:sp>
        <p:nvSpPr>
          <p:cNvPr id="12" name="Rectangle 11"/>
          <p:cNvSpPr/>
          <p:nvPr/>
        </p:nvSpPr>
        <p:spPr>
          <a:xfrm>
            <a:off x="777240" y="4800600"/>
            <a:ext cx="10634472" cy="1051560"/>
          </a:xfrm>
          <a:prstGeom prst="rect">
            <a:avLst/>
          </a:prstGeom>
          <a:solidFill>
            <a:srgbClr val="FFF4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4919472"/>
            <a:ext cx="10149840" cy="320040"/>
          </a:xfrm>
          <a:prstGeom prst="rect">
            <a:avLst/>
          </a:prstGeom>
          <a:noFill/>
        </p:spPr>
        <p:txBody>
          <a:bodyPr wrap="square" anchor="t">
            <a:spAutoFit/>
          </a:bodyPr>
          <a:lstStyle/>
          <a:p>
            <a:pPr algn="l">
              <a:spcAft>
                <a:spcPts val="400"/>
              </a:spcAft>
            </a:pPr>
            <a:r>
              <a:rPr sz="1200" b="1">
                <a:solidFill>
                  <a:srgbClr val="F59E0B"/>
                </a:solidFill>
                <a:latin typeface="Arial"/>
              </a:rPr>
              <a:t>⚠  THEN CHECK IT</a:t>
            </a:r>
          </a:p>
        </p:txBody>
      </p:sp>
      <p:sp>
        <p:nvSpPr>
          <p:cNvPr id="14" name="TextBox 13"/>
          <p:cNvSpPr txBox="1"/>
          <p:nvPr/>
        </p:nvSpPr>
        <p:spPr>
          <a:xfrm>
            <a:off x="1051560" y="5230368"/>
            <a:ext cx="10149840" cy="548640"/>
          </a:xfrm>
          <a:prstGeom prst="rect">
            <a:avLst/>
          </a:prstGeom>
          <a:noFill/>
        </p:spPr>
        <p:txBody>
          <a:bodyPr wrap="square" anchor="t">
            <a:spAutoFit/>
          </a:bodyPr>
          <a:lstStyle/>
          <a:p>
            <a:pPr algn="l">
              <a:spcAft>
                <a:spcPts val="400"/>
              </a:spcAft>
            </a:pPr>
            <a:r>
              <a:rPr sz="1400" b="0">
                <a:solidFill>
                  <a:srgbClr val="161B26"/>
                </a:solidFill>
                <a:latin typeface="Arial"/>
              </a:rPr>
              <a:t>GenAI gives you a fast first draft. Check every figure, source and assumption before you use it.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10 · CHECK YOUR 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Estimate Costs and Build the Budget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34472"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9" name="TextBox 8"/>
          <p:cNvSpPr txBox="1"/>
          <p:nvPr/>
        </p:nvSpPr>
        <p:spPr>
          <a:xfrm>
            <a:off x="1097280" y="3017520"/>
            <a:ext cx="9966960" cy="1280160"/>
          </a:xfrm>
          <a:prstGeom prst="rect">
            <a:avLst/>
          </a:prstGeom>
          <a:noFill/>
        </p:spPr>
        <p:txBody>
          <a:bodyPr wrap="square" anchor="t">
            <a:spAutoFit/>
          </a:bodyPr>
          <a:lstStyle/>
          <a:p>
            <a:pPr algn="l">
              <a:spcAft>
                <a:spcPts val="400"/>
              </a:spcAft>
            </a:pPr>
            <a:r>
              <a:rPr sz="1700" b="0">
                <a:solidFill>
                  <a:srgbClr val="161B26"/>
                </a:solidFill>
                <a:latin typeface="Arial"/>
              </a:rPr>
              <a:t>You have one cost baseline built bottom-up, four comparable estimates for the same work, no unmarked assumed rates, and a stated contingency and management reserve you can justify.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Project Initiation and Planning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Apply structured prompting patterns to produce usable project management output.</a:t>
            </a:r>
          </a:p>
          <a:p>
            <a:pPr>
              <a:spcAft>
                <a:spcPts val="1000"/>
              </a:spcAft>
            </a:pPr>
            <a:r>
              <a:rPr sz="1600">
                <a:solidFill>
                  <a:srgbClr val="161B26"/>
                </a:solidFill>
                <a:latin typeface="Arial"/>
              </a:rPr>
              <a:t>•  Establish the economic feasibility of a project using GenAI-assisted analysis.</a:t>
            </a:r>
          </a:p>
          <a:p>
            <a:pPr>
              <a:spcAft>
                <a:spcPts val="1000"/>
              </a:spcAft>
            </a:pPr>
            <a:r>
              <a:rPr sz="1600">
                <a:solidFill>
                  <a:srgbClr val="161B26"/>
                </a:solidFill>
                <a:latin typeface="Arial"/>
              </a:rPr>
              <a:t>•  Develop project parameters with GenAI according to business requirements.</a:t>
            </a:r>
          </a:p>
          <a:p>
            <a:pPr>
              <a:spcAft>
                <a:spcPts val="1000"/>
              </a:spcAft>
            </a:pPr>
            <a:r>
              <a:rPr sz="1600">
                <a:solidFill>
                  <a:srgbClr val="161B26"/>
                </a:solidFill>
                <a:latin typeface="Arial"/>
              </a:rPr>
              <a:t>•  Identify stakeholders and plan engagement using GenAI-assisted analysis.</a:t>
            </a:r>
          </a:p>
          <a:p>
            <a:pPr>
              <a:spcAft>
                <a:spcPts val="1000"/>
              </a:spcAft>
            </a:pPr>
            <a:r>
              <a:rPr sz="1600">
                <a:solidFill>
                  <a:srgbClr val="161B26"/>
                </a:solidFill>
                <a:latin typeface="Arial"/>
              </a:rPr>
              <a:t>•  Allocate project responsibilities unambiguously using a responsibility assignment matrix.</a:t>
            </a:r>
          </a:p>
          <a:p>
            <a:pPr>
              <a:spcAft>
                <a:spcPts val="1000"/>
              </a:spcAft>
            </a:pPr>
            <a:r>
              <a:rPr sz="1600">
                <a:solidFill>
                  <a:srgbClr val="161B26"/>
                </a:solidFill>
                <a:latin typeface="Arial"/>
              </a:rPr>
              <a:t>•  Elicit, structure and prioritise requirements using GenAI-supported techniques.</a:t>
            </a:r>
          </a:p>
          <a:p>
            <a:pPr>
              <a:spcAft>
                <a:spcPts val="1000"/>
              </a:spcAft>
            </a:pPr>
            <a:r>
              <a:rPr sz="1600">
                <a:solidFill>
                  <a:srgbClr val="161B26"/>
                </a:solidFill>
                <a:latin typeface="Arial"/>
              </a:rPr>
              <a:t>•  Trace every requirement from source through to test and deliverable.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F59E0B"/>
                </a:solidFill>
                <a:latin typeface="Arial"/>
              </a:rPr>
              <a:t>1 hour</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opic-02-execution-delivery.png"/>
          <p:cNvPicPr>
            <a:picLocks noChangeAspect="1"/>
          </p:cNvPicPr>
          <p:nvPr/>
        </p:nvPicPr>
        <p:blipFill>
          <a:blip r:embed="rId2"/>
          <a:stretch>
            <a:fillRect/>
          </a:stretch>
        </p:blipFill>
        <p:spPr>
          <a:xfrm>
            <a:off x="0" y="0"/>
            <a:ext cx="12191695" cy="6858000"/>
          </a:xfrm>
          <a:prstGeom prst="rect">
            <a:avLst/>
          </a:prstGeom>
        </p:spPr>
      </p:pic>
      <p:sp>
        <p:nvSpPr>
          <p:cNvPr id="4" name="Rectangle 3"/>
          <p:cNvSpPr/>
          <p:nvPr/>
        </p:nvSpPr>
        <p:spPr>
          <a:xfrm>
            <a:off x="0" y="0"/>
            <a:ext cx="530352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309360"/>
            <a:ext cx="12191695"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2331720"/>
            <a:ext cx="4069080" cy="548640"/>
          </a:xfrm>
          <a:prstGeom prst="rect">
            <a:avLst/>
          </a:prstGeom>
          <a:noFill/>
        </p:spPr>
        <p:txBody>
          <a:bodyPr wrap="square" anchor="t">
            <a:spAutoFit/>
          </a:bodyPr>
          <a:lstStyle/>
          <a:p>
            <a:pPr algn="l">
              <a:spcAft>
                <a:spcPts val="400"/>
              </a:spcAft>
            </a:pPr>
            <a:r>
              <a:rPr sz="1800" b="1">
                <a:solidFill>
                  <a:srgbClr val="1F6FEB"/>
                </a:solidFill>
                <a:latin typeface="Arial"/>
              </a:rPr>
              <a:t>TOPIC 02</a:t>
            </a:r>
          </a:p>
        </p:txBody>
      </p:sp>
      <p:sp>
        <p:nvSpPr>
          <p:cNvPr id="9" name="TextBox 8"/>
          <p:cNvSpPr txBox="1"/>
          <p:nvPr/>
        </p:nvSpPr>
        <p:spPr>
          <a:xfrm>
            <a:off x="1143000" y="2743200"/>
            <a:ext cx="4069080" cy="1463040"/>
          </a:xfrm>
          <a:prstGeom prst="rect">
            <a:avLst/>
          </a:prstGeom>
          <a:noFill/>
        </p:spPr>
        <p:txBody>
          <a:bodyPr wrap="square" anchor="t">
            <a:spAutoFit/>
          </a:bodyPr>
          <a:lstStyle/>
          <a:p>
            <a:pPr algn="l">
              <a:spcAft>
                <a:spcPts val="400"/>
              </a:spcAft>
            </a:pPr>
            <a:r>
              <a:rPr sz="3400" b="1">
                <a:solidFill>
                  <a:srgbClr val="161B26"/>
                </a:solidFill>
                <a:latin typeface="Arial"/>
              </a:rPr>
              <a:t>Project Execution and Delivery with GenAI</a:t>
            </a:r>
          </a:p>
        </p:txBody>
      </p:sp>
      <p:sp>
        <p:nvSpPr>
          <p:cNvPr id="10" name="TextBox 9"/>
          <p:cNvSpPr txBox="1"/>
          <p:nvPr/>
        </p:nvSpPr>
        <p:spPr>
          <a:xfrm>
            <a:off x="1161288" y="4343400"/>
            <a:ext cx="4114800" cy="822960"/>
          </a:xfrm>
          <a:prstGeom prst="rect">
            <a:avLst/>
          </a:prstGeom>
          <a:noFill/>
        </p:spPr>
        <p:txBody>
          <a:bodyPr wrap="square" anchor="t">
            <a:spAutoFit/>
          </a:bodyPr>
          <a:lstStyle/>
          <a:p>
            <a:pPr algn="l">
              <a:spcAft>
                <a:spcPts val="400"/>
              </a:spcAft>
            </a:pPr>
            <a:r>
              <a:rPr sz="1400" b="0">
                <a:solidFill>
                  <a:srgbClr val="5B6372"/>
                </a:solidFill>
                <a:latin typeface="Arial"/>
              </a:rPr>
              <a:t>Directing work · knowledge · quality · resources · team · communications</a:t>
            </a:r>
          </a:p>
        </p:txBody>
      </p:sp>
      <p:sp>
        <p:nvSpPr>
          <p:cNvPr id="11" name="TextBox 10"/>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K3, A2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Topic 02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2811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1991106"/>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199110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763524"/>
          </a:xfrm>
          <a:prstGeom prst="rect">
            <a:avLst/>
          </a:prstGeom>
          <a:noFill/>
        </p:spPr>
        <p:txBody>
          <a:bodyPr wrap="square" anchor="ctr">
            <a:spAutoFit/>
          </a:bodyPr>
          <a:lstStyle/>
          <a:p>
            <a:pPr algn="l">
              <a:spcAft>
                <a:spcPts val="300"/>
              </a:spcAft>
            </a:pPr>
            <a:r>
              <a:rPr sz="1400" b="1">
                <a:solidFill>
                  <a:srgbClr val="161B26"/>
                </a:solidFill>
                <a:latin typeface="Arial"/>
              </a:rPr>
              <a:t>Direct and manage project work</a:t>
            </a:r>
          </a:p>
          <a:p>
            <a:pPr algn="l">
              <a:spcAft>
                <a:spcPts val="300"/>
              </a:spcAft>
            </a:pPr>
            <a:r>
              <a:rPr sz="1000" b="0">
                <a:solidFill>
                  <a:srgbClr val="5B6372"/>
                </a:solidFill>
                <a:latin typeface="Arial"/>
              </a:rPr>
              <a:t>Turn the plan into deliverables; distinguish work performance data, information and reports.</a:t>
            </a:r>
          </a:p>
        </p:txBody>
      </p:sp>
      <p:sp>
        <p:nvSpPr>
          <p:cNvPr id="12" name="Rectangle 11"/>
          <p:cNvSpPr/>
          <p:nvPr/>
        </p:nvSpPr>
        <p:spPr>
          <a:xfrm>
            <a:off x="6231636" y="1783080"/>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281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199110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199110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763524"/>
          </a:xfrm>
          <a:prstGeom prst="rect">
            <a:avLst/>
          </a:prstGeom>
          <a:noFill/>
        </p:spPr>
        <p:txBody>
          <a:bodyPr wrap="square" anchor="ctr">
            <a:spAutoFit/>
          </a:bodyPr>
          <a:lstStyle/>
          <a:p>
            <a:pPr algn="l">
              <a:spcAft>
                <a:spcPts val="300"/>
              </a:spcAft>
            </a:pPr>
            <a:r>
              <a:rPr sz="1400" b="1">
                <a:solidFill>
                  <a:srgbClr val="161B26"/>
                </a:solidFill>
                <a:latin typeface="Arial"/>
              </a:rPr>
              <a:t>Manage project knowledge</a:t>
            </a:r>
          </a:p>
          <a:p>
            <a:pPr algn="l">
              <a:spcAft>
                <a:spcPts val="300"/>
              </a:spcAft>
            </a:pPr>
            <a:r>
              <a:rPr sz="1000" b="0">
                <a:solidFill>
                  <a:srgbClr val="5B6372"/>
                </a:solidFill>
                <a:latin typeface="Arial"/>
              </a:rPr>
              <a:t>Capture explicit knowledge and surface tacit knowledge; GenAI summarises lessons learned as you go.</a:t>
            </a:r>
          </a:p>
        </p:txBody>
      </p:sp>
      <p:sp>
        <p:nvSpPr>
          <p:cNvPr id="17" name="Rectangle 16"/>
          <p:cNvSpPr/>
          <p:nvPr/>
        </p:nvSpPr>
        <p:spPr>
          <a:xfrm>
            <a:off x="777240" y="2930652"/>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0652"/>
            <a:ext cx="91440" cy="9281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138678"/>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13867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040380"/>
            <a:ext cx="4027932" cy="763524"/>
          </a:xfrm>
          <a:prstGeom prst="rect">
            <a:avLst/>
          </a:prstGeom>
          <a:noFill/>
        </p:spPr>
        <p:txBody>
          <a:bodyPr wrap="square" anchor="ctr">
            <a:spAutoFit/>
          </a:bodyPr>
          <a:lstStyle/>
          <a:p>
            <a:pPr algn="l">
              <a:spcAft>
                <a:spcPts val="300"/>
              </a:spcAft>
            </a:pPr>
            <a:r>
              <a:rPr sz="1400" b="1">
                <a:solidFill>
                  <a:srgbClr val="161B26"/>
                </a:solidFill>
                <a:latin typeface="Arial"/>
              </a:rPr>
              <a:t>Quality management</a:t>
            </a:r>
          </a:p>
          <a:p>
            <a:pPr algn="l">
              <a:spcAft>
                <a:spcPts val="300"/>
              </a:spcAft>
            </a:pPr>
            <a:r>
              <a:rPr sz="1000" b="0">
                <a:solidFill>
                  <a:srgbClr val="5B6372"/>
                </a:solidFill>
                <a:latin typeface="Arial"/>
              </a:rPr>
              <a:t>Cost of quality, PDCA, DMAIC, Kaizen; fishbone, five whys and Pareto for root-cause analysis.</a:t>
            </a:r>
          </a:p>
        </p:txBody>
      </p:sp>
      <p:sp>
        <p:nvSpPr>
          <p:cNvPr id="22" name="Rectangle 21"/>
          <p:cNvSpPr/>
          <p:nvPr/>
        </p:nvSpPr>
        <p:spPr>
          <a:xfrm>
            <a:off x="6231636" y="2930652"/>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0652"/>
            <a:ext cx="91440" cy="92811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138678"/>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13867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040380"/>
            <a:ext cx="4027932" cy="763524"/>
          </a:xfrm>
          <a:prstGeom prst="rect">
            <a:avLst/>
          </a:prstGeom>
          <a:noFill/>
        </p:spPr>
        <p:txBody>
          <a:bodyPr wrap="square" anchor="ctr">
            <a:spAutoFit/>
          </a:bodyPr>
          <a:lstStyle/>
          <a:p>
            <a:pPr algn="l">
              <a:spcAft>
                <a:spcPts val="300"/>
              </a:spcAft>
            </a:pPr>
            <a:r>
              <a:rPr sz="1400" b="1">
                <a:solidFill>
                  <a:srgbClr val="161B26"/>
                </a:solidFill>
                <a:latin typeface="Arial"/>
              </a:rPr>
              <a:t>Acquire and develop resources</a:t>
            </a:r>
          </a:p>
          <a:p>
            <a:pPr algn="l">
              <a:spcAft>
                <a:spcPts val="300"/>
              </a:spcAft>
            </a:pPr>
            <a:r>
              <a:rPr sz="1000" b="0">
                <a:solidFill>
                  <a:srgbClr val="5B6372"/>
                </a:solidFill>
                <a:latin typeface="Arial"/>
              </a:rPr>
              <a:t>Resource levelling vs smoothing; Tuckman's ladder; motivational theories.</a:t>
            </a:r>
          </a:p>
        </p:txBody>
      </p:sp>
      <p:sp>
        <p:nvSpPr>
          <p:cNvPr id="27" name="Rectangle 26"/>
          <p:cNvSpPr/>
          <p:nvPr/>
        </p:nvSpPr>
        <p:spPr>
          <a:xfrm>
            <a:off x="777240" y="4078224"/>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78224"/>
            <a:ext cx="91440" cy="92811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428625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428625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187952"/>
            <a:ext cx="4027932" cy="763524"/>
          </a:xfrm>
          <a:prstGeom prst="rect">
            <a:avLst/>
          </a:prstGeom>
          <a:noFill/>
        </p:spPr>
        <p:txBody>
          <a:bodyPr wrap="square" anchor="ctr">
            <a:spAutoFit/>
          </a:bodyPr>
          <a:lstStyle/>
          <a:p>
            <a:pPr algn="l">
              <a:spcAft>
                <a:spcPts val="300"/>
              </a:spcAft>
            </a:pPr>
            <a:r>
              <a:rPr sz="1400" b="1">
                <a:solidFill>
                  <a:srgbClr val="161B26"/>
                </a:solidFill>
                <a:latin typeface="Arial"/>
              </a:rPr>
              <a:t>Manage the team</a:t>
            </a:r>
          </a:p>
          <a:p>
            <a:pPr algn="l">
              <a:spcAft>
                <a:spcPts val="300"/>
              </a:spcAft>
            </a:pPr>
            <a:r>
              <a:rPr sz="1000" b="0">
                <a:solidFill>
                  <a:srgbClr val="5B6372"/>
                </a:solidFill>
                <a:latin typeface="Arial"/>
              </a:rPr>
              <a:t>Conflict management approaches, emotional intelligence and interpersonal skills.</a:t>
            </a:r>
          </a:p>
        </p:txBody>
      </p:sp>
      <p:sp>
        <p:nvSpPr>
          <p:cNvPr id="32" name="Rectangle 31"/>
          <p:cNvSpPr/>
          <p:nvPr/>
        </p:nvSpPr>
        <p:spPr>
          <a:xfrm>
            <a:off x="6231636" y="4078224"/>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78224"/>
            <a:ext cx="91440" cy="9281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428625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428625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187952"/>
            <a:ext cx="4027932" cy="763524"/>
          </a:xfrm>
          <a:prstGeom prst="rect">
            <a:avLst/>
          </a:prstGeom>
          <a:noFill/>
        </p:spPr>
        <p:txBody>
          <a:bodyPr wrap="square" anchor="ctr">
            <a:spAutoFit/>
          </a:bodyPr>
          <a:lstStyle/>
          <a:p>
            <a:pPr algn="l">
              <a:spcAft>
                <a:spcPts val="300"/>
              </a:spcAft>
            </a:pPr>
            <a:r>
              <a:rPr sz="1400" b="1">
                <a:solidFill>
                  <a:srgbClr val="161B26"/>
                </a:solidFill>
                <a:latin typeface="Arial"/>
              </a:rPr>
              <a:t>Manage communications</a:t>
            </a:r>
          </a:p>
          <a:p>
            <a:pPr algn="l">
              <a:spcAft>
                <a:spcPts val="300"/>
              </a:spcAft>
            </a:pPr>
            <a:r>
              <a:rPr sz="1000" b="0">
                <a:solidFill>
                  <a:srgbClr val="5B6372"/>
                </a:solidFill>
                <a:latin typeface="Arial"/>
              </a:rPr>
              <a:t>The N(N-1)/2 channel formula, the Five Cs, push vs pull, and barriers to communication.</a:t>
            </a:r>
          </a:p>
        </p:txBody>
      </p:sp>
      <p:sp>
        <p:nvSpPr>
          <p:cNvPr id="37" name="Rectangle 36"/>
          <p:cNvSpPr/>
          <p:nvPr/>
        </p:nvSpPr>
        <p:spPr>
          <a:xfrm>
            <a:off x="777240" y="5225796"/>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25796"/>
            <a:ext cx="91440" cy="9281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14984" y="5433822"/>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14984" y="543382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1" name="TextBox 40"/>
          <p:cNvSpPr txBox="1"/>
          <p:nvPr/>
        </p:nvSpPr>
        <p:spPr>
          <a:xfrm>
            <a:off x="1709928" y="5335524"/>
            <a:ext cx="4027932" cy="763524"/>
          </a:xfrm>
          <a:prstGeom prst="rect">
            <a:avLst/>
          </a:prstGeom>
          <a:noFill/>
        </p:spPr>
        <p:txBody>
          <a:bodyPr wrap="square" anchor="ctr">
            <a:spAutoFit/>
          </a:bodyPr>
          <a:lstStyle/>
          <a:p>
            <a:pPr algn="l">
              <a:spcAft>
                <a:spcPts val="300"/>
              </a:spcAft>
            </a:pPr>
            <a:r>
              <a:rPr sz="1400" b="1">
                <a:solidFill>
                  <a:srgbClr val="161B26"/>
                </a:solidFill>
                <a:latin typeface="Arial"/>
              </a:rPr>
              <a:t>Optimising resources and budget</a:t>
            </a:r>
          </a:p>
          <a:p>
            <a:pPr algn="l">
              <a:spcAft>
                <a:spcPts val="300"/>
              </a:spcAft>
            </a:pPr>
            <a:r>
              <a:rPr sz="1000" b="0">
                <a:solidFill>
                  <a:srgbClr val="5B6372"/>
                </a:solidFill>
                <a:latin typeface="Arial"/>
              </a:rPr>
              <a:t>Use GenAI to model resource and budget options, then justify the trade-off you choose.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GenAI Activities — Topic 02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640080"/>
          </a:xfrm>
          <a:prstGeom prst="rect">
            <a:avLst/>
          </a:prstGeom>
          <a:noFill/>
        </p:spPr>
        <p:txBody>
          <a:bodyPr wrap="square" anchor="t">
            <a:spAutoFit/>
          </a:bodyPr>
          <a:lstStyle/>
          <a:p>
            <a:pPr algn="l">
              <a:spcAft>
                <a:spcPts val="400"/>
              </a:spcAft>
            </a:pPr>
            <a:r>
              <a:rPr sz="1800" b="1">
                <a:solidFill>
                  <a:srgbClr val="1F6FEB"/>
                </a:solidFill>
                <a:latin typeface="Arial"/>
              </a:rPr>
              <a:t>Activities 11–13</a:t>
            </a:r>
          </a:p>
        </p:txBody>
      </p:sp>
      <p:sp>
        <p:nvSpPr>
          <p:cNvPr id="10" name="TextBox 9"/>
          <p:cNvSpPr txBox="1"/>
          <p:nvPr/>
        </p:nvSpPr>
        <p:spPr>
          <a:xfrm>
            <a:off x="1005840" y="2743200"/>
            <a:ext cx="2926080" cy="3063240"/>
          </a:xfrm>
          <a:prstGeom prst="rect">
            <a:avLst/>
          </a:prstGeom>
          <a:noFill/>
        </p:spPr>
        <p:txBody>
          <a:bodyPr wrap="square">
            <a:spAutoFit/>
          </a:bodyPr>
          <a:lstStyle/>
          <a:p>
            <a:pPr>
              <a:spcAft>
                <a:spcPts val="900"/>
              </a:spcAft>
            </a:pPr>
            <a:r>
              <a:rPr sz="1300">
                <a:solidFill>
                  <a:srgbClr val="161B26"/>
                </a:solidFill>
                <a:latin typeface="Arial"/>
              </a:rPr>
              <a:t>•  Direct Project Work and Report Performance with GenAI</a:t>
            </a:r>
          </a:p>
          <a:p>
            <a:pPr>
              <a:spcAft>
                <a:spcPts val="900"/>
              </a:spcAft>
            </a:pPr>
            <a:r>
              <a:rPr sz="1300">
                <a:solidFill>
                  <a:srgbClr val="161B26"/>
                </a:solidFill>
                <a:latin typeface="Arial"/>
              </a:rPr>
              <a:t>•  Manage Project Knowledge with GenAI</a:t>
            </a:r>
          </a:p>
          <a:p>
            <a:pPr>
              <a:spcAft>
                <a:spcPts val="900"/>
              </a:spcAft>
            </a:pPr>
            <a:r>
              <a:rPr sz="1300">
                <a:solidFill>
                  <a:srgbClr val="161B26"/>
                </a:solidFill>
                <a:latin typeface="Arial"/>
              </a:rPr>
              <a:t>•  Root Cause Analysis with GenAI — Fishbone, Five Whys and Pareto</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640080"/>
          </a:xfrm>
          <a:prstGeom prst="rect">
            <a:avLst/>
          </a:prstGeom>
          <a:noFill/>
        </p:spPr>
        <p:txBody>
          <a:bodyPr wrap="square" anchor="t">
            <a:spAutoFit/>
          </a:bodyPr>
          <a:lstStyle/>
          <a:p>
            <a:pPr algn="l">
              <a:spcAft>
                <a:spcPts val="400"/>
              </a:spcAft>
            </a:pPr>
            <a:r>
              <a:rPr sz="1800" b="1">
                <a:solidFill>
                  <a:srgbClr val="10B981"/>
                </a:solidFill>
                <a:latin typeface="Arial"/>
              </a:rPr>
              <a:t>Activities 14–16</a:t>
            </a:r>
          </a:p>
        </p:txBody>
      </p:sp>
      <p:sp>
        <p:nvSpPr>
          <p:cNvPr id="14" name="TextBox 13"/>
          <p:cNvSpPr txBox="1"/>
          <p:nvPr/>
        </p:nvSpPr>
        <p:spPr>
          <a:xfrm>
            <a:off x="4800600" y="2743200"/>
            <a:ext cx="2926080" cy="3063240"/>
          </a:xfrm>
          <a:prstGeom prst="rect">
            <a:avLst/>
          </a:prstGeom>
          <a:noFill/>
        </p:spPr>
        <p:txBody>
          <a:bodyPr wrap="square">
            <a:spAutoFit/>
          </a:bodyPr>
          <a:lstStyle/>
          <a:p>
            <a:pPr>
              <a:spcAft>
                <a:spcPts val="900"/>
              </a:spcAft>
            </a:pPr>
            <a:r>
              <a:rPr sz="1300">
                <a:solidFill>
                  <a:srgbClr val="161B26"/>
                </a:solidFill>
                <a:latin typeface="Arial"/>
              </a:rPr>
              <a:t>•  Continuous Improvement with GenAI — PDCA and DMAIC</a:t>
            </a:r>
          </a:p>
          <a:p>
            <a:pPr>
              <a:spcAft>
                <a:spcPts val="900"/>
              </a:spcAft>
            </a:pPr>
            <a:r>
              <a:rPr sz="1300">
                <a:solidFill>
                  <a:srgbClr val="161B26"/>
                </a:solidFill>
                <a:latin typeface="Arial"/>
              </a:rPr>
              <a:t>•  Optimise Resources and Budget with GenAI</a:t>
            </a:r>
          </a:p>
          <a:p>
            <a:pPr>
              <a:spcAft>
                <a:spcPts val="900"/>
              </a:spcAft>
            </a:pPr>
            <a:r>
              <a:rPr sz="1300">
                <a:solidFill>
                  <a:srgbClr val="161B26"/>
                </a:solidFill>
                <a:latin typeface="Arial"/>
              </a:rPr>
              <a:t>•  Develop and Manage the Team with GenAI</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640080"/>
          </a:xfrm>
          <a:prstGeom prst="rect">
            <a:avLst/>
          </a:prstGeom>
          <a:noFill/>
        </p:spPr>
        <p:txBody>
          <a:bodyPr wrap="square" anchor="t">
            <a:spAutoFit/>
          </a:bodyPr>
          <a:lstStyle/>
          <a:p>
            <a:pPr algn="l">
              <a:spcAft>
                <a:spcPts val="400"/>
              </a:spcAft>
            </a:pPr>
            <a:r>
              <a:rPr sz="1800" b="1">
                <a:solidFill>
                  <a:srgbClr val="7C3AED"/>
                </a:solidFill>
                <a:latin typeface="Arial"/>
              </a:rPr>
              <a:t>Activities 17–17</a:t>
            </a:r>
          </a:p>
        </p:txBody>
      </p:sp>
      <p:sp>
        <p:nvSpPr>
          <p:cNvPr id="18" name="TextBox 17"/>
          <p:cNvSpPr txBox="1"/>
          <p:nvPr/>
        </p:nvSpPr>
        <p:spPr>
          <a:xfrm>
            <a:off x="8595360" y="2743200"/>
            <a:ext cx="2926080" cy="3063240"/>
          </a:xfrm>
          <a:prstGeom prst="rect">
            <a:avLst/>
          </a:prstGeom>
          <a:noFill/>
        </p:spPr>
        <p:txBody>
          <a:bodyPr wrap="square">
            <a:spAutoFit/>
          </a:bodyPr>
          <a:lstStyle/>
          <a:p>
            <a:pPr>
              <a:spcAft>
                <a:spcPts val="900"/>
              </a:spcAft>
            </a:pPr>
            <a:r>
              <a:rPr sz="1300">
                <a:solidFill>
                  <a:srgbClr val="161B26"/>
                </a:solidFill>
                <a:latin typeface="Arial"/>
              </a:rPr>
              <a:t>•  Plan and Manage Communications with GenAI</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9509760" cy="548640"/>
          </a:xfrm>
          <a:prstGeom prst="rect">
            <a:avLst/>
          </a:prstGeom>
          <a:noFill/>
        </p:spPr>
        <p:txBody>
          <a:bodyPr wrap="square" anchor="t">
            <a:spAutoFit/>
          </a:bodyPr>
          <a:lstStyle/>
          <a:p>
            <a:pPr algn="l">
              <a:spcAft>
                <a:spcPts val="400"/>
              </a:spcAft>
            </a:pPr>
            <a:r>
              <a:rPr sz="1800" b="1">
                <a:solidFill>
                  <a:srgbClr val="1F6FEB"/>
                </a:solidFill>
                <a:latin typeface="Arial"/>
              </a:rPr>
              <a:t>EXECUTION</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3800" b="1">
                <a:solidFill>
                  <a:srgbClr val="161B26"/>
                </a:solidFill>
                <a:latin typeface="Arial"/>
              </a:rPr>
              <a:t>Direct and Manage Project Work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MAKING IT HAPPEN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Directing the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Implement the plan</a:t>
            </a:r>
          </a:p>
          <a:p>
            <a:pPr algn="l">
              <a:spcAft>
                <a:spcPts val="300"/>
              </a:spcAft>
            </a:pPr>
            <a:r>
              <a:rPr sz="1200" b="0">
                <a:solidFill>
                  <a:srgbClr val="5B6372"/>
                </a:solidFill>
                <a:latin typeface="Arial"/>
              </a:rPr>
              <a:t>Turn the project management plan into actual deliverables.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Manage the flow</a:t>
            </a:r>
          </a:p>
          <a:p>
            <a:pPr algn="l">
              <a:spcAft>
                <a:spcPts val="300"/>
              </a:spcAft>
            </a:pPr>
            <a:r>
              <a:rPr sz="1200" b="0">
                <a:solidFill>
                  <a:srgbClr val="5B6372"/>
                </a:solidFill>
                <a:latin typeface="Arial"/>
              </a:rPr>
              <a:t>Keep work moving and remove impediments for the team.</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Implement approved changes</a:t>
            </a:r>
          </a:p>
          <a:p>
            <a:pPr algn="l">
              <a:spcAft>
                <a:spcPts val="300"/>
              </a:spcAft>
            </a:pPr>
            <a:r>
              <a:rPr sz="1200" b="0">
                <a:solidFill>
                  <a:srgbClr val="5B6372"/>
                </a:solidFill>
                <a:latin typeface="Arial"/>
              </a:rPr>
              <a:t>Only approved changes — everything else goes through change control.</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Collect the data</a:t>
            </a:r>
          </a:p>
          <a:p>
            <a:pPr algn="l">
              <a:spcAft>
                <a:spcPts val="300"/>
              </a:spcAft>
            </a:pPr>
            <a:r>
              <a:rPr sz="1200" b="0">
                <a:solidFill>
                  <a:srgbClr val="5B6372"/>
                </a:solidFill>
                <a:latin typeface="Arial"/>
              </a:rPr>
              <a:t>Work performance data flows out of the work and into your reporting.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REPORTING CHAIN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Data → Information → Reports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640080"/>
          </a:xfrm>
          <a:prstGeom prst="rect">
            <a:avLst/>
          </a:prstGeom>
          <a:noFill/>
        </p:spPr>
        <p:txBody>
          <a:bodyPr wrap="square" anchor="t">
            <a:spAutoFit/>
          </a:bodyPr>
          <a:lstStyle/>
          <a:p>
            <a:pPr algn="l">
              <a:spcAft>
                <a:spcPts val="400"/>
              </a:spcAft>
            </a:pPr>
            <a:r>
              <a:rPr sz="1800" b="1">
                <a:solidFill>
                  <a:srgbClr val="1F6FEB"/>
                </a:solidFill>
                <a:latin typeface="Arial"/>
              </a:rPr>
              <a:t>Work Performance DATA</a:t>
            </a:r>
          </a:p>
        </p:txBody>
      </p:sp>
      <p:sp>
        <p:nvSpPr>
          <p:cNvPr id="10" name="TextBox 9"/>
          <p:cNvSpPr txBox="1"/>
          <p:nvPr/>
        </p:nvSpPr>
        <p:spPr>
          <a:xfrm>
            <a:off x="1005840" y="2743200"/>
            <a:ext cx="2926080" cy="3063240"/>
          </a:xfrm>
          <a:prstGeom prst="rect">
            <a:avLst/>
          </a:prstGeom>
          <a:noFill/>
        </p:spPr>
        <p:txBody>
          <a:bodyPr wrap="square">
            <a:spAutoFit/>
          </a:bodyPr>
          <a:lstStyle/>
          <a:p>
            <a:pPr>
              <a:spcAft>
                <a:spcPts val="900"/>
              </a:spcAft>
            </a:pPr>
            <a:r>
              <a:rPr sz="1300">
                <a:solidFill>
                  <a:srgbClr val="161B26"/>
                </a:solidFill>
                <a:latin typeface="Arial"/>
              </a:rPr>
              <a:t>•  The raw observations</a:t>
            </a:r>
          </a:p>
          <a:p>
            <a:pPr>
              <a:spcAft>
                <a:spcPts val="900"/>
              </a:spcAft>
            </a:pPr>
            <a:r>
              <a:rPr sz="1300">
                <a:solidFill>
                  <a:srgbClr val="161B26"/>
                </a:solidFill>
                <a:latin typeface="Arial"/>
              </a:rPr>
              <a:t>•  '14 defects open'</a:t>
            </a:r>
          </a:p>
          <a:p>
            <a:pPr>
              <a:spcAft>
                <a:spcPts val="900"/>
              </a:spcAft>
            </a:pPr>
            <a:r>
              <a:rPr sz="1300">
                <a:solidFill>
                  <a:srgbClr val="161B26"/>
                </a:solidFill>
                <a:latin typeface="Arial"/>
              </a:rPr>
              <a:t>•  'Actual cost $62,000'</a:t>
            </a:r>
          </a:p>
          <a:p>
            <a:pPr>
              <a:spcAft>
                <a:spcPts val="900"/>
              </a:spcAft>
            </a:pPr>
            <a:r>
              <a:rPr sz="1300">
                <a:solidFill>
                  <a:srgbClr val="161B26"/>
                </a:solidFill>
                <a:latin typeface="Arial"/>
              </a:rPr>
              <a:t>•  No meaning on its own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640080"/>
          </a:xfrm>
          <a:prstGeom prst="rect">
            <a:avLst/>
          </a:prstGeom>
          <a:noFill/>
        </p:spPr>
        <p:txBody>
          <a:bodyPr wrap="square" anchor="t">
            <a:spAutoFit/>
          </a:bodyPr>
          <a:lstStyle/>
          <a:p>
            <a:pPr algn="l">
              <a:spcAft>
                <a:spcPts val="400"/>
              </a:spcAft>
            </a:pPr>
            <a:r>
              <a:rPr sz="1800" b="1">
                <a:solidFill>
                  <a:srgbClr val="10B981"/>
                </a:solidFill>
                <a:latin typeface="Arial"/>
              </a:rPr>
              <a:t>Work Performance INFORMATION</a:t>
            </a:r>
          </a:p>
        </p:txBody>
      </p:sp>
      <p:sp>
        <p:nvSpPr>
          <p:cNvPr id="14" name="TextBox 13"/>
          <p:cNvSpPr txBox="1"/>
          <p:nvPr/>
        </p:nvSpPr>
        <p:spPr>
          <a:xfrm>
            <a:off x="4800600" y="2743200"/>
            <a:ext cx="2926080" cy="3063240"/>
          </a:xfrm>
          <a:prstGeom prst="rect">
            <a:avLst/>
          </a:prstGeom>
          <a:noFill/>
        </p:spPr>
        <p:txBody>
          <a:bodyPr wrap="square">
            <a:spAutoFit/>
          </a:bodyPr>
          <a:lstStyle/>
          <a:p>
            <a:pPr>
              <a:spcAft>
                <a:spcPts val="900"/>
              </a:spcAft>
            </a:pPr>
            <a:r>
              <a:rPr sz="1300">
                <a:solidFill>
                  <a:srgbClr val="161B26"/>
                </a:solidFill>
                <a:latin typeface="Arial"/>
              </a:rPr>
              <a:t>•  Comparison of two or more data points</a:t>
            </a:r>
          </a:p>
          <a:p>
            <a:pPr>
              <a:spcAft>
                <a:spcPts val="900"/>
              </a:spcAft>
            </a:pPr>
            <a:r>
              <a:rPr sz="1300">
                <a:solidFill>
                  <a:srgbClr val="161B26"/>
                </a:solidFill>
                <a:latin typeface="Arial"/>
              </a:rPr>
              <a:t>•  'Schedule variance is –$10,000'</a:t>
            </a:r>
          </a:p>
          <a:p>
            <a:pPr>
              <a:spcAft>
                <a:spcPts val="900"/>
              </a:spcAft>
            </a:pPr>
            <a:r>
              <a:rPr sz="1300">
                <a:solidFill>
                  <a:srgbClr val="161B26"/>
                </a:solidFill>
                <a:latin typeface="Arial"/>
              </a:rPr>
              <a:t>•  '8 work packages done vs 10 planned'</a:t>
            </a:r>
          </a:p>
          <a:p>
            <a:pPr>
              <a:spcAft>
                <a:spcPts val="900"/>
              </a:spcAft>
            </a:pPr>
            <a:r>
              <a:rPr sz="1300">
                <a:solidFill>
                  <a:srgbClr val="161B26"/>
                </a:solidFill>
                <a:latin typeface="Arial"/>
              </a:rPr>
              <a:t>•  Now it means something</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640080"/>
          </a:xfrm>
          <a:prstGeom prst="rect">
            <a:avLst/>
          </a:prstGeom>
          <a:noFill/>
        </p:spPr>
        <p:txBody>
          <a:bodyPr wrap="square" anchor="t">
            <a:spAutoFit/>
          </a:bodyPr>
          <a:lstStyle/>
          <a:p>
            <a:pPr algn="l">
              <a:spcAft>
                <a:spcPts val="400"/>
              </a:spcAft>
            </a:pPr>
            <a:r>
              <a:rPr sz="1800" b="1">
                <a:solidFill>
                  <a:srgbClr val="7C3AED"/>
                </a:solidFill>
                <a:latin typeface="Arial"/>
              </a:rPr>
              <a:t>Work Performance REPORTS</a:t>
            </a:r>
          </a:p>
        </p:txBody>
      </p:sp>
      <p:sp>
        <p:nvSpPr>
          <p:cNvPr id="18" name="TextBox 17"/>
          <p:cNvSpPr txBox="1"/>
          <p:nvPr/>
        </p:nvSpPr>
        <p:spPr>
          <a:xfrm>
            <a:off x="8595360" y="2743200"/>
            <a:ext cx="2926080" cy="3063240"/>
          </a:xfrm>
          <a:prstGeom prst="rect">
            <a:avLst/>
          </a:prstGeom>
          <a:noFill/>
        </p:spPr>
        <p:txBody>
          <a:bodyPr wrap="square">
            <a:spAutoFit/>
          </a:bodyPr>
          <a:lstStyle/>
          <a:p>
            <a:pPr>
              <a:spcAft>
                <a:spcPts val="900"/>
              </a:spcAft>
            </a:pPr>
            <a:r>
              <a:rPr sz="1300">
                <a:solidFill>
                  <a:srgbClr val="161B26"/>
                </a:solidFill>
                <a:latin typeface="Arial"/>
              </a:rPr>
              <a:t>•  The physical or electronic representation</a:t>
            </a:r>
          </a:p>
          <a:p>
            <a:pPr>
              <a:spcAft>
                <a:spcPts val="900"/>
              </a:spcAft>
            </a:pPr>
            <a:r>
              <a:rPr sz="1300">
                <a:solidFill>
                  <a:srgbClr val="161B26"/>
                </a:solidFill>
                <a:latin typeface="Arial"/>
              </a:rPr>
              <a:t>•  Status reports, dashboards, memos</a:t>
            </a:r>
          </a:p>
          <a:p>
            <a:pPr>
              <a:spcAft>
                <a:spcPts val="900"/>
              </a:spcAft>
            </a:pPr>
            <a:r>
              <a:rPr sz="1300">
                <a:solidFill>
                  <a:srgbClr val="161B26"/>
                </a:solidFill>
                <a:latin typeface="Arial"/>
              </a:rPr>
              <a:t>•  Intended to raise action or awareness</a:t>
            </a:r>
          </a:p>
          <a:p>
            <a:pPr>
              <a:spcAft>
                <a:spcPts val="900"/>
              </a:spcAft>
            </a:pPr>
            <a:r>
              <a:rPr sz="1300">
                <a:solidFill>
                  <a:srgbClr val="161B26"/>
                </a:solidFill>
                <a:latin typeface="Arial"/>
              </a:rPr>
              <a:t>•  What the sponsor actually sees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KEEPING CONTROL OF THE RECORD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Managing Project Information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PMIS</a:t>
            </a:r>
          </a:p>
          <a:p>
            <a:pPr algn="l">
              <a:spcAft>
                <a:spcPts val="300"/>
              </a:spcAft>
            </a:pPr>
            <a:r>
              <a:rPr sz="1100" b="0">
                <a:solidFill>
                  <a:srgbClr val="5B6372"/>
                </a:solidFill>
                <a:latin typeface="Arial"/>
              </a:rPr>
              <a:t>The Project Management Information System gathers, integrates and shares project data.</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Artifact management</a:t>
            </a:r>
          </a:p>
          <a:p>
            <a:pPr algn="l">
              <a:spcAft>
                <a:spcPts val="300"/>
              </a:spcAft>
            </a:pPr>
            <a:r>
              <a:rPr sz="1100" b="0">
                <a:solidFill>
                  <a:srgbClr val="5B6372"/>
                </a:solidFill>
                <a:latin typeface="Arial"/>
              </a:rPr>
              <a:t>Systems that store and maintain project artifacts.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87952"/>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Version control</a:t>
            </a:r>
          </a:p>
          <a:p>
            <a:pPr algn="l">
              <a:spcAft>
                <a:spcPts val="300"/>
              </a:spcAft>
            </a:pPr>
            <a:r>
              <a:rPr sz="1100" b="0">
                <a:solidFill>
                  <a:srgbClr val="5B6372"/>
                </a:solidFill>
                <a:latin typeface="Arial"/>
              </a:rPr>
              <a:t>Every update gets a new version number, a date/time stamp and the name of who changed it.</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87952"/>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Configuration management</a:t>
            </a:r>
          </a:p>
          <a:p>
            <a:pPr algn="l">
              <a:spcAft>
                <a:spcPts val="300"/>
              </a:spcAft>
            </a:pPr>
            <a:r>
              <a:rPr sz="1100" b="0">
                <a:solidFill>
                  <a:srgbClr val="5B6372"/>
                </a:solidFill>
                <a:latin typeface="Arial"/>
              </a:rPr>
              <a:t>Controls which version of a deliverable is the approved one.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ACTIVITY 11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Direct Project Work and Report Performance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11</a:t>
            </a:r>
          </a:p>
        </p:txBody>
      </p:sp>
      <p:sp>
        <p:nvSpPr>
          <p:cNvPr id="9" name="TextBox 8"/>
          <p:cNvSpPr txBox="1"/>
          <p:nvPr/>
        </p:nvSpPr>
        <p:spPr>
          <a:xfrm>
            <a:off x="777240" y="2331720"/>
            <a:ext cx="10698480" cy="1554480"/>
          </a:xfrm>
          <a:prstGeom prst="rect">
            <a:avLst/>
          </a:prstGeom>
          <a:noFill/>
        </p:spPr>
        <p:txBody>
          <a:bodyPr wrap="square" anchor="t">
            <a:spAutoFit/>
          </a:bodyPr>
          <a:lstStyle/>
          <a:p>
            <a:pPr algn="l">
              <a:spcAft>
                <a:spcPts val="400"/>
              </a:spcAft>
            </a:pPr>
            <a:r>
              <a:rPr sz="1900" b="0">
                <a:solidFill>
                  <a:srgbClr val="161B26"/>
                </a:solidFill>
                <a:latin typeface="Arial"/>
              </a:rPr>
              <a:t>Executing a project generates a flood of raw data. You will use GenAI to turn that data into information, and information into a report a sponsor will actually read — while learning the distinction that PMBOK draws between the three.</a:t>
            </a:r>
          </a:p>
        </p:txBody>
      </p:sp>
      <p:sp>
        <p:nvSpPr>
          <p:cNvPr id="10" name="Rectangle 9"/>
          <p:cNvSpPr/>
          <p:nvPr/>
        </p:nvSpPr>
        <p:spPr>
          <a:xfrm>
            <a:off x="777240" y="3977639"/>
            <a:ext cx="10634472" cy="17830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60520"/>
            <a:ext cx="10058400" cy="365760"/>
          </a:xfrm>
          <a:prstGeom prst="rect">
            <a:avLst/>
          </a:prstGeom>
          <a:noFill/>
        </p:spPr>
        <p:txBody>
          <a:bodyPr wrap="square" anchor="t">
            <a:spAutoFit/>
          </a:bodyPr>
          <a:lstStyle/>
          <a:p>
            <a:pPr algn="l">
              <a:spcAft>
                <a:spcPts val="400"/>
              </a:spcAft>
            </a:pPr>
            <a:r>
              <a:rPr sz="1300" b="1">
                <a:solidFill>
                  <a:srgbClr val="127A3E"/>
                </a:solidFill>
                <a:latin typeface="Arial"/>
              </a:rPr>
              <a:t>You'll produce</a:t>
            </a:r>
          </a:p>
        </p:txBody>
      </p:sp>
      <p:sp>
        <p:nvSpPr>
          <p:cNvPr id="12" name="TextBox 11"/>
          <p:cNvSpPr txBox="1"/>
          <p:nvPr/>
        </p:nvSpPr>
        <p:spPr>
          <a:xfrm>
            <a:off x="1005840" y="4498848"/>
            <a:ext cx="10149840" cy="685800"/>
          </a:xfrm>
          <a:prstGeom prst="rect">
            <a:avLst/>
          </a:prstGeom>
          <a:noFill/>
        </p:spPr>
        <p:txBody>
          <a:bodyPr wrap="square" anchor="t">
            <a:spAutoFit/>
          </a:bodyPr>
          <a:lstStyle/>
          <a:p>
            <a:pPr algn="l">
              <a:spcAft>
                <a:spcPts val="400"/>
              </a:spcAft>
            </a:pPr>
            <a:r>
              <a:rPr sz="1700" b="1">
                <a:solidFill>
                  <a:srgbClr val="161B26"/>
                </a:solidFill>
                <a:latin typeface="Arial"/>
              </a:rPr>
              <a:t>A project status report generated from raw work performance data.</a:t>
            </a:r>
          </a:p>
        </p:txBody>
      </p:sp>
      <p:sp>
        <p:nvSpPr>
          <p:cNvPr id="13" name="TextBox 12"/>
          <p:cNvSpPr txBox="1"/>
          <p:nvPr/>
        </p:nvSpPr>
        <p:spPr>
          <a:xfrm>
            <a:off x="1005840" y="5257800"/>
            <a:ext cx="10241280" cy="4572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GenAI tool · Project Manager Buddy GPT</a:t>
            </a:r>
          </a:p>
        </p:txBody>
      </p:sp>
      <p:sp>
        <p:nvSpPr>
          <p:cNvPr id="14" name="TextBox 13"/>
          <p:cNvSpPr txBox="1"/>
          <p:nvPr/>
        </p:nvSpPr>
        <p:spPr>
          <a:xfrm>
            <a:off x="777240" y="5897880"/>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Step-by-step instructions: see your Learner Guide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02 · ACTIVITY 11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Direct Project Work and Report Performance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11</a:t>
            </a:r>
          </a:p>
        </p:txBody>
      </p:sp>
      <p:sp>
        <p:nvSpPr>
          <p:cNvPr id="9" name="TextBox 8"/>
          <p:cNvSpPr txBox="1"/>
          <p:nvPr/>
        </p:nvSpPr>
        <p:spPr>
          <a:xfrm>
            <a:off x="777240" y="2286000"/>
            <a:ext cx="10607040" cy="365760"/>
          </a:xfrm>
          <a:prstGeom prst="rect">
            <a:avLst/>
          </a:prstGeom>
          <a:noFill/>
        </p:spPr>
        <p:txBody>
          <a:bodyPr wrap="square" anchor="t">
            <a:spAutoFit/>
          </a:bodyPr>
          <a:lstStyle/>
          <a:p>
            <a:pPr algn="l">
              <a:spcAft>
                <a:spcPts val="400"/>
              </a:spcAft>
            </a:pPr>
            <a:r>
              <a:rPr sz="1200" b="1">
                <a:solidFill>
                  <a:srgbClr val="7C3AED"/>
                </a:solidFill>
                <a:latin typeface="Arial"/>
              </a:rPr>
              <a:t>PROMPT GenAI WITH</a:t>
            </a:r>
          </a:p>
        </p:txBody>
      </p:sp>
      <p:sp>
        <p:nvSpPr>
          <p:cNvPr id="10" name="Rectangle 9"/>
          <p:cNvSpPr/>
          <p:nvPr/>
        </p:nvSpPr>
        <p:spPr>
          <a:xfrm>
            <a:off x="777240" y="2651760"/>
            <a:ext cx="10634472" cy="19659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88920"/>
            <a:ext cx="10104120" cy="1691640"/>
          </a:xfrm>
          <a:prstGeom prst="rect">
            <a:avLst/>
          </a:prstGeom>
          <a:noFill/>
        </p:spPr>
        <p:txBody>
          <a:bodyPr wrap="square" anchor="ctr">
            <a:spAutoFit/>
          </a:bodyPr>
          <a:lstStyle/>
          <a:p>
            <a:pPr algn="l">
              <a:spcAft>
                <a:spcPts val="400"/>
              </a:spcAft>
            </a:pPr>
            <a:r>
              <a:rPr sz="1600" b="0">
                <a:solidFill>
                  <a:srgbClr val="D6E4FF"/>
                </a:solidFill>
                <a:latin typeface="Arial"/>
              </a:rPr>
              <a:t>Here is raw work performance data from my project [paste]. Compare it with the plan, distinguish data from interpretation, and produce a one-page status report for an executive sponsor.</a:t>
            </a:r>
          </a:p>
        </p:txBody>
      </p:sp>
      <p:sp>
        <p:nvSpPr>
          <p:cNvPr id="12" name="Rectangle 11"/>
          <p:cNvSpPr/>
          <p:nvPr/>
        </p:nvSpPr>
        <p:spPr>
          <a:xfrm>
            <a:off x="777240" y="4800600"/>
            <a:ext cx="10634472" cy="1051560"/>
          </a:xfrm>
          <a:prstGeom prst="rect">
            <a:avLst/>
          </a:prstGeom>
          <a:solidFill>
            <a:srgbClr val="FFF4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4919472"/>
            <a:ext cx="10149840" cy="320040"/>
          </a:xfrm>
          <a:prstGeom prst="rect">
            <a:avLst/>
          </a:prstGeom>
          <a:noFill/>
        </p:spPr>
        <p:txBody>
          <a:bodyPr wrap="square" anchor="t">
            <a:spAutoFit/>
          </a:bodyPr>
          <a:lstStyle/>
          <a:p>
            <a:pPr algn="l">
              <a:spcAft>
                <a:spcPts val="400"/>
              </a:spcAft>
            </a:pPr>
            <a:r>
              <a:rPr sz="1200" b="1">
                <a:solidFill>
                  <a:srgbClr val="F59E0B"/>
                </a:solidFill>
                <a:latin typeface="Arial"/>
              </a:rPr>
              <a:t>⚠  THEN CHECK IT</a:t>
            </a:r>
          </a:p>
        </p:txBody>
      </p:sp>
      <p:sp>
        <p:nvSpPr>
          <p:cNvPr id="14" name="TextBox 13"/>
          <p:cNvSpPr txBox="1"/>
          <p:nvPr/>
        </p:nvSpPr>
        <p:spPr>
          <a:xfrm>
            <a:off x="1051560" y="5230368"/>
            <a:ext cx="10149840" cy="548640"/>
          </a:xfrm>
          <a:prstGeom prst="rect">
            <a:avLst/>
          </a:prstGeom>
          <a:noFill/>
        </p:spPr>
        <p:txBody>
          <a:bodyPr wrap="square" anchor="t">
            <a:spAutoFit/>
          </a:bodyPr>
          <a:lstStyle/>
          <a:p>
            <a:pPr algn="l">
              <a:spcAft>
                <a:spcPts val="400"/>
              </a:spcAft>
            </a:pPr>
            <a:r>
              <a:rPr sz="1400" b="0">
                <a:solidFill>
                  <a:srgbClr val="161B26"/>
                </a:solidFill>
                <a:latin typeface="Arial"/>
              </a:rPr>
              <a:t>GenAI gives you a fast first draft. Check every figure, source and assumption before you use it.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11 · CHECK YOUR 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Direct Project Work and Report Performance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34472"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9" name="TextBox 8"/>
          <p:cNvSpPr txBox="1"/>
          <p:nvPr/>
        </p:nvSpPr>
        <p:spPr>
          <a:xfrm>
            <a:off x="1097280" y="3017520"/>
            <a:ext cx="9966960" cy="1280160"/>
          </a:xfrm>
          <a:prstGeom prst="rect">
            <a:avLst/>
          </a:prstGeom>
          <a:noFill/>
        </p:spPr>
        <p:txBody>
          <a:bodyPr wrap="square" anchor="t">
            <a:spAutoFit/>
          </a:bodyPr>
          <a:lstStyle/>
          <a:p>
            <a:pPr algn="l">
              <a:spcAft>
                <a:spcPts val="400"/>
              </a:spcAft>
            </a:pPr>
            <a:r>
              <a:rPr sz="1700" b="0">
                <a:solidFill>
                  <a:srgbClr val="161B26"/>
                </a:solidFill>
                <a:latin typeface="Arial"/>
              </a:rPr>
              <a:t>Your report distinguishes data from information, every comparison uses a real baseline figure, and it opens with status, biggest problem and the decision required.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KNOWLEDGE THAT OUTLIVES THE PROJECT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Manage Project Knowledge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Explicit knowledge</a:t>
            </a:r>
          </a:p>
          <a:p>
            <a:pPr algn="l">
              <a:spcAft>
                <a:spcPts val="300"/>
              </a:spcAft>
            </a:pPr>
            <a:r>
              <a:rPr sz="1100" b="0">
                <a:solidFill>
                  <a:srgbClr val="5B6372"/>
                </a:solidFill>
                <a:latin typeface="Arial"/>
              </a:rPr>
              <a:t>Documented and easily shared — plans, reports, procedures. Archive it.</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Tacit knowledge</a:t>
            </a:r>
          </a:p>
          <a:p>
            <a:pPr algn="l">
              <a:spcAft>
                <a:spcPts val="300"/>
              </a:spcAft>
            </a:pPr>
            <a:r>
              <a:rPr sz="1100" b="0">
                <a:solidFill>
                  <a:srgbClr val="5B6372"/>
                </a:solidFill>
                <a:latin typeface="Arial"/>
              </a:rPr>
              <a:t>Held in people's heads — experience, judgement, relationships. Must be surfaced.</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87952"/>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Curate as an asset</a:t>
            </a:r>
          </a:p>
          <a:p>
            <a:pPr algn="l">
              <a:spcAft>
                <a:spcPts val="300"/>
              </a:spcAft>
            </a:pPr>
            <a:r>
              <a:rPr sz="1100" b="0">
                <a:solidFill>
                  <a:srgbClr val="5B6372"/>
                </a:solidFill>
                <a:latin typeface="Arial"/>
              </a:rPr>
              <a:t>Treat knowledge as an asset to the team and the organisation.</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87952"/>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Lessons learned</a:t>
            </a:r>
          </a:p>
          <a:p>
            <a:pPr algn="l">
              <a:spcAft>
                <a:spcPts val="300"/>
              </a:spcAft>
            </a:pPr>
            <a:r>
              <a:rPr sz="1100" b="0">
                <a:solidFill>
                  <a:srgbClr val="5B6372"/>
                </a:solidFill>
                <a:latin typeface="Arial"/>
              </a:rPr>
              <a:t>Captured continuously through the project, not only at the end.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ACTIVITY 12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Manage Project Knowledge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12</a:t>
            </a:r>
          </a:p>
        </p:txBody>
      </p:sp>
      <p:sp>
        <p:nvSpPr>
          <p:cNvPr id="9" name="TextBox 8"/>
          <p:cNvSpPr txBox="1"/>
          <p:nvPr/>
        </p:nvSpPr>
        <p:spPr>
          <a:xfrm>
            <a:off x="777240" y="2331720"/>
            <a:ext cx="10698480" cy="1554480"/>
          </a:xfrm>
          <a:prstGeom prst="rect">
            <a:avLst/>
          </a:prstGeom>
          <a:noFill/>
        </p:spPr>
        <p:txBody>
          <a:bodyPr wrap="square" anchor="t">
            <a:spAutoFit/>
          </a:bodyPr>
          <a:lstStyle/>
          <a:p>
            <a:pPr algn="l">
              <a:spcAft>
                <a:spcPts val="400"/>
              </a:spcAft>
            </a:pPr>
            <a:r>
              <a:rPr sz="1900" b="0">
                <a:solidFill>
                  <a:srgbClr val="161B26"/>
                </a:solidFill>
                <a:latin typeface="Arial"/>
              </a:rPr>
              <a:t>Knowledge that lives only in people's heads leaves when they do. You will use GenAI to turn messy project conversations into a structured, searchable knowledge asset and a lessons-learned register.</a:t>
            </a:r>
          </a:p>
        </p:txBody>
      </p:sp>
      <p:sp>
        <p:nvSpPr>
          <p:cNvPr id="10" name="Rectangle 9"/>
          <p:cNvSpPr/>
          <p:nvPr/>
        </p:nvSpPr>
        <p:spPr>
          <a:xfrm>
            <a:off x="777240" y="3977639"/>
            <a:ext cx="10634472" cy="17830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60520"/>
            <a:ext cx="10058400" cy="365760"/>
          </a:xfrm>
          <a:prstGeom prst="rect">
            <a:avLst/>
          </a:prstGeom>
          <a:noFill/>
        </p:spPr>
        <p:txBody>
          <a:bodyPr wrap="square" anchor="t">
            <a:spAutoFit/>
          </a:bodyPr>
          <a:lstStyle/>
          <a:p>
            <a:pPr algn="l">
              <a:spcAft>
                <a:spcPts val="400"/>
              </a:spcAft>
            </a:pPr>
            <a:r>
              <a:rPr sz="1300" b="1">
                <a:solidFill>
                  <a:srgbClr val="127A3E"/>
                </a:solidFill>
                <a:latin typeface="Arial"/>
              </a:rPr>
              <a:t>You'll produce</a:t>
            </a:r>
          </a:p>
        </p:txBody>
      </p:sp>
      <p:sp>
        <p:nvSpPr>
          <p:cNvPr id="12" name="TextBox 11"/>
          <p:cNvSpPr txBox="1"/>
          <p:nvPr/>
        </p:nvSpPr>
        <p:spPr>
          <a:xfrm>
            <a:off x="1005840" y="4498848"/>
            <a:ext cx="10149840" cy="685800"/>
          </a:xfrm>
          <a:prstGeom prst="rect">
            <a:avLst/>
          </a:prstGeom>
          <a:noFill/>
        </p:spPr>
        <p:txBody>
          <a:bodyPr wrap="square" anchor="t">
            <a:spAutoFit/>
          </a:bodyPr>
          <a:lstStyle/>
          <a:p>
            <a:pPr algn="l">
              <a:spcAft>
                <a:spcPts val="400"/>
              </a:spcAft>
            </a:pPr>
            <a:r>
              <a:rPr sz="1700" b="1">
                <a:solidFill>
                  <a:srgbClr val="161B26"/>
                </a:solidFill>
                <a:latin typeface="Arial"/>
              </a:rPr>
              <a:t>A lessons-learned register and a knowledge asset entry for your project.</a:t>
            </a:r>
          </a:p>
        </p:txBody>
      </p:sp>
      <p:sp>
        <p:nvSpPr>
          <p:cNvPr id="13" name="TextBox 12"/>
          <p:cNvSpPr txBox="1"/>
          <p:nvPr/>
        </p:nvSpPr>
        <p:spPr>
          <a:xfrm>
            <a:off x="1005840" y="5257800"/>
            <a:ext cx="10241280" cy="4572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GenAI tool · Claude (long-document handling)</a:t>
            </a:r>
          </a:p>
        </p:txBody>
      </p:sp>
      <p:sp>
        <p:nvSpPr>
          <p:cNvPr id="14" name="TextBox 13"/>
          <p:cNvSpPr txBox="1"/>
          <p:nvPr/>
        </p:nvSpPr>
        <p:spPr>
          <a:xfrm>
            <a:off x="777240" y="5897880"/>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Step-by-step instructions: see your Learner Guide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02 · ACTIVITY 12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Manage Project Knowledge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12</a:t>
            </a:r>
          </a:p>
        </p:txBody>
      </p:sp>
      <p:sp>
        <p:nvSpPr>
          <p:cNvPr id="9" name="TextBox 8"/>
          <p:cNvSpPr txBox="1"/>
          <p:nvPr/>
        </p:nvSpPr>
        <p:spPr>
          <a:xfrm>
            <a:off x="777240" y="2286000"/>
            <a:ext cx="10607040" cy="365760"/>
          </a:xfrm>
          <a:prstGeom prst="rect">
            <a:avLst/>
          </a:prstGeom>
          <a:noFill/>
        </p:spPr>
        <p:txBody>
          <a:bodyPr wrap="square" anchor="t">
            <a:spAutoFit/>
          </a:bodyPr>
          <a:lstStyle/>
          <a:p>
            <a:pPr algn="l">
              <a:spcAft>
                <a:spcPts val="400"/>
              </a:spcAft>
            </a:pPr>
            <a:r>
              <a:rPr sz="1200" b="1">
                <a:solidFill>
                  <a:srgbClr val="7C3AED"/>
                </a:solidFill>
                <a:latin typeface="Arial"/>
              </a:rPr>
              <a:t>PROMPT GenAI WITH</a:t>
            </a:r>
          </a:p>
        </p:txBody>
      </p:sp>
      <p:sp>
        <p:nvSpPr>
          <p:cNvPr id="10" name="Rectangle 9"/>
          <p:cNvSpPr/>
          <p:nvPr/>
        </p:nvSpPr>
        <p:spPr>
          <a:xfrm>
            <a:off x="777240" y="2651760"/>
            <a:ext cx="10634472" cy="19659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88920"/>
            <a:ext cx="10104120" cy="1691640"/>
          </a:xfrm>
          <a:prstGeom prst="rect">
            <a:avLst/>
          </a:prstGeom>
          <a:noFill/>
        </p:spPr>
        <p:txBody>
          <a:bodyPr wrap="square" anchor="ctr">
            <a:spAutoFit/>
          </a:bodyPr>
          <a:lstStyle/>
          <a:p>
            <a:pPr algn="l">
              <a:spcAft>
                <a:spcPts val="400"/>
              </a:spcAft>
            </a:pPr>
            <a:r>
              <a:rPr sz="1600" b="0">
                <a:solidFill>
                  <a:srgbClr val="D6E4FF"/>
                </a:solidFill>
                <a:latin typeface="Arial"/>
              </a:rPr>
              <a:t>From these project records [paste], extract decisions and owners, open questions, lessons learned, and tacit knowledge that is implied but not stated. Quote the evidence used for each extraction.</a:t>
            </a:r>
          </a:p>
        </p:txBody>
      </p:sp>
      <p:sp>
        <p:nvSpPr>
          <p:cNvPr id="12" name="Rectangle 11"/>
          <p:cNvSpPr/>
          <p:nvPr/>
        </p:nvSpPr>
        <p:spPr>
          <a:xfrm>
            <a:off x="777240" y="4800600"/>
            <a:ext cx="10634472" cy="1051560"/>
          </a:xfrm>
          <a:prstGeom prst="rect">
            <a:avLst/>
          </a:prstGeom>
          <a:solidFill>
            <a:srgbClr val="FFF4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4919472"/>
            <a:ext cx="10149840" cy="320040"/>
          </a:xfrm>
          <a:prstGeom prst="rect">
            <a:avLst/>
          </a:prstGeom>
          <a:noFill/>
        </p:spPr>
        <p:txBody>
          <a:bodyPr wrap="square" anchor="t">
            <a:spAutoFit/>
          </a:bodyPr>
          <a:lstStyle/>
          <a:p>
            <a:pPr algn="l">
              <a:spcAft>
                <a:spcPts val="400"/>
              </a:spcAft>
            </a:pPr>
            <a:r>
              <a:rPr sz="1200" b="1">
                <a:solidFill>
                  <a:srgbClr val="F59E0B"/>
                </a:solidFill>
                <a:latin typeface="Arial"/>
              </a:rPr>
              <a:t>⚠  THEN CHECK IT</a:t>
            </a:r>
          </a:p>
        </p:txBody>
      </p:sp>
      <p:sp>
        <p:nvSpPr>
          <p:cNvPr id="14" name="TextBox 13"/>
          <p:cNvSpPr txBox="1"/>
          <p:nvPr/>
        </p:nvSpPr>
        <p:spPr>
          <a:xfrm>
            <a:off x="1051560" y="5230368"/>
            <a:ext cx="10149840" cy="548640"/>
          </a:xfrm>
          <a:prstGeom prst="rect">
            <a:avLst/>
          </a:prstGeom>
          <a:noFill/>
        </p:spPr>
        <p:txBody>
          <a:bodyPr wrap="square" anchor="t">
            <a:spAutoFit/>
          </a:bodyPr>
          <a:lstStyle/>
          <a:p>
            <a:pPr algn="l">
              <a:spcAft>
                <a:spcPts val="400"/>
              </a:spcAft>
            </a:pPr>
            <a:r>
              <a:rPr sz="1400" b="0">
                <a:solidFill>
                  <a:srgbClr val="161B26"/>
                </a:solidFill>
                <a:latin typeface="Arial"/>
              </a:rPr>
              <a:t>GenAI gives you a fast first draft. Check every figure, source and assumption before you use it.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12 · CHECK YOUR 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Manage Project Knowledge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34472"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9" name="TextBox 8"/>
          <p:cNvSpPr txBox="1"/>
          <p:nvPr/>
        </p:nvSpPr>
        <p:spPr>
          <a:xfrm>
            <a:off x="1097280" y="3017520"/>
            <a:ext cx="9966960" cy="1280160"/>
          </a:xfrm>
          <a:prstGeom prst="rect">
            <a:avLst/>
          </a:prstGeom>
          <a:noFill/>
        </p:spPr>
        <p:txBody>
          <a:bodyPr wrap="square" anchor="t">
            <a:spAutoFit/>
          </a:bodyPr>
          <a:lstStyle/>
          <a:p>
            <a:pPr algn="l">
              <a:spcAft>
                <a:spcPts val="400"/>
              </a:spcAft>
            </a:pPr>
            <a:r>
              <a:rPr sz="1700" b="0">
                <a:solidFill>
                  <a:srgbClr val="161B26"/>
                </a:solidFill>
                <a:latin typeface="Arial"/>
              </a:rPr>
              <a:t>Your register has actionable lessons with root causes, at least one item of genuinely tacit knowledge surfaced, and your group can state your organisation's data-confidentiality limits.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9509760" cy="548640"/>
          </a:xfrm>
          <a:prstGeom prst="rect">
            <a:avLst/>
          </a:prstGeom>
          <a:noFill/>
        </p:spPr>
        <p:txBody>
          <a:bodyPr wrap="square" anchor="t">
            <a:spAutoFit/>
          </a:bodyPr>
          <a:lstStyle/>
          <a:p>
            <a:pPr algn="l">
              <a:spcAft>
                <a:spcPts val="400"/>
              </a:spcAft>
            </a:pPr>
            <a:r>
              <a:rPr sz="1800" b="1">
                <a:solidFill>
                  <a:srgbClr val="1F6FEB"/>
                </a:solidFill>
                <a:latin typeface="Arial"/>
              </a:rPr>
              <a:t>QUALITY</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3800" b="1">
                <a:solidFill>
                  <a:srgbClr val="161B26"/>
                </a:solidFill>
                <a:latin typeface="Arial"/>
              </a:rPr>
              <a:t>Manage and Control Quality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TWO APPROACHES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Quality in Predictive vs Agile Projects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36208" y="1783080"/>
            <a:ext cx="517550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36208" y="1783080"/>
            <a:ext cx="517550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011680"/>
            <a:ext cx="4754880" cy="365760"/>
          </a:xfrm>
          <a:prstGeom prst="rect">
            <a:avLst/>
          </a:prstGeom>
          <a:noFill/>
        </p:spPr>
        <p:txBody>
          <a:bodyPr wrap="square" anchor="t">
            <a:spAutoFit/>
          </a:bodyPr>
          <a:lstStyle/>
          <a:p>
            <a:pPr algn="l">
              <a:spcAft>
                <a:spcPts val="400"/>
              </a:spcAft>
            </a:pPr>
            <a:r>
              <a:rPr sz="1700" b="1">
                <a:solidFill>
                  <a:srgbClr val="1F6FEB"/>
                </a:solidFill>
                <a:latin typeface="Arial"/>
              </a:rPr>
              <a:t>Predictive</a:t>
            </a:r>
          </a:p>
        </p:txBody>
      </p:sp>
      <p:sp>
        <p:nvSpPr>
          <p:cNvPr id="12" name="TextBox 11"/>
          <p:cNvSpPr txBox="1"/>
          <p:nvPr/>
        </p:nvSpPr>
        <p:spPr>
          <a:xfrm>
            <a:off x="6464808" y="2011680"/>
            <a:ext cx="4663440" cy="365760"/>
          </a:xfrm>
          <a:prstGeom prst="rect">
            <a:avLst/>
          </a:prstGeom>
          <a:noFill/>
        </p:spPr>
        <p:txBody>
          <a:bodyPr wrap="square" anchor="t">
            <a:spAutoFit/>
          </a:bodyPr>
          <a:lstStyle/>
          <a:p>
            <a:pPr algn="l">
              <a:spcAft>
                <a:spcPts val="400"/>
              </a:spcAft>
            </a:pPr>
            <a:r>
              <a:rPr sz="1700" b="1">
                <a:solidFill>
                  <a:srgbClr val="10B981"/>
                </a:solidFill>
                <a:latin typeface="Arial"/>
              </a:rPr>
              <a:t>Agile</a:t>
            </a:r>
          </a:p>
        </p:txBody>
      </p:sp>
      <p:sp>
        <p:nvSpPr>
          <p:cNvPr id="13" name="TextBox 12"/>
          <p:cNvSpPr txBox="1"/>
          <p:nvPr/>
        </p:nvSpPr>
        <p:spPr>
          <a:xfrm>
            <a:off x="1005840" y="2514600"/>
            <a:ext cx="4754880" cy="3383280"/>
          </a:xfrm>
          <a:prstGeom prst="rect">
            <a:avLst/>
          </a:prstGeom>
          <a:noFill/>
        </p:spPr>
        <p:txBody>
          <a:bodyPr wrap="square">
            <a:spAutoFit/>
          </a:bodyPr>
          <a:lstStyle/>
          <a:p>
            <a:pPr>
              <a:spcAft>
                <a:spcPts val="1000"/>
              </a:spcAft>
            </a:pPr>
            <a:r>
              <a:rPr sz="1400">
                <a:solidFill>
                  <a:srgbClr val="161B26"/>
                </a:solidFill>
                <a:latin typeface="Arial"/>
              </a:rPr>
              <a:t>•  Predictive</a:t>
            </a:r>
          </a:p>
          <a:p>
            <a:pPr>
              <a:spcAft>
                <a:spcPts val="1000"/>
              </a:spcAft>
            </a:pPr>
            <a:r>
              <a:rPr sz="1200">
                <a:solidFill>
                  <a:srgbClr val="5B6372"/>
                </a:solidFill>
                <a:latin typeface="Arial"/>
              </a:rPr>
              <a:t>–  Product is developed, then tested</a:t>
            </a:r>
          </a:p>
          <a:p>
            <a:pPr>
              <a:spcAft>
                <a:spcPts val="1000"/>
              </a:spcAft>
            </a:pPr>
            <a:r>
              <a:rPr sz="1200">
                <a:solidFill>
                  <a:srgbClr val="5B6372"/>
                </a:solidFill>
                <a:latin typeface="Arial"/>
              </a:rPr>
              <a:t>–  Testing happens in sequence, usually in large batches</a:t>
            </a:r>
          </a:p>
          <a:p>
            <a:pPr>
              <a:spcAft>
                <a:spcPts val="1000"/>
              </a:spcAft>
            </a:pPr>
            <a:r>
              <a:rPr sz="1200">
                <a:solidFill>
                  <a:srgbClr val="5B6372"/>
                </a:solidFill>
                <a:latin typeface="Arial"/>
              </a:rPr>
              <a:t>–  Quality assurance is often a separate function</a:t>
            </a:r>
          </a:p>
        </p:txBody>
      </p:sp>
      <p:sp>
        <p:nvSpPr>
          <p:cNvPr id="14" name="TextBox 13"/>
          <p:cNvSpPr txBox="1"/>
          <p:nvPr/>
        </p:nvSpPr>
        <p:spPr>
          <a:xfrm>
            <a:off x="6464808" y="2514600"/>
            <a:ext cx="4709160" cy="3383280"/>
          </a:xfrm>
          <a:prstGeom prst="rect">
            <a:avLst/>
          </a:prstGeom>
          <a:noFill/>
        </p:spPr>
        <p:txBody>
          <a:bodyPr wrap="square">
            <a:spAutoFit/>
          </a:bodyPr>
          <a:lstStyle/>
          <a:p>
            <a:pPr>
              <a:spcAft>
                <a:spcPts val="1000"/>
              </a:spcAft>
            </a:pPr>
            <a:r>
              <a:rPr sz="1400">
                <a:solidFill>
                  <a:srgbClr val="161B26"/>
                </a:solidFill>
                <a:latin typeface="Arial"/>
              </a:rPr>
              <a:t>•  Agile</a:t>
            </a:r>
          </a:p>
          <a:p>
            <a:pPr>
              <a:spcAft>
                <a:spcPts val="1000"/>
              </a:spcAft>
            </a:pPr>
            <a:r>
              <a:rPr sz="1200">
                <a:solidFill>
                  <a:srgbClr val="5B6372"/>
                </a:solidFill>
                <a:latin typeface="Arial"/>
              </a:rPr>
              <a:t>–  Quality is everyone's responsibility</a:t>
            </a:r>
          </a:p>
          <a:p>
            <a:pPr>
              <a:spcAft>
                <a:spcPts val="1000"/>
              </a:spcAft>
            </a:pPr>
            <a:r>
              <a:rPr sz="1200">
                <a:solidFill>
                  <a:srgbClr val="5B6372"/>
                </a:solidFill>
                <a:latin typeface="Arial"/>
              </a:rPr>
              <a:t>–  Correct requirements and acceptance criteria up front</a:t>
            </a:r>
          </a:p>
          <a:p>
            <a:pPr>
              <a:spcAft>
                <a:spcPts val="1000"/>
              </a:spcAft>
            </a:pPr>
            <a:r>
              <a:rPr sz="1200">
                <a:solidFill>
                  <a:srgbClr val="5B6372"/>
                </a:solidFill>
                <a:latin typeface="Arial"/>
              </a:rPr>
              <a:t>–  Simple design and regular refactoring</a:t>
            </a:r>
          </a:p>
          <a:p>
            <a:pPr>
              <a:spcAft>
                <a:spcPts val="1000"/>
              </a:spcAft>
            </a:pPr>
            <a:r>
              <a:rPr sz="1200">
                <a:solidFill>
                  <a:srgbClr val="5B6372"/>
                </a:solidFill>
                <a:latin typeface="Arial"/>
              </a:rPr>
              <a:t>–  Test-first: write the test, then the code that passes it</a:t>
            </a:r>
          </a:p>
          <a:p>
            <a:pPr>
              <a:spcAft>
                <a:spcPts val="1000"/>
              </a:spcAft>
            </a:pPr>
            <a:r>
              <a:rPr sz="1200">
                <a:solidFill>
                  <a:srgbClr val="5B6372"/>
                </a:solidFill>
                <a:latin typeface="Arial"/>
              </a:rPr>
              <a:t>–  Small deliverable demonstrated in the sprint review</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E11D48"/>
                </a:solidFill>
                <a:latin typeface="Arial"/>
              </a:rPr>
              <a:t>WHY QUALITY IS PLANNED, NOT INSPECTED IN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600" b="1">
                <a:solidFill>
                  <a:srgbClr val="161B26"/>
                </a:solidFill>
                <a:latin typeface="Arial"/>
              </a:rPr>
              <a:t>Quality is more expensive to fix the closer it gets to your customer.</a:t>
            </a:r>
          </a:p>
        </p:txBody>
      </p:sp>
      <p:sp>
        <p:nvSpPr>
          <p:cNvPr id="6" name="TextBox 5"/>
          <p:cNvSpPr txBox="1"/>
          <p:nvPr/>
        </p:nvSpPr>
        <p:spPr>
          <a:xfrm>
            <a:off x="1024128" y="457200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A defect caught in design costs almost nothing. The same defect caught by a customer costs you rework, reputation and trust.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FOUR COST CATEGORIES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Cost of Quality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Prevention costs</a:t>
            </a:r>
          </a:p>
          <a:p>
            <a:pPr algn="l">
              <a:spcAft>
                <a:spcPts val="300"/>
              </a:spcAft>
            </a:pPr>
            <a:r>
              <a:rPr sz="1100" b="0">
                <a:solidFill>
                  <a:srgbClr val="5B6372"/>
                </a:solidFill>
                <a:latin typeface="Arial"/>
              </a:rPr>
              <a:t>Preventing future defects — training, prototypes, refactoring, good design.</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Appraisal costs</a:t>
            </a:r>
          </a:p>
          <a:p>
            <a:pPr algn="l">
              <a:spcAft>
                <a:spcPts val="300"/>
              </a:spcAft>
            </a:pPr>
            <a:r>
              <a:rPr sz="1100" b="0">
                <a:solidFill>
                  <a:srgbClr val="5B6372"/>
                </a:solidFill>
                <a:latin typeface="Arial"/>
              </a:rPr>
              <a:t>Finding defects — testing, quality audits, inspections, the sprint review.</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87952"/>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Internal failure</a:t>
            </a:r>
          </a:p>
          <a:p>
            <a:pPr algn="l">
              <a:spcAft>
                <a:spcPts val="300"/>
              </a:spcAft>
            </a:pPr>
            <a:r>
              <a:rPr sz="1100" b="0">
                <a:solidFill>
                  <a:srgbClr val="5B6372"/>
                </a:solidFill>
                <a:latin typeface="Arial"/>
              </a:rPr>
              <a:t>The product fails internally, usually during testing or review.</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87952"/>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External failure</a:t>
            </a:r>
          </a:p>
          <a:p>
            <a:pPr algn="l">
              <a:spcAft>
                <a:spcPts val="300"/>
              </a:spcAft>
            </a:pPr>
            <a:r>
              <a:rPr sz="1100" b="0">
                <a:solidFill>
                  <a:srgbClr val="5B6372"/>
                </a:solidFill>
                <a:latin typeface="Arial"/>
              </a:rPr>
              <a:t>Non-conformance reaches the customer — complaints, returns, reputational damage.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FOUR IMPROVEMENT FRAMEWORKS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Quality Methods for Continuous Improvement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Six Sigma / DMAIC</a:t>
            </a:r>
          </a:p>
          <a:p>
            <a:pPr algn="l">
              <a:spcAft>
                <a:spcPts val="300"/>
              </a:spcAft>
            </a:pPr>
            <a:r>
              <a:rPr sz="1200" b="0">
                <a:solidFill>
                  <a:srgbClr val="5B6372"/>
                </a:solidFill>
                <a:latin typeface="Arial"/>
              </a:rPr>
              <a:t>Define, Measure, Analyse, Improve, Control — focused on removing variation and waste.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Kaizen</a:t>
            </a:r>
          </a:p>
          <a:p>
            <a:pPr algn="l">
              <a:spcAft>
                <a:spcPts val="300"/>
              </a:spcAft>
            </a:pPr>
            <a:r>
              <a:rPr sz="1200" b="0">
                <a:solidFill>
                  <a:srgbClr val="5B6372"/>
                </a:solidFill>
                <a:latin typeface="Arial"/>
              </a:rPr>
              <a:t>'Change for better' — continuous small improvements by everyone.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PDCA</a:t>
            </a:r>
          </a:p>
          <a:p>
            <a:pPr algn="l">
              <a:spcAft>
                <a:spcPts val="300"/>
              </a:spcAft>
            </a:pPr>
            <a:r>
              <a:rPr sz="1200" b="0">
                <a:solidFill>
                  <a:srgbClr val="5B6372"/>
                </a:solidFill>
                <a:latin typeface="Arial"/>
              </a:rPr>
              <a:t>Plan-Do-Check-Act — the Shewhart / Deming cycle.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Agile methods</a:t>
            </a:r>
          </a:p>
          <a:p>
            <a:pPr algn="l">
              <a:spcAft>
                <a:spcPts val="300"/>
              </a:spcAft>
            </a:pPr>
            <a:r>
              <a:rPr sz="1200" b="0">
                <a:solidFill>
                  <a:srgbClr val="5B6372"/>
                </a:solidFill>
                <a:latin typeface="Arial"/>
              </a:rPr>
              <a:t>Scrum, Kanban and their built-in inspect-and-adapt loops.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FINDING THE REAL CAUSE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Root Cause Analysis Tools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Ishikawa / Fishbone</a:t>
            </a:r>
          </a:p>
          <a:p>
            <a:pPr algn="l">
              <a:spcAft>
                <a:spcPts val="300"/>
              </a:spcAft>
            </a:pPr>
            <a:r>
              <a:rPr sz="1200" b="0">
                <a:solidFill>
                  <a:srgbClr val="5B6372"/>
                </a:solidFill>
                <a:latin typeface="Arial"/>
              </a:rPr>
              <a:t>Cause-and-effect diagram grouping causes into categories.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The Five Whys</a:t>
            </a:r>
          </a:p>
          <a:p>
            <a:pPr algn="l">
              <a:spcAft>
                <a:spcPts val="300"/>
              </a:spcAft>
            </a:pPr>
            <a:r>
              <a:rPr sz="1200" b="0">
                <a:solidFill>
                  <a:srgbClr val="5B6372"/>
                </a:solidFill>
                <a:latin typeface="Arial"/>
              </a:rPr>
              <a:t>Ask 'why' repeatedly until you reach something you can actually change.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Pareto Chart</a:t>
            </a:r>
          </a:p>
          <a:p>
            <a:pPr algn="l">
              <a:spcAft>
                <a:spcPts val="300"/>
              </a:spcAft>
            </a:pPr>
            <a:r>
              <a:rPr sz="1200" b="0">
                <a:solidFill>
                  <a:srgbClr val="5B6372"/>
                </a:solidFill>
                <a:latin typeface="Arial"/>
              </a:rPr>
              <a:t>The 80/20 rule — find the vital few causes creating most of the problem.</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Six Thinking Hats</a:t>
            </a:r>
          </a:p>
          <a:p>
            <a:pPr algn="l">
              <a:spcAft>
                <a:spcPts val="300"/>
              </a:spcAft>
            </a:pPr>
            <a:r>
              <a:rPr sz="1200" b="0">
                <a:solidFill>
                  <a:srgbClr val="5B6372"/>
                </a:solidFill>
                <a:latin typeface="Arial"/>
              </a:rPr>
              <a:t>Examine the problem deliberately from six different perspectives.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ACTIVITY 13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Root Cause Analysis with GenAI — Fishbone, Five Whys and Pareto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13</a:t>
            </a:r>
          </a:p>
        </p:txBody>
      </p:sp>
      <p:sp>
        <p:nvSpPr>
          <p:cNvPr id="9" name="TextBox 8"/>
          <p:cNvSpPr txBox="1"/>
          <p:nvPr/>
        </p:nvSpPr>
        <p:spPr>
          <a:xfrm>
            <a:off x="777240" y="2331720"/>
            <a:ext cx="10698480" cy="1554480"/>
          </a:xfrm>
          <a:prstGeom prst="rect">
            <a:avLst/>
          </a:prstGeom>
          <a:noFill/>
        </p:spPr>
        <p:txBody>
          <a:bodyPr wrap="square" anchor="t">
            <a:spAutoFit/>
          </a:bodyPr>
          <a:lstStyle/>
          <a:p>
            <a:pPr algn="l">
              <a:spcAft>
                <a:spcPts val="400"/>
              </a:spcAft>
            </a:pPr>
            <a:r>
              <a:rPr sz="1900" b="0">
                <a:solidFill>
                  <a:srgbClr val="161B26"/>
                </a:solidFill>
                <a:latin typeface="Arial"/>
              </a:rPr>
              <a:t>When delivery goes wrong, the visible problem is rarely the real one. You will run three complementary root-cause techniques on the same problem with GenAI's help and compare what each reveals.</a:t>
            </a:r>
          </a:p>
        </p:txBody>
      </p:sp>
      <p:sp>
        <p:nvSpPr>
          <p:cNvPr id="10" name="Rectangle 9"/>
          <p:cNvSpPr/>
          <p:nvPr/>
        </p:nvSpPr>
        <p:spPr>
          <a:xfrm>
            <a:off x="777240" y="3977639"/>
            <a:ext cx="10634472" cy="17830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60520"/>
            <a:ext cx="10058400" cy="365760"/>
          </a:xfrm>
          <a:prstGeom prst="rect">
            <a:avLst/>
          </a:prstGeom>
          <a:noFill/>
        </p:spPr>
        <p:txBody>
          <a:bodyPr wrap="square" anchor="t">
            <a:spAutoFit/>
          </a:bodyPr>
          <a:lstStyle/>
          <a:p>
            <a:pPr algn="l">
              <a:spcAft>
                <a:spcPts val="400"/>
              </a:spcAft>
            </a:pPr>
            <a:r>
              <a:rPr sz="1300" b="1">
                <a:solidFill>
                  <a:srgbClr val="127A3E"/>
                </a:solidFill>
                <a:latin typeface="Arial"/>
              </a:rPr>
              <a:t>You'll produce</a:t>
            </a:r>
          </a:p>
        </p:txBody>
      </p:sp>
      <p:sp>
        <p:nvSpPr>
          <p:cNvPr id="12" name="TextBox 11"/>
          <p:cNvSpPr txBox="1"/>
          <p:nvPr/>
        </p:nvSpPr>
        <p:spPr>
          <a:xfrm>
            <a:off x="1005840" y="4498848"/>
            <a:ext cx="10149840" cy="685800"/>
          </a:xfrm>
          <a:prstGeom prst="rect">
            <a:avLst/>
          </a:prstGeom>
          <a:noFill/>
        </p:spPr>
        <p:txBody>
          <a:bodyPr wrap="square" anchor="t">
            <a:spAutoFit/>
          </a:bodyPr>
          <a:lstStyle/>
          <a:p>
            <a:pPr algn="l">
              <a:spcAft>
                <a:spcPts val="400"/>
              </a:spcAft>
            </a:pPr>
            <a:r>
              <a:rPr sz="1700" b="1">
                <a:solidFill>
                  <a:srgbClr val="161B26"/>
                </a:solidFill>
                <a:latin typeface="Arial"/>
              </a:rPr>
              <a:t>A fishbone diagram, a five-whys chain and a Pareto analysis of the same delivery problem.</a:t>
            </a:r>
          </a:p>
        </p:txBody>
      </p:sp>
      <p:sp>
        <p:nvSpPr>
          <p:cNvPr id="13" name="TextBox 12"/>
          <p:cNvSpPr txBox="1"/>
          <p:nvPr/>
        </p:nvSpPr>
        <p:spPr>
          <a:xfrm>
            <a:off x="1005840" y="5257800"/>
            <a:ext cx="10241280" cy="4572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GenAI tool · Fishbone Diagram Template.pptx · Pareto Principle Template.xlsx</a:t>
            </a:r>
          </a:p>
        </p:txBody>
      </p:sp>
      <p:sp>
        <p:nvSpPr>
          <p:cNvPr id="14" name="TextBox 13"/>
          <p:cNvSpPr txBox="1"/>
          <p:nvPr/>
        </p:nvSpPr>
        <p:spPr>
          <a:xfrm>
            <a:off x="777240" y="5897880"/>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Step-by-step instructions: see your Learner Guide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02 · ACTIVITY 13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Root Cause Analysis with GenAI — Fishbone, Five Whys and Pareto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13</a:t>
            </a:r>
          </a:p>
        </p:txBody>
      </p:sp>
      <p:sp>
        <p:nvSpPr>
          <p:cNvPr id="9" name="TextBox 8"/>
          <p:cNvSpPr txBox="1"/>
          <p:nvPr/>
        </p:nvSpPr>
        <p:spPr>
          <a:xfrm>
            <a:off x="777240" y="2286000"/>
            <a:ext cx="10607040" cy="365760"/>
          </a:xfrm>
          <a:prstGeom prst="rect">
            <a:avLst/>
          </a:prstGeom>
          <a:noFill/>
        </p:spPr>
        <p:txBody>
          <a:bodyPr wrap="square" anchor="t">
            <a:spAutoFit/>
          </a:bodyPr>
          <a:lstStyle/>
          <a:p>
            <a:pPr algn="l">
              <a:spcAft>
                <a:spcPts val="400"/>
              </a:spcAft>
            </a:pPr>
            <a:r>
              <a:rPr sz="1200" b="1">
                <a:solidFill>
                  <a:srgbClr val="7C3AED"/>
                </a:solidFill>
                <a:latin typeface="Arial"/>
              </a:rPr>
              <a:t>PROMPT GenAI WITH</a:t>
            </a:r>
          </a:p>
        </p:txBody>
      </p:sp>
      <p:sp>
        <p:nvSpPr>
          <p:cNvPr id="10" name="Rectangle 9"/>
          <p:cNvSpPr/>
          <p:nvPr/>
        </p:nvSpPr>
        <p:spPr>
          <a:xfrm>
            <a:off x="777240" y="2651760"/>
            <a:ext cx="10634472" cy="19659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88920"/>
            <a:ext cx="10104120" cy="1691640"/>
          </a:xfrm>
          <a:prstGeom prst="rect">
            <a:avLst/>
          </a:prstGeom>
          <a:noFill/>
        </p:spPr>
        <p:txBody>
          <a:bodyPr wrap="square" anchor="ctr">
            <a:spAutoFit/>
          </a:bodyPr>
          <a:lstStyle/>
          <a:p>
            <a:pPr algn="l">
              <a:spcAft>
                <a:spcPts val="400"/>
              </a:spcAft>
            </a:pPr>
            <a:r>
              <a:rPr sz="1600" b="0">
                <a:solidFill>
                  <a:srgbClr val="D6E4FF"/>
                </a:solidFill>
                <a:latin typeface="Arial"/>
              </a:rPr>
              <a:t>Analyse the issue records provided and identify the most likely root causes of recurring project deadline misses. Produce a fishbone structure, a five-whys chain and a Pareto-ready category table without inventing evidence.</a:t>
            </a:r>
          </a:p>
        </p:txBody>
      </p:sp>
      <p:sp>
        <p:nvSpPr>
          <p:cNvPr id="12" name="Rectangle 11"/>
          <p:cNvSpPr/>
          <p:nvPr/>
        </p:nvSpPr>
        <p:spPr>
          <a:xfrm>
            <a:off x="777240" y="4800600"/>
            <a:ext cx="10634472" cy="1051560"/>
          </a:xfrm>
          <a:prstGeom prst="rect">
            <a:avLst/>
          </a:prstGeom>
          <a:solidFill>
            <a:srgbClr val="FFF4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4919472"/>
            <a:ext cx="10149840" cy="320040"/>
          </a:xfrm>
          <a:prstGeom prst="rect">
            <a:avLst/>
          </a:prstGeom>
          <a:noFill/>
        </p:spPr>
        <p:txBody>
          <a:bodyPr wrap="square" anchor="t">
            <a:spAutoFit/>
          </a:bodyPr>
          <a:lstStyle/>
          <a:p>
            <a:pPr algn="l">
              <a:spcAft>
                <a:spcPts val="400"/>
              </a:spcAft>
            </a:pPr>
            <a:r>
              <a:rPr sz="1200" b="1">
                <a:solidFill>
                  <a:srgbClr val="F59E0B"/>
                </a:solidFill>
                <a:latin typeface="Arial"/>
              </a:rPr>
              <a:t>⚠  THEN CHECK IT</a:t>
            </a:r>
          </a:p>
        </p:txBody>
      </p:sp>
      <p:sp>
        <p:nvSpPr>
          <p:cNvPr id="14" name="TextBox 13"/>
          <p:cNvSpPr txBox="1"/>
          <p:nvPr/>
        </p:nvSpPr>
        <p:spPr>
          <a:xfrm>
            <a:off x="1051560" y="5230368"/>
            <a:ext cx="10149840" cy="548640"/>
          </a:xfrm>
          <a:prstGeom prst="rect">
            <a:avLst/>
          </a:prstGeom>
          <a:noFill/>
        </p:spPr>
        <p:txBody>
          <a:bodyPr wrap="square" anchor="t">
            <a:spAutoFit/>
          </a:bodyPr>
          <a:lstStyle/>
          <a:p>
            <a:pPr algn="l">
              <a:spcAft>
                <a:spcPts val="400"/>
              </a:spcAft>
            </a:pPr>
            <a:r>
              <a:rPr sz="1400" b="0">
                <a:solidFill>
                  <a:srgbClr val="161B26"/>
                </a:solidFill>
                <a:latin typeface="Arial"/>
              </a:rPr>
              <a:t>GenAI gives you a fast first draft. Check every figure, source and assumption before you use it.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13 · CHECK YOUR 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Root Cause Analysis with GenAI — Fishbone, Five Whys and Pareto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34472"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9" name="TextBox 8"/>
          <p:cNvSpPr txBox="1"/>
          <p:nvPr/>
        </p:nvSpPr>
        <p:spPr>
          <a:xfrm>
            <a:off x="1097280" y="3017520"/>
            <a:ext cx="9966960" cy="1280160"/>
          </a:xfrm>
          <a:prstGeom prst="rect">
            <a:avLst/>
          </a:prstGeom>
          <a:noFill/>
        </p:spPr>
        <p:txBody>
          <a:bodyPr wrap="square" anchor="t">
            <a:spAutoFit/>
          </a:bodyPr>
          <a:lstStyle/>
          <a:p>
            <a:pPr algn="l">
              <a:spcAft>
                <a:spcPts val="400"/>
              </a:spcAft>
            </a:pPr>
            <a:r>
              <a:rPr sz="1700" b="0">
                <a:solidFill>
                  <a:srgbClr val="161B26"/>
                </a:solidFill>
                <a:latin typeface="Arial"/>
              </a:rPr>
              <a:t>You have all three artifacts for one problem, you added at least two organisation-specific causes the AI missed, and your five-whys chain ends at something you can change.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CONTINUOUS IMPROVEMENT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PDCA — The Deming Cycle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PLAN — review real data, find the root cause, prioritise solutions with the team</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DO — put the plan into action as a pilot in a small area first</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CHECK — check the results against a specific measure</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300" b="0">
                <a:solidFill>
                  <a:srgbClr val="161B26"/>
                </a:solidFill>
                <a:latin typeface="Arial"/>
              </a:rPr>
              <a:t>ACT — adjust: standardise if it worked, or try again if it did not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STRUCTURED PROBLEM SOLVING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DMAIC — Six Sigma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DEFINE the problem as a gap between where you are and where you want to be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MEASURE the current problem with real data</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ANALYSE the data and find the root cause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IMPROVE — put the plan into action and measure the result</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CONTROL — ensure the new process stays in control</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ACTIVITY 14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Continuous Improvement with GenAI — PDCA and DMAIC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14</a:t>
            </a:r>
          </a:p>
        </p:txBody>
      </p:sp>
      <p:sp>
        <p:nvSpPr>
          <p:cNvPr id="9" name="TextBox 8"/>
          <p:cNvSpPr txBox="1"/>
          <p:nvPr/>
        </p:nvSpPr>
        <p:spPr>
          <a:xfrm>
            <a:off x="777240" y="2331720"/>
            <a:ext cx="10698480" cy="1554480"/>
          </a:xfrm>
          <a:prstGeom prst="rect">
            <a:avLst/>
          </a:prstGeom>
          <a:noFill/>
        </p:spPr>
        <p:txBody>
          <a:bodyPr wrap="square" anchor="t">
            <a:spAutoFit/>
          </a:bodyPr>
          <a:lstStyle/>
          <a:p>
            <a:pPr algn="l">
              <a:spcAft>
                <a:spcPts val="400"/>
              </a:spcAft>
            </a:pPr>
            <a:r>
              <a:rPr sz="1900" b="0">
                <a:solidFill>
                  <a:srgbClr val="161B26"/>
                </a:solidFill>
                <a:latin typeface="Arial"/>
              </a:rPr>
              <a:t>Having found a root cause, you need a disciplined way to fix it and make the fix stick. You will run the same improvement through both PDCA and DMAIC and see where they differ.</a:t>
            </a:r>
          </a:p>
        </p:txBody>
      </p:sp>
      <p:sp>
        <p:nvSpPr>
          <p:cNvPr id="10" name="Rectangle 9"/>
          <p:cNvSpPr/>
          <p:nvPr/>
        </p:nvSpPr>
        <p:spPr>
          <a:xfrm>
            <a:off x="777240" y="3977639"/>
            <a:ext cx="10634472" cy="17830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60520"/>
            <a:ext cx="10058400" cy="365760"/>
          </a:xfrm>
          <a:prstGeom prst="rect">
            <a:avLst/>
          </a:prstGeom>
          <a:noFill/>
        </p:spPr>
        <p:txBody>
          <a:bodyPr wrap="square" anchor="t">
            <a:spAutoFit/>
          </a:bodyPr>
          <a:lstStyle/>
          <a:p>
            <a:pPr algn="l">
              <a:spcAft>
                <a:spcPts val="400"/>
              </a:spcAft>
            </a:pPr>
            <a:r>
              <a:rPr sz="1300" b="1">
                <a:solidFill>
                  <a:srgbClr val="127A3E"/>
                </a:solidFill>
                <a:latin typeface="Arial"/>
              </a:rPr>
              <a:t>You'll produce</a:t>
            </a:r>
          </a:p>
        </p:txBody>
      </p:sp>
      <p:sp>
        <p:nvSpPr>
          <p:cNvPr id="12" name="TextBox 11"/>
          <p:cNvSpPr txBox="1"/>
          <p:nvPr/>
        </p:nvSpPr>
        <p:spPr>
          <a:xfrm>
            <a:off x="1005840" y="4498848"/>
            <a:ext cx="10149840" cy="685800"/>
          </a:xfrm>
          <a:prstGeom prst="rect">
            <a:avLst/>
          </a:prstGeom>
          <a:noFill/>
        </p:spPr>
        <p:txBody>
          <a:bodyPr wrap="square" anchor="t">
            <a:spAutoFit/>
          </a:bodyPr>
          <a:lstStyle/>
          <a:p>
            <a:pPr algn="l">
              <a:spcAft>
                <a:spcPts val="400"/>
              </a:spcAft>
            </a:pPr>
            <a:r>
              <a:rPr sz="1700" b="1">
                <a:solidFill>
                  <a:srgbClr val="161B26"/>
                </a:solidFill>
                <a:latin typeface="Arial"/>
              </a:rPr>
              <a:t>A completed PDCA cycle and a DMAIC project definition for your improvement.</a:t>
            </a:r>
          </a:p>
        </p:txBody>
      </p:sp>
      <p:sp>
        <p:nvSpPr>
          <p:cNvPr id="13" name="TextBox 12"/>
          <p:cNvSpPr txBox="1"/>
          <p:nvPr/>
        </p:nvSpPr>
        <p:spPr>
          <a:xfrm>
            <a:off x="1005840" y="5257800"/>
            <a:ext cx="10241280" cy="4572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GenAI tool · Plan Do Check Act.pptx · DMAIC.pptx</a:t>
            </a:r>
          </a:p>
        </p:txBody>
      </p:sp>
      <p:sp>
        <p:nvSpPr>
          <p:cNvPr id="14" name="TextBox 13"/>
          <p:cNvSpPr txBox="1"/>
          <p:nvPr/>
        </p:nvSpPr>
        <p:spPr>
          <a:xfrm>
            <a:off x="777240" y="5897880"/>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Step-by-step instructions: see your Learner Guide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02 · ACTIVITY 14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Continuous Improvement with GenAI — PDCA and DMAIC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14</a:t>
            </a:r>
          </a:p>
        </p:txBody>
      </p:sp>
      <p:sp>
        <p:nvSpPr>
          <p:cNvPr id="9" name="TextBox 8"/>
          <p:cNvSpPr txBox="1"/>
          <p:nvPr/>
        </p:nvSpPr>
        <p:spPr>
          <a:xfrm>
            <a:off x="777240" y="2286000"/>
            <a:ext cx="10607040" cy="365760"/>
          </a:xfrm>
          <a:prstGeom prst="rect">
            <a:avLst/>
          </a:prstGeom>
          <a:noFill/>
        </p:spPr>
        <p:txBody>
          <a:bodyPr wrap="square" anchor="t">
            <a:spAutoFit/>
          </a:bodyPr>
          <a:lstStyle/>
          <a:p>
            <a:pPr algn="l">
              <a:spcAft>
                <a:spcPts val="400"/>
              </a:spcAft>
            </a:pPr>
            <a:r>
              <a:rPr sz="1200" b="1">
                <a:solidFill>
                  <a:srgbClr val="7C3AED"/>
                </a:solidFill>
                <a:latin typeface="Arial"/>
              </a:rPr>
              <a:t>PROMPT GenAI WITH</a:t>
            </a:r>
          </a:p>
        </p:txBody>
      </p:sp>
      <p:sp>
        <p:nvSpPr>
          <p:cNvPr id="10" name="Rectangle 9"/>
          <p:cNvSpPr/>
          <p:nvPr/>
        </p:nvSpPr>
        <p:spPr>
          <a:xfrm>
            <a:off x="777240" y="2651760"/>
            <a:ext cx="10634472" cy="19659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88920"/>
            <a:ext cx="10104120" cy="1691640"/>
          </a:xfrm>
          <a:prstGeom prst="rect">
            <a:avLst/>
          </a:prstGeom>
          <a:noFill/>
        </p:spPr>
        <p:txBody>
          <a:bodyPr wrap="square" anchor="ctr">
            <a:spAutoFit/>
          </a:bodyPr>
          <a:lstStyle/>
          <a:p>
            <a:pPr algn="l">
              <a:spcAft>
                <a:spcPts val="400"/>
              </a:spcAft>
            </a:pPr>
            <a:r>
              <a:rPr sz="1600" b="0">
                <a:solidFill>
                  <a:srgbClr val="D6E4FF"/>
                </a:solidFill>
                <a:latin typeface="Arial"/>
              </a:rPr>
              <a:t>Design a PDCA cycle to address [root cause]. For Plan, state the evidence and prioritised solution; for Do, define a small pilot; for Check, define the success measure; for Act, state what happens if the pilot succeeds or fails.</a:t>
            </a:r>
          </a:p>
        </p:txBody>
      </p:sp>
      <p:sp>
        <p:nvSpPr>
          <p:cNvPr id="12" name="Rectangle 11"/>
          <p:cNvSpPr/>
          <p:nvPr/>
        </p:nvSpPr>
        <p:spPr>
          <a:xfrm>
            <a:off x="777240" y="4800600"/>
            <a:ext cx="10634472" cy="1051560"/>
          </a:xfrm>
          <a:prstGeom prst="rect">
            <a:avLst/>
          </a:prstGeom>
          <a:solidFill>
            <a:srgbClr val="FFF4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4919472"/>
            <a:ext cx="10149840" cy="320040"/>
          </a:xfrm>
          <a:prstGeom prst="rect">
            <a:avLst/>
          </a:prstGeom>
          <a:noFill/>
        </p:spPr>
        <p:txBody>
          <a:bodyPr wrap="square" anchor="t">
            <a:spAutoFit/>
          </a:bodyPr>
          <a:lstStyle/>
          <a:p>
            <a:pPr algn="l">
              <a:spcAft>
                <a:spcPts val="400"/>
              </a:spcAft>
            </a:pPr>
            <a:r>
              <a:rPr sz="1200" b="1">
                <a:solidFill>
                  <a:srgbClr val="F59E0B"/>
                </a:solidFill>
                <a:latin typeface="Arial"/>
              </a:rPr>
              <a:t>⚠  THEN CHECK IT</a:t>
            </a:r>
          </a:p>
        </p:txBody>
      </p:sp>
      <p:sp>
        <p:nvSpPr>
          <p:cNvPr id="14" name="TextBox 13"/>
          <p:cNvSpPr txBox="1"/>
          <p:nvPr/>
        </p:nvSpPr>
        <p:spPr>
          <a:xfrm>
            <a:off x="1051560" y="5230368"/>
            <a:ext cx="10149840" cy="548640"/>
          </a:xfrm>
          <a:prstGeom prst="rect">
            <a:avLst/>
          </a:prstGeom>
          <a:noFill/>
        </p:spPr>
        <p:txBody>
          <a:bodyPr wrap="square" anchor="t">
            <a:spAutoFit/>
          </a:bodyPr>
          <a:lstStyle/>
          <a:p>
            <a:pPr algn="l">
              <a:spcAft>
                <a:spcPts val="400"/>
              </a:spcAft>
            </a:pPr>
            <a:r>
              <a:rPr sz="1400" b="0">
                <a:solidFill>
                  <a:srgbClr val="161B26"/>
                </a:solidFill>
                <a:latin typeface="Arial"/>
              </a:rPr>
              <a:t>GenAI gives you a fast first draft. Check every figure, source and assumption before you use it.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14 · CHECK YOUR 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Continuous Improvement with GenAI — PDCA and DMAIC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34472"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9" name="TextBox 8"/>
          <p:cNvSpPr txBox="1"/>
          <p:nvPr/>
        </p:nvSpPr>
        <p:spPr>
          <a:xfrm>
            <a:off x="1097280" y="3017520"/>
            <a:ext cx="9966960" cy="1280160"/>
          </a:xfrm>
          <a:prstGeom prst="rect">
            <a:avLst/>
          </a:prstGeom>
          <a:noFill/>
        </p:spPr>
        <p:txBody>
          <a:bodyPr wrap="square" anchor="t">
            <a:spAutoFit/>
          </a:bodyPr>
          <a:lstStyle/>
          <a:p>
            <a:pPr algn="l">
              <a:spcAft>
                <a:spcPts val="400"/>
              </a:spcAft>
            </a:pPr>
            <a:r>
              <a:rPr sz="1700" b="0">
                <a:solidFill>
                  <a:srgbClr val="161B26"/>
                </a:solidFill>
                <a:latin typeface="Arial"/>
              </a:rPr>
              <a:t>Your Check/Control stages specify a number and a date, your Do stage is a pilot, and you can justify choosing PDCA or DMAIC for this problem.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MEETING EXTERNAL REQUIREMENTS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Compliance Requirements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Know the standards</a:t>
            </a:r>
          </a:p>
          <a:p>
            <a:pPr algn="l">
              <a:spcAft>
                <a:spcPts val="300"/>
              </a:spcAft>
            </a:pPr>
            <a:r>
              <a:rPr sz="1200" b="0">
                <a:solidFill>
                  <a:srgbClr val="5B6372"/>
                </a:solidFill>
                <a:latin typeface="Arial"/>
              </a:rPr>
              <a:t>Government regulations, organisational policies, product and project quality requirements.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Classify</a:t>
            </a:r>
          </a:p>
          <a:p>
            <a:pPr algn="l">
              <a:spcAft>
                <a:spcPts val="300"/>
              </a:spcAft>
            </a:pPr>
            <a:r>
              <a:rPr sz="1200" b="0">
                <a:solidFill>
                  <a:srgbClr val="5B6372"/>
                </a:solidFill>
                <a:latin typeface="Arial"/>
              </a:rPr>
              <a:t>Determine which compliance categories apply to your project.</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Assess threats</a:t>
            </a:r>
          </a:p>
          <a:p>
            <a:pPr algn="l">
              <a:spcAft>
                <a:spcPts val="300"/>
              </a:spcAft>
            </a:pPr>
            <a:r>
              <a:rPr sz="1200" b="0">
                <a:solidFill>
                  <a:srgbClr val="5B6372"/>
                </a:solidFill>
                <a:latin typeface="Arial"/>
              </a:rPr>
              <a:t>Determine potential threats to compliance and analyse the consequences of non-compliance.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Act</a:t>
            </a:r>
          </a:p>
          <a:p>
            <a:pPr algn="l">
              <a:spcAft>
                <a:spcPts val="300"/>
              </a:spcAft>
            </a:pPr>
            <a:r>
              <a:rPr sz="1200" b="0">
                <a:solidFill>
                  <a:srgbClr val="5B6372"/>
                </a:solidFill>
                <a:latin typeface="Arial"/>
              </a:rPr>
              <a:t>Determine the necessary approach and actions to address compliance needs.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9509760" cy="548640"/>
          </a:xfrm>
          <a:prstGeom prst="rect">
            <a:avLst/>
          </a:prstGeom>
          <a:noFill/>
        </p:spPr>
        <p:txBody>
          <a:bodyPr wrap="square" anchor="t">
            <a:spAutoFit/>
          </a:bodyPr>
          <a:lstStyle/>
          <a:p>
            <a:pPr algn="l">
              <a:spcAft>
                <a:spcPts val="400"/>
              </a:spcAft>
            </a:pPr>
            <a:r>
              <a:rPr sz="1800" b="1">
                <a:solidFill>
                  <a:srgbClr val="1F6FEB"/>
                </a:solidFill>
                <a:latin typeface="Arial"/>
              </a:rPr>
              <a:t>RESOURCES</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3800" b="1">
                <a:solidFill>
                  <a:srgbClr val="161B26"/>
                </a:solidFill>
                <a:latin typeface="Arial"/>
              </a:rPr>
              <a:t>Acquire, Develop and Manage Resources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PLANNING THE PEOPLE AND THE KIT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Resource Management Plan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Identify resources</a:t>
            </a:r>
          </a:p>
          <a:p>
            <a:pPr algn="l">
              <a:spcAft>
                <a:spcPts val="300"/>
              </a:spcAft>
            </a:pPr>
            <a:r>
              <a:rPr sz="1000" b="0">
                <a:solidFill>
                  <a:srgbClr val="5B6372"/>
                </a:solidFill>
                <a:latin typeface="Arial"/>
              </a:rPr>
              <a:t>Both people and physical resources, and how to acquire them.</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Roles and responsibilities</a:t>
            </a:r>
          </a:p>
          <a:p>
            <a:pPr algn="l">
              <a:spcAft>
                <a:spcPts val="300"/>
              </a:spcAft>
            </a:pPr>
            <a:r>
              <a:rPr sz="1000" b="0">
                <a:solidFill>
                  <a:srgbClr val="5B6372"/>
                </a:solidFill>
                <a:latin typeface="Arial"/>
              </a:rPr>
              <a:t>Role (function), Authority (rights to decide and use resources), Responsibility (assigned duty).</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22904"/>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Competencies</a:t>
            </a:r>
          </a:p>
          <a:p>
            <a:pPr algn="l">
              <a:spcAft>
                <a:spcPts val="300"/>
              </a:spcAft>
            </a:pPr>
            <a:r>
              <a:rPr sz="1000" b="0">
                <a:solidFill>
                  <a:srgbClr val="5B6372"/>
                </a:solidFill>
                <a:latin typeface="Arial"/>
              </a:rPr>
              <a:t>The skills required, and the training strategy to close any gaps.</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22904"/>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Organisation chart</a:t>
            </a:r>
          </a:p>
          <a:p>
            <a:pPr algn="l">
              <a:spcAft>
                <a:spcPts val="300"/>
              </a:spcAft>
            </a:pPr>
            <a:r>
              <a:rPr sz="1000" b="0">
                <a:solidFill>
                  <a:srgbClr val="5B6372"/>
                </a:solidFill>
                <a:latin typeface="Arial"/>
              </a:rPr>
              <a:t>A visual showing resource categories and reporting relationships.</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53000"/>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Resource controls</a:t>
            </a:r>
          </a:p>
          <a:p>
            <a:pPr algn="l">
              <a:spcAft>
                <a:spcPts val="300"/>
              </a:spcAft>
            </a:pPr>
            <a:r>
              <a:rPr sz="1000" b="0">
                <a:solidFill>
                  <a:srgbClr val="5B6372"/>
                </a:solidFill>
                <a:latin typeface="Arial"/>
              </a:rPr>
              <a:t>Ensuring non-human resources are available when needed.</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53000"/>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Recognition plan</a:t>
            </a:r>
          </a:p>
          <a:p>
            <a:pPr algn="l">
              <a:spcAft>
                <a:spcPts val="300"/>
              </a:spcAft>
            </a:pPr>
            <a:r>
              <a:rPr sz="1000" b="0">
                <a:solidFill>
                  <a:srgbClr val="5B6372"/>
                </a:solidFill>
                <a:latin typeface="Arial"/>
              </a:rPr>
              <a:t>How contribution will be recognised and rewarded.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TWO TECHNIQUES — KNOW THE DIFFERENCE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Resource Optimisation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36208" y="1783080"/>
            <a:ext cx="517550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36208" y="1783080"/>
            <a:ext cx="517550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011680"/>
            <a:ext cx="4754880" cy="365760"/>
          </a:xfrm>
          <a:prstGeom prst="rect">
            <a:avLst/>
          </a:prstGeom>
          <a:noFill/>
        </p:spPr>
        <p:txBody>
          <a:bodyPr wrap="square" anchor="t">
            <a:spAutoFit/>
          </a:bodyPr>
          <a:lstStyle/>
          <a:p>
            <a:pPr algn="l">
              <a:spcAft>
                <a:spcPts val="400"/>
              </a:spcAft>
            </a:pPr>
            <a:r>
              <a:rPr sz="1700" b="1">
                <a:solidFill>
                  <a:srgbClr val="F59E0B"/>
                </a:solidFill>
                <a:latin typeface="Arial"/>
              </a:rPr>
              <a:t>Levelling</a:t>
            </a:r>
          </a:p>
        </p:txBody>
      </p:sp>
      <p:sp>
        <p:nvSpPr>
          <p:cNvPr id="12" name="TextBox 11"/>
          <p:cNvSpPr txBox="1"/>
          <p:nvPr/>
        </p:nvSpPr>
        <p:spPr>
          <a:xfrm>
            <a:off x="6464808" y="2011680"/>
            <a:ext cx="4663440" cy="365760"/>
          </a:xfrm>
          <a:prstGeom prst="rect">
            <a:avLst/>
          </a:prstGeom>
          <a:noFill/>
        </p:spPr>
        <p:txBody>
          <a:bodyPr wrap="square" anchor="t">
            <a:spAutoFit/>
          </a:bodyPr>
          <a:lstStyle/>
          <a:p>
            <a:pPr algn="l">
              <a:spcAft>
                <a:spcPts val="400"/>
              </a:spcAft>
            </a:pPr>
            <a:r>
              <a:rPr sz="1700" b="1">
                <a:solidFill>
                  <a:srgbClr val="10B981"/>
                </a:solidFill>
                <a:latin typeface="Arial"/>
              </a:rPr>
              <a:t>Smoothing</a:t>
            </a:r>
          </a:p>
        </p:txBody>
      </p:sp>
      <p:sp>
        <p:nvSpPr>
          <p:cNvPr id="13" name="TextBox 12"/>
          <p:cNvSpPr txBox="1"/>
          <p:nvPr/>
        </p:nvSpPr>
        <p:spPr>
          <a:xfrm>
            <a:off x="1005840" y="2514600"/>
            <a:ext cx="4754880" cy="3383280"/>
          </a:xfrm>
          <a:prstGeom prst="rect">
            <a:avLst/>
          </a:prstGeom>
          <a:noFill/>
        </p:spPr>
        <p:txBody>
          <a:bodyPr wrap="square">
            <a:spAutoFit/>
          </a:bodyPr>
          <a:lstStyle/>
          <a:p>
            <a:pPr>
              <a:spcAft>
                <a:spcPts val="1000"/>
              </a:spcAft>
            </a:pPr>
            <a:r>
              <a:rPr sz="1400">
                <a:solidFill>
                  <a:srgbClr val="161B26"/>
                </a:solidFill>
                <a:latin typeface="Arial"/>
              </a:rPr>
              <a:t>•  Resource Levelling</a:t>
            </a:r>
          </a:p>
          <a:p>
            <a:pPr>
              <a:spcAft>
                <a:spcPts val="1000"/>
              </a:spcAft>
            </a:pPr>
            <a:r>
              <a:rPr sz="1200">
                <a:solidFill>
                  <a:srgbClr val="5B6372"/>
                </a:solidFill>
                <a:latin typeface="Arial"/>
              </a:rPr>
              <a:t>–  Used when a shared resource is over-allocated</a:t>
            </a:r>
          </a:p>
          <a:p>
            <a:pPr>
              <a:spcAft>
                <a:spcPts val="1000"/>
              </a:spcAft>
            </a:pPr>
            <a:r>
              <a:rPr sz="1200">
                <a:solidFill>
                  <a:srgbClr val="5B6372"/>
                </a:solidFill>
                <a:latin typeface="Arial"/>
              </a:rPr>
              <a:t>–  Or assigned to two or more activities in the same period</a:t>
            </a:r>
          </a:p>
          <a:p>
            <a:pPr>
              <a:spcAft>
                <a:spcPts val="1000"/>
              </a:spcAft>
            </a:pPr>
            <a:r>
              <a:rPr sz="1200">
                <a:solidFill>
                  <a:srgbClr val="5B6372"/>
                </a:solidFill>
                <a:latin typeface="Arial"/>
              </a:rPr>
              <a:t>–  Adjusts the schedule to resolve it</a:t>
            </a:r>
          </a:p>
          <a:p>
            <a:pPr>
              <a:spcAft>
                <a:spcPts val="1000"/>
              </a:spcAft>
            </a:pPr>
            <a:r>
              <a:rPr sz="1200">
                <a:solidFill>
                  <a:srgbClr val="5B6372"/>
                </a:solidFill>
                <a:latin typeface="Arial"/>
              </a:rPr>
              <a:t>–  MAY change the critical path and the end date</a:t>
            </a:r>
          </a:p>
        </p:txBody>
      </p:sp>
      <p:sp>
        <p:nvSpPr>
          <p:cNvPr id="14" name="TextBox 13"/>
          <p:cNvSpPr txBox="1"/>
          <p:nvPr/>
        </p:nvSpPr>
        <p:spPr>
          <a:xfrm>
            <a:off x="6464808" y="2514600"/>
            <a:ext cx="4709160" cy="3383280"/>
          </a:xfrm>
          <a:prstGeom prst="rect">
            <a:avLst/>
          </a:prstGeom>
          <a:noFill/>
        </p:spPr>
        <p:txBody>
          <a:bodyPr wrap="square">
            <a:spAutoFit/>
          </a:bodyPr>
          <a:lstStyle/>
          <a:p>
            <a:pPr>
              <a:spcAft>
                <a:spcPts val="1000"/>
              </a:spcAft>
            </a:pPr>
            <a:r>
              <a:rPr sz="1400">
                <a:solidFill>
                  <a:srgbClr val="161B26"/>
                </a:solidFill>
                <a:latin typeface="Arial"/>
              </a:rPr>
              <a:t>•  Resource Smoothing</a:t>
            </a:r>
          </a:p>
          <a:p>
            <a:pPr>
              <a:spcAft>
                <a:spcPts val="1000"/>
              </a:spcAft>
            </a:pPr>
            <a:r>
              <a:rPr sz="1200">
                <a:solidFill>
                  <a:srgbClr val="5B6372"/>
                </a:solidFill>
                <a:latin typeface="Arial"/>
              </a:rPr>
              <a:t>–  Adjusts activities only within their free and total float</a:t>
            </a:r>
          </a:p>
          <a:p>
            <a:pPr>
              <a:spcAft>
                <a:spcPts val="1000"/>
              </a:spcAft>
            </a:pPr>
            <a:r>
              <a:rPr sz="1200">
                <a:solidFill>
                  <a:srgbClr val="5B6372"/>
                </a:solidFill>
                <a:latin typeface="Arial"/>
              </a:rPr>
              <a:t>–  The critical path is NOT changed</a:t>
            </a:r>
          </a:p>
          <a:p>
            <a:pPr>
              <a:spcAft>
                <a:spcPts val="1000"/>
              </a:spcAft>
            </a:pPr>
            <a:r>
              <a:rPr sz="1200">
                <a:solidFill>
                  <a:srgbClr val="5B6372"/>
                </a:solidFill>
                <a:latin typeface="Arial"/>
              </a:rPr>
              <a:t>–  The end date is preserved</a:t>
            </a:r>
          </a:p>
          <a:p>
            <a:pPr>
              <a:spcAft>
                <a:spcPts val="1000"/>
              </a:spcAft>
            </a:pPr>
            <a:r>
              <a:rPr sz="1200">
                <a:solidFill>
                  <a:srgbClr val="5B6372"/>
                </a:solidFill>
                <a:latin typeface="Arial"/>
              </a:rPr>
              <a:t>–  May not fully resolve the over-allocation</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WHEN YOU MUST GO FASTER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Schedule Compression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36208" y="1783080"/>
            <a:ext cx="517550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36208" y="1783080"/>
            <a:ext cx="5175504" cy="914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011680"/>
            <a:ext cx="4754880" cy="365760"/>
          </a:xfrm>
          <a:prstGeom prst="rect">
            <a:avLst/>
          </a:prstGeom>
          <a:noFill/>
        </p:spPr>
        <p:txBody>
          <a:bodyPr wrap="square" anchor="t">
            <a:spAutoFit/>
          </a:bodyPr>
          <a:lstStyle/>
          <a:p>
            <a:pPr algn="l">
              <a:spcAft>
                <a:spcPts val="400"/>
              </a:spcAft>
            </a:pPr>
            <a:r>
              <a:rPr sz="1700" b="1">
                <a:solidFill>
                  <a:srgbClr val="7C3AED"/>
                </a:solidFill>
                <a:latin typeface="Arial"/>
              </a:rPr>
              <a:t>Crashing — spend money</a:t>
            </a:r>
          </a:p>
        </p:txBody>
      </p:sp>
      <p:sp>
        <p:nvSpPr>
          <p:cNvPr id="12" name="TextBox 11"/>
          <p:cNvSpPr txBox="1"/>
          <p:nvPr/>
        </p:nvSpPr>
        <p:spPr>
          <a:xfrm>
            <a:off x="6464808" y="2011680"/>
            <a:ext cx="4663440" cy="365760"/>
          </a:xfrm>
          <a:prstGeom prst="rect">
            <a:avLst/>
          </a:prstGeom>
          <a:noFill/>
        </p:spPr>
        <p:txBody>
          <a:bodyPr wrap="square" anchor="t">
            <a:spAutoFit/>
          </a:bodyPr>
          <a:lstStyle/>
          <a:p>
            <a:pPr algn="l">
              <a:spcAft>
                <a:spcPts val="400"/>
              </a:spcAft>
            </a:pPr>
            <a:r>
              <a:rPr sz="1700" b="1">
                <a:solidFill>
                  <a:srgbClr val="E11D48"/>
                </a:solidFill>
                <a:latin typeface="Arial"/>
              </a:rPr>
              <a:t>Fast tracking — take risk</a:t>
            </a:r>
          </a:p>
        </p:txBody>
      </p:sp>
      <p:sp>
        <p:nvSpPr>
          <p:cNvPr id="13" name="TextBox 12"/>
          <p:cNvSpPr txBox="1"/>
          <p:nvPr/>
        </p:nvSpPr>
        <p:spPr>
          <a:xfrm>
            <a:off x="1005840" y="2514600"/>
            <a:ext cx="4754880" cy="3383280"/>
          </a:xfrm>
          <a:prstGeom prst="rect">
            <a:avLst/>
          </a:prstGeom>
          <a:noFill/>
        </p:spPr>
        <p:txBody>
          <a:bodyPr wrap="square">
            <a:spAutoFit/>
          </a:bodyPr>
          <a:lstStyle/>
          <a:p>
            <a:pPr>
              <a:spcAft>
                <a:spcPts val="1000"/>
              </a:spcAft>
            </a:pPr>
            <a:r>
              <a:rPr sz="1400">
                <a:solidFill>
                  <a:srgbClr val="161B26"/>
                </a:solidFill>
                <a:latin typeface="Arial"/>
              </a:rPr>
              <a:t>•  Crashing</a:t>
            </a:r>
          </a:p>
          <a:p>
            <a:pPr>
              <a:spcAft>
                <a:spcPts val="1000"/>
              </a:spcAft>
            </a:pPr>
            <a:r>
              <a:rPr sz="1200">
                <a:solidFill>
                  <a:srgbClr val="5B6372"/>
                </a:solidFill>
                <a:latin typeface="Arial"/>
              </a:rPr>
              <a:t>–  Add resources to shorten duration for least incremental cost</a:t>
            </a:r>
          </a:p>
          <a:p>
            <a:pPr>
              <a:spcAft>
                <a:spcPts val="1000"/>
              </a:spcAft>
            </a:pPr>
            <a:r>
              <a:rPr sz="1200">
                <a:solidFill>
                  <a:srgbClr val="5B6372"/>
                </a:solidFill>
                <a:latin typeface="Arial"/>
              </a:rPr>
              <a:t>–  Overtime, extra people, paying to expedite</a:t>
            </a:r>
          </a:p>
          <a:p>
            <a:pPr>
              <a:spcAft>
                <a:spcPts val="1000"/>
              </a:spcAft>
            </a:pPr>
            <a:r>
              <a:rPr sz="1200">
                <a:solidFill>
                  <a:srgbClr val="5B6372"/>
                </a:solidFill>
                <a:latin typeface="Arial"/>
              </a:rPr>
              <a:t>–  ONLY works on critical path activities</a:t>
            </a:r>
          </a:p>
          <a:p>
            <a:pPr>
              <a:spcAft>
                <a:spcPts val="1000"/>
              </a:spcAft>
            </a:pPr>
            <a:r>
              <a:rPr sz="1200">
                <a:solidFill>
                  <a:srgbClr val="5B6372"/>
                </a:solidFill>
                <a:latin typeface="Arial"/>
              </a:rPr>
              <a:t>–  Increases cost, and often risk</a:t>
            </a:r>
          </a:p>
        </p:txBody>
      </p:sp>
      <p:sp>
        <p:nvSpPr>
          <p:cNvPr id="14" name="TextBox 13"/>
          <p:cNvSpPr txBox="1"/>
          <p:nvPr/>
        </p:nvSpPr>
        <p:spPr>
          <a:xfrm>
            <a:off x="6464808" y="2514600"/>
            <a:ext cx="4709160" cy="3383280"/>
          </a:xfrm>
          <a:prstGeom prst="rect">
            <a:avLst/>
          </a:prstGeom>
          <a:noFill/>
        </p:spPr>
        <p:txBody>
          <a:bodyPr wrap="square">
            <a:spAutoFit/>
          </a:bodyPr>
          <a:lstStyle/>
          <a:p>
            <a:pPr>
              <a:spcAft>
                <a:spcPts val="1000"/>
              </a:spcAft>
            </a:pPr>
            <a:r>
              <a:rPr sz="1400">
                <a:solidFill>
                  <a:srgbClr val="161B26"/>
                </a:solidFill>
                <a:latin typeface="Arial"/>
              </a:rPr>
              <a:t>•  Fast Tracking</a:t>
            </a:r>
          </a:p>
          <a:p>
            <a:pPr>
              <a:spcAft>
                <a:spcPts val="1000"/>
              </a:spcAft>
            </a:pPr>
            <a:r>
              <a:rPr sz="1200">
                <a:solidFill>
                  <a:srgbClr val="5B6372"/>
                </a:solidFill>
                <a:latin typeface="Arial"/>
              </a:rPr>
              <a:t>–  Perform activities in parallel that were planned in sequence</a:t>
            </a:r>
          </a:p>
          <a:p>
            <a:pPr>
              <a:spcAft>
                <a:spcPts val="1000"/>
              </a:spcAft>
            </a:pPr>
            <a:r>
              <a:rPr sz="1200">
                <a:solidFill>
                  <a:srgbClr val="5B6372"/>
                </a:solidFill>
                <a:latin typeface="Arial"/>
              </a:rPr>
              <a:t>–  Overlaps critical path activities to shorten duration</a:t>
            </a:r>
          </a:p>
          <a:p>
            <a:pPr>
              <a:spcAft>
                <a:spcPts val="1000"/>
              </a:spcAft>
            </a:pPr>
            <a:r>
              <a:rPr sz="1200">
                <a:solidFill>
                  <a:srgbClr val="5B6372"/>
                </a:solidFill>
                <a:latin typeface="Arial"/>
              </a:rPr>
              <a:t>–  No additional cost up front</a:t>
            </a:r>
          </a:p>
          <a:p>
            <a:pPr>
              <a:spcAft>
                <a:spcPts val="1000"/>
              </a:spcAft>
            </a:pPr>
            <a:r>
              <a:rPr sz="1200">
                <a:solidFill>
                  <a:srgbClr val="5B6372"/>
                </a:solidFill>
                <a:latin typeface="Arial"/>
              </a:rPr>
              <a:t>–  Increases risk of rework — which can cost more later</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ACTIVITY 15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Optimise Resources and Budget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15</a:t>
            </a:r>
          </a:p>
        </p:txBody>
      </p:sp>
      <p:sp>
        <p:nvSpPr>
          <p:cNvPr id="9" name="TextBox 8"/>
          <p:cNvSpPr txBox="1"/>
          <p:nvPr/>
        </p:nvSpPr>
        <p:spPr>
          <a:xfrm>
            <a:off x="777240" y="2331720"/>
            <a:ext cx="10698480" cy="1554480"/>
          </a:xfrm>
          <a:prstGeom prst="rect">
            <a:avLst/>
          </a:prstGeom>
          <a:noFill/>
        </p:spPr>
        <p:txBody>
          <a:bodyPr wrap="square" anchor="t">
            <a:spAutoFit/>
          </a:bodyPr>
          <a:lstStyle/>
          <a:p>
            <a:pPr algn="l">
              <a:spcAft>
                <a:spcPts val="400"/>
              </a:spcAft>
            </a:pPr>
            <a:r>
              <a:rPr sz="1900" b="0">
                <a:solidFill>
                  <a:srgbClr val="161B26"/>
                </a:solidFill>
                <a:latin typeface="Arial"/>
              </a:rPr>
              <a:t>This is the heart of LO2. A resource is over-allocated and the budget is under pressure — you will use GenAI to generate genuine alternatives, evaluate the trade-offs, and defend the option you choose.</a:t>
            </a:r>
          </a:p>
        </p:txBody>
      </p:sp>
      <p:sp>
        <p:nvSpPr>
          <p:cNvPr id="10" name="Rectangle 9"/>
          <p:cNvSpPr/>
          <p:nvPr/>
        </p:nvSpPr>
        <p:spPr>
          <a:xfrm>
            <a:off x="777240" y="3977639"/>
            <a:ext cx="10634472" cy="17830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60520"/>
            <a:ext cx="10058400" cy="365760"/>
          </a:xfrm>
          <a:prstGeom prst="rect">
            <a:avLst/>
          </a:prstGeom>
          <a:noFill/>
        </p:spPr>
        <p:txBody>
          <a:bodyPr wrap="square" anchor="t">
            <a:spAutoFit/>
          </a:bodyPr>
          <a:lstStyle/>
          <a:p>
            <a:pPr algn="l">
              <a:spcAft>
                <a:spcPts val="400"/>
              </a:spcAft>
            </a:pPr>
            <a:r>
              <a:rPr sz="1300" b="1">
                <a:solidFill>
                  <a:srgbClr val="127A3E"/>
                </a:solidFill>
                <a:latin typeface="Arial"/>
              </a:rPr>
              <a:t>You'll produce</a:t>
            </a:r>
          </a:p>
        </p:txBody>
      </p:sp>
      <p:sp>
        <p:nvSpPr>
          <p:cNvPr id="12" name="TextBox 11"/>
          <p:cNvSpPr txBox="1"/>
          <p:nvPr/>
        </p:nvSpPr>
        <p:spPr>
          <a:xfrm>
            <a:off x="1005840" y="4498848"/>
            <a:ext cx="10149840" cy="685800"/>
          </a:xfrm>
          <a:prstGeom prst="rect">
            <a:avLst/>
          </a:prstGeom>
          <a:noFill/>
        </p:spPr>
        <p:txBody>
          <a:bodyPr wrap="square" anchor="t">
            <a:spAutoFit/>
          </a:bodyPr>
          <a:lstStyle/>
          <a:p>
            <a:pPr algn="l">
              <a:spcAft>
                <a:spcPts val="400"/>
              </a:spcAft>
            </a:pPr>
            <a:r>
              <a:rPr sz="1700" b="1">
                <a:solidFill>
                  <a:srgbClr val="161B26"/>
                </a:solidFill>
                <a:latin typeface="Arial"/>
              </a:rPr>
              <a:t>A resource optimisation decision with a documented trade-off analysis.</a:t>
            </a:r>
          </a:p>
        </p:txBody>
      </p:sp>
      <p:sp>
        <p:nvSpPr>
          <p:cNvPr id="13" name="TextBox 12"/>
          <p:cNvSpPr txBox="1"/>
          <p:nvPr/>
        </p:nvSpPr>
        <p:spPr>
          <a:xfrm>
            <a:off x="1005840" y="5257800"/>
            <a:ext cx="10241280" cy="4572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GenAI tool · your schedule from Activity 9 · Gantt Chart Template.xlsx</a:t>
            </a:r>
          </a:p>
        </p:txBody>
      </p:sp>
      <p:sp>
        <p:nvSpPr>
          <p:cNvPr id="14" name="TextBox 13"/>
          <p:cNvSpPr txBox="1"/>
          <p:nvPr/>
        </p:nvSpPr>
        <p:spPr>
          <a:xfrm>
            <a:off x="777240" y="5897880"/>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Step-by-step instructions: see your Learner Guide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02 · ACTIVITY 15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Optimise Resources and Budget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15</a:t>
            </a:r>
          </a:p>
        </p:txBody>
      </p:sp>
      <p:sp>
        <p:nvSpPr>
          <p:cNvPr id="9" name="TextBox 8"/>
          <p:cNvSpPr txBox="1"/>
          <p:nvPr/>
        </p:nvSpPr>
        <p:spPr>
          <a:xfrm>
            <a:off x="777240" y="2286000"/>
            <a:ext cx="10607040" cy="365760"/>
          </a:xfrm>
          <a:prstGeom prst="rect">
            <a:avLst/>
          </a:prstGeom>
          <a:noFill/>
        </p:spPr>
        <p:txBody>
          <a:bodyPr wrap="square" anchor="t">
            <a:spAutoFit/>
          </a:bodyPr>
          <a:lstStyle/>
          <a:p>
            <a:pPr algn="l">
              <a:spcAft>
                <a:spcPts val="400"/>
              </a:spcAft>
            </a:pPr>
            <a:r>
              <a:rPr sz="1200" b="1">
                <a:solidFill>
                  <a:srgbClr val="7C3AED"/>
                </a:solidFill>
                <a:latin typeface="Arial"/>
              </a:rPr>
              <a:t>PROMPT GenAI WITH</a:t>
            </a:r>
          </a:p>
        </p:txBody>
      </p:sp>
      <p:sp>
        <p:nvSpPr>
          <p:cNvPr id="10" name="Rectangle 9"/>
          <p:cNvSpPr/>
          <p:nvPr/>
        </p:nvSpPr>
        <p:spPr>
          <a:xfrm>
            <a:off x="777240" y="2651760"/>
            <a:ext cx="10634472" cy="19659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88920"/>
            <a:ext cx="10104120" cy="1691640"/>
          </a:xfrm>
          <a:prstGeom prst="rect">
            <a:avLst/>
          </a:prstGeom>
          <a:noFill/>
        </p:spPr>
        <p:txBody>
          <a:bodyPr wrap="square" anchor="ctr">
            <a:spAutoFit/>
          </a:bodyPr>
          <a:lstStyle/>
          <a:p>
            <a:pPr algn="l">
              <a:spcAft>
                <a:spcPts val="400"/>
              </a:spcAft>
            </a:pPr>
            <a:r>
              <a:rPr sz="1600" b="0">
                <a:solidFill>
                  <a:srgbClr val="D6E4FF"/>
                </a:solidFill>
                <a:latin typeface="Arial"/>
              </a:rPr>
              <a:t>I have an over-allocated resource on these activities [paste] and a 15% budget reduction. Compare resource levelling, resource smoothing, crashing and fast tracking, including cost, schedule, quality and risk trade-offs.</a:t>
            </a:r>
          </a:p>
        </p:txBody>
      </p:sp>
      <p:sp>
        <p:nvSpPr>
          <p:cNvPr id="12" name="Rectangle 11"/>
          <p:cNvSpPr/>
          <p:nvPr/>
        </p:nvSpPr>
        <p:spPr>
          <a:xfrm>
            <a:off x="777240" y="4800600"/>
            <a:ext cx="10634472" cy="1051560"/>
          </a:xfrm>
          <a:prstGeom prst="rect">
            <a:avLst/>
          </a:prstGeom>
          <a:solidFill>
            <a:srgbClr val="FFF4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4919472"/>
            <a:ext cx="10149840" cy="320040"/>
          </a:xfrm>
          <a:prstGeom prst="rect">
            <a:avLst/>
          </a:prstGeom>
          <a:noFill/>
        </p:spPr>
        <p:txBody>
          <a:bodyPr wrap="square" anchor="t">
            <a:spAutoFit/>
          </a:bodyPr>
          <a:lstStyle/>
          <a:p>
            <a:pPr algn="l">
              <a:spcAft>
                <a:spcPts val="400"/>
              </a:spcAft>
            </a:pPr>
            <a:r>
              <a:rPr sz="1200" b="1">
                <a:solidFill>
                  <a:srgbClr val="F59E0B"/>
                </a:solidFill>
                <a:latin typeface="Arial"/>
              </a:rPr>
              <a:t>⚠  THEN CHECK IT</a:t>
            </a:r>
          </a:p>
        </p:txBody>
      </p:sp>
      <p:sp>
        <p:nvSpPr>
          <p:cNvPr id="14" name="TextBox 13"/>
          <p:cNvSpPr txBox="1"/>
          <p:nvPr/>
        </p:nvSpPr>
        <p:spPr>
          <a:xfrm>
            <a:off x="1051560" y="5230368"/>
            <a:ext cx="10149840" cy="548640"/>
          </a:xfrm>
          <a:prstGeom prst="rect">
            <a:avLst/>
          </a:prstGeom>
          <a:noFill/>
        </p:spPr>
        <p:txBody>
          <a:bodyPr wrap="square" anchor="t">
            <a:spAutoFit/>
          </a:bodyPr>
          <a:lstStyle/>
          <a:p>
            <a:pPr algn="l">
              <a:spcAft>
                <a:spcPts val="400"/>
              </a:spcAft>
            </a:pPr>
            <a:r>
              <a:rPr sz="1400" b="0">
                <a:solidFill>
                  <a:srgbClr val="161B26"/>
                </a:solidFill>
                <a:latin typeface="Arial"/>
              </a:rPr>
              <a:t>GenAI gives you a fast first draft. Check every figure, source and assumption before you use it.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15 · CHECK YOUR 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Optimise Resources and Budget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34472"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9" name="TextBox 8"/>
          <p:cNvSpPr txBox="1"/>
          <p:nvPr/>
        </p:nvSpPr>
        <p:spPr>
          <a:xfrm>
            <a:off x="1097280" y="3017520"/>
            <a:ext cx="9966960" cy="1280160"/>
          </a:xfrm>
          <a:prstGeom prst="rect">
            <a:avLst/>
          </a:prstGeom>
          <a:noFill/>
        </p:spPr>
        <p:txBody>
          <a:bodyPr wrap="square" anchor="t">
            <a:spAutoFit/>
          </a:bodyPr>
          <a:lstStyle/>
          <a:p>
            <a:pPr algn="l">
              <a:spcAft>
                <a:spcPts val="400"/>
              </a:spcAft>
            </a:pPr>
            <a:r>
              <a:rPr sz="1700" b="0">
                <a:solidFill>
                  <a:srgbClr val="161B26"/>
                </a:solidFill>
                <a:latin typeface="Arial"/>
              </a:rPr>
              <a:t>Your chosen option is correctly named, crashing (if used) targets the critical path, and you can justify the cost/schedule/risk trade-off in three sentences.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9509760" cy="548640"/>
          </a:xfrm>
          <a:prstGeom prst="rect">
            <a:avLst/>
          </a:prstGeom>
          <a:noFill/>
        </p:spPr>
        <p:txBody>
          <a:bodyPr wrap="square" anchor="t">
            <a:spAutoFit/>
          </a:bodyPr>
          <a:lstStyle/>
          <a:p>
            <a:pPr algn="l">
              <a:spcAft>
                <a:spcPts val="400"/>
              </a:spcAft>
            </a:pPr>
            <a:r>
              <a:rPr sz="1800" b="1">
                <a:solidFill>
                  <a:srgbClr val="1F6FEB"/>
                </a:solidFill>
                <a:latin typeface="Arial"/>
              </a:rPr>
              <a:t>TEAM</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3800" b="1">
                <a:solidFill>
                  <a:srgbClr val="161B26"/>
                </a:solidFill>
                <a:latin typeface="Arial"/>
              </a:rPr>
              <a:t>Develop and Manage the Project Team</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051560"/>
            <a:ext cx="10058400" cy="457200"/>
          </a:xfrm>
          <a:prstGeom prst="rect">
            <a:avLst/>
          </a:prstGeom>
          <a:noFill/>
        </p:spPr>
        <p:txBody>
          <a:bodyPr wrap="square" anchor="t">
            <a:spAutoFit/>
          </a:bodyPr>
          <a:lstStyle/>
          <a:p>
            <a:pPr algn="l">
              <a:spcAft>
                <a:spcPts val="400"/>
              </a:spcAft>
            </a:pPr>
            <a:r>
              <a:rPr sz="1500" b="1">
                <a:solidFill>
                  <a:srgbClr val="10B981"/>
                </a:solidFill>
                <a:latin typeface="Arial"/>
              </a:rPr>
              <a:t>AN EFFECTIVE TEAM IS THE KEY TO SUCCESS</a:t>
            </a:r>
          </a:p>
        </p:txBody>
      </p:sp>
      <p:sp>
        <p:nvSpPr>
          <p:cNvPr id="5" name="TextBox 4"/>
          <p:cNvSpPr txBox="1"/>
          <p:nvPr/>
        </p:nvSpPr>
        <p:spPr>
          <a:xfrm>
            <a:off x="960120" y="1463040"/>
            <a:ext cx="1097280" cy="1097280"/>
          </a:xfrm>
          <a:prstGeom prst="rect">
            <a:avLst/>
          </a:prstGeom>
          <a:noFill/>
        </p:spPr>
        <p:txBody>
          <a:bodyPr wrap="square" anchor="t">
            <a:spAutoFit/>
          </a:bodyPr>
          <a:lstStyle/>
          <a:p>
            <a:pPr algn="l">
              <a:spcAft>
                <a:spcPts val="400"/>
              </a:spcAft>
            </a:pPr>
            <a:r>
              <a:rPr sz="9000" b="1">
                <a:solidFill>
                  <a:srgbClr val="E2E8F0"/>
                </a:solidFill>
                <a:latin typeface="Arial"/>
              </a:rPr>
              <a:t>“</a:t>
            </a:r>
          </a:p>
        </p:txBody>
      </p:sp>
      <p:sp>
        <p:nvSpPr>
          <p:cNvPr id="6" name="TextBox 5"/>
          <p:cNvSpPr txBox="1"/>
          <p:nvPr/>
        </p:nvSpPr>
        <p:spPr>
          <a:xfrm>
            <a:off x="1051560" y="2331720"/>
            <a:ext cx="10241280" cy="2743200"/>
          </a:xfrm>
          <a:prstGeom prst="rect">
            <a:avLst/>
          </a:prstGeom>
          <a:noFill/>
        </p:spPr>
        <p:txBody>
          <a:bodyPr wrap="square" anchor="t">
            <a:spAutoFit/>
          </a:bodyPr>
          <a:lstStyle/>
          <a:p>
            <a:pPr algn="l">
              <a:spcAft>
                <a:spcPts val="400"/>
              </a:spcAft>
            </a:pPr>
            <a:r>
              <a:rPr sz="2000" b="0">
                <a:solidFill>
                  <a:srgbClr val="161B26"/>
                </a:solidFill>
                <a:latin typeface="Arial"/>
              </a:rPr>
              <a:t>Of all the things I've done, the most vital is coordinating the talents of those who work for us and pointing them toward a certain goal.</a:t>
            </a:r>
          </a:p>
        </p:txBody>
      </p:sp>
      <p:sp>
        <p:nvSpPr>
          <p:cNvPr id="7" name="Rectangle 6"/>
          <p:cNvSpPr/>
          <p:nvPr/>
        </p:nvSpPr>
        <p:spPr>
          <a:xfrm>
            <a:off x="1051560" y="5257800"/>
            <a:ext cx="1463040" cy="45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440680"/>
            <a:ext cx="10058400" cy="731520"/>
          </a:xfrm>
          <a:prstGeom prst="rect">
            <a:avLst/>
          </a:prstGeom>
          <a:noFill/>
        </p:spPr>
        <p:txBody>
          <a:bodyPr wrap="square" anchor="t">
            <a:spAutoFit/>
          </a:bodyPr>
          <a:lstStyle/>
          <a:p>
            <a:pPr algn="l">
              <a:spcAft>
                <a:spcPts val="400"/>
              </a:spcAft>
            </a:pPr>
            <a:r>
              <a:rPr sz="1400" b="0">
                <a:solidFill>
                  <a:srgbClr val="5B6372"/>
                </a:solidFill>
                <a:latin typeface="Arial"/>
              </a:rPr>
              <a:t>Walt Disney</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HOW TEAMS DEVELOP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Tuckman's Ladder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FORMING — members come together, still independent and individual</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STORMING — conflict arises as personalities and working styles meet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NORMING — the team learns each other's roles and finds a rhythm</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PERFORMING — high trust, the team relies on each other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ADJOURNING — the project finishes and the team moves 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BUILDING THE TEAM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Team Building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Cohesion drives performance</a:t>
            </a:r>
          </a:p>
          <a:p>
            <a:pPr algn="l">
              <a:spcAft>
                <a:spcPts val="300"/>
              </a:spcAft>
            </a:pPr>
            <a:r>
              <a:rPr sz="1200" b="0">
                <a:solidFill>
                  <a:srgbClr val="5B6372"/>
                </a:solidFill>
                <a:latin typeface="Arial"/>
              </a:rPr>
              <a:t>Cohesion and solidarity help teams perform better.</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Leadership facilitates it</a:t>
            </a:r>
          </a:p>
          <a:p>
            <a:pPr algn="l">
              <a:spcAft>
                <a:spcPts val="300"/>
              </a:spcAft>
            </a:pPr>
            <a:r>
              <a:rPr sz="1200" b="0">
                <a:solidFill>
                  <a:srgbClr val="5B6372"/>
                </a:solidFill>
                <a:latin typeface="Arial"/>
              </a:rPr>
              <a:t>Good leadership helps bonding between team members.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Builds trust and empathy</a:t>
            </a:r>
          </a:p>
          <a:p>
            <a:pPr algn="l">
              <a:spcAft>
                <a:spcPts val="300"/>
              </a:spcAft>
            </a:pPr>
            <a:r>
              <a:rPr sz="1200" b="0">
                <a:solidFill>
                  <a:srgbClr val="5B6372"/>
                </a:solidFill>
                <a:latin typeface="Arial"/>
              </a:rPr>
              <a:t>Activities build unity, trust and focus on the team over the individual.</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Formal or informal</a:t>
            </a:r>
          </a:p>
          <a:p>
            <a:pPr algn="l">
              <a:spcAft>
                <a:spcPts val="300"/>
              </a:spcAft>
            </a:pPr>
            <a:r>
              <a:rPr sz="1200" b="0">
                <a:solidFill>
                  <a:srgbClr val="5B6372"/>
                </a:solidFill>
                <a:latin typeface="Arial"/>
              </a:rPr>
              <a:t>Brief or extended, facilitated by you or by a professional.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MOTIVATES YOUR TEAM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Motivational Theories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Maslow's Hierarchy of Needs</a:t>
            </a:r>
          </a:p>
          <a:p>
            <a:pPr algn="l">
              <a:spcAft>
                <a:spcPts val="300"/>
              </a:spcAft>
            </a:pPr>
            <a:r>
              <a:rPr sz="1100" b="0">
                <a:solidFill>
                  <a:srgbClr val="5B6372"/>
                </a:solidFill>
                <a:latin typeface="Arial"/>
              </a:rPr>
              <a:t>Physiological, safety, belonging, esteem, self-actualisation — lower needs first.</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Herzberg's Motivation-Hygiene</a:t>
            </a:r>
          </a:p>
          <a:p>
            <a:pPr algn="l">
              <a:spcAft>
                <a:spcPts val="300"/>
              </a:spcAft>
            </a:pPr>
            <a:r>
              <a:rPr sz="1100" b="0">
                <a:solidFill>
                  <a:srgbClr val="5B6372"/>
                </a:solidFill>
                <a:latin typeface="Arial"/>
              </a:rPr>
              <a:t>Hygiene factors prevent dissatisfaction; motivators create satisfaction.</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87952"/>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McGregor's Theory X and Y</a:t>
            </a:r>
          </a:p>
          <a:p>
            <a:pPr algn="l">
              <a:spcAft>
                <a:spcPts val="300"/>
              </a:spcAft>
            </a:pPr>
            <a:r>
              <a:rPr sz="1100" b="0">
                <a:solidFill>
                  <a:srgbClr val="5B6372"/>
                </a:solidFill>
                <a:latin typeface="Arial"/>
              </a:rPr>
              <a:t>X: people avoid work and need direction. Y: people take pride in work and need trust.</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87952"/>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McClelland's Achievement Motivation</a:t>
            </a:r>
          </a:p>
          <a:p>
            <a:pPr algn="l">
              <a:spcAft>
                <a:spcPts val="300"/>
              </a:spcAft>
            </a:pPr>
            <a:r>
              <a:rPr sz="1100" b="0">
                <a:solidFill>
                  <a:srgbClr val="5B6372"/>
                </a:solidFill>
                <a:latin typeface="Arial"/>
              </a:rPr>
              <a:t>Needs for achievement, affiliation or power — one becomes dominant.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CONFLICT IS NORMAL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Conflict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Everyone's responsibility</a:t>
            </a:r>
          </a:p>
          <a:p>
            <a:pPr algn="l">
              <a:spcAft>
                <a:spcPts val="300"/>
              </a:spcAft>
            </a:pPr>
            <a:r>
              <a:rPr sz="1100" b="0">
                <a:solidFill>
                  <a:srgbClr val="5B6372"/>
                </a:solidFill>
                <a:latin typeface="Arial"/>
              </a:rPr>
              <a:t>All team members and stakeholders are responsible for managing conflict.</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The PM influences it</a:t>
            </a:r>
          </a:p>
          <a:p>
            <a:pPr algn="l">
              <a:spcAft>
                <a:spcPts val="300"/>
              </a:spcAft>
            </a:pPr>
            <a:r>
              <a:rPr sz="1100" b="0">
                <a:solidFill>
                  <a:srgbClr val="5B6372"/>
                </a:solidFill>
                <a:latin typeface="Arial"/>
              </a:rPr>
              <a:t>Through interpersonal skills and servant leadership.</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87952"/>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The team is empowered</a:t>
            </a:r>
          </a:p>
          <a:p>
            <a:pPr algn="l">
              <a:spcAft>
                <a:spcPts val="300"/>
              </a:spcAft>
            </a:pPr>
            <a:r>
              <a:rPr sz="1100" b="0">
                <a:solidFill>
                  <a:srgbClr val="5B6372"/>
                </a:solidFill>
                <a:latin typeface="Arial"/>
              </a:rPr>
              <a:t>To resolve conflicts themselves; the lead facilitates resolution.</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87952"/>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Conflict is not all bad</a:t>
            </a:r>
          </a:p>
          <a:p>
            <a:pPr algn="l">
              <a:spcAft>
                <a:spcPts val="300"/>
              </a:spcAft>
            </a:pPr>
            <a:r>
              <a:rPr sz="1100" b="0">
                <a:solidFill>
                  <a:srgbClr val="5B6372"/>
                </a:solidFill>
                <a:latin typeface="Arial"/>
              </a:rPr>
              <a:t>Disruption and innovation are connected — encourage exchange and disagreement, prevent escalation.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WHERE IT COMES FROM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Causes of Conflict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Competition for scarce resources</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Differences in objectives, values and perceptions</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Disagreements about roles and work activities</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Communication breakdowns</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Projects are unique — the team has not worked together before</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Ambiguous accountability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CHOOSING YOUR APPROACH</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Five Conflict Management Approaches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2586763"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828800"/>
            <a:ext cx="2367307" cy="475488"/>
          </a:xfrm>
          <a:prstGeom prst="rect">
            <a:avLst/>
          </a:prstGeom>
          <a:noFill/>
        </p:spPr>
        <p:txBody>
          <a:bodyPr wrap="square" anchor="ctr">
            <a:spAutoFit/>
          </a:bodyPr>
          <a:lstStyle/>
          <a:p>
            <a:pPr algn="l">
              <a:spcAft>
                <a:spcPts val="400"/>
              </a:spcAft>
            </a:pPr>
            <a:r>
              <a:rPr sz="1200" b="1">
                <a:solidFill>
                  <a:srgbClr val="FFFFFF"/>
                </a:solidFill>
                <a:latin typeface="Arial"/>
              </a:rPr>
              <a:t>Approach</a:t>
            </a:r>
          </a:p>
        </p:txBody>
      </p:sp>
      <p:sp>
        <p:nvSpPr>
          <p:cNvPr id="9" name="Rectangle 8"/>
          <p:cNvSpPr/>
          <p:nvPr/>
        </p:nvSpPr>
        <p:spPr>
          <a:xfrm>
            <a:off x="3364003" y="1828800"/>
            <a:ext cx="4023854"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73731" y="1828800"/>
            <a:ext cx="3804398" cy="475488"/>
          </a:xfrm>
          <a:prstGeom prst="rect">
            <a:avLst/>
          </a:prstGeom>
          <a:noFill/>
        </p:spPr>
        <p:txBody>
          <a:bodyPr wrap="square" anchor="ctr">
            <a:spAutoFit/>
          </a:bodyPr>
          <a:lstStyle/>
          <a:p>
            <a:pPr algn="l">
              <a:spcAft>
                <a:spcPts val="400"/>
              </a:spcAft>
            </a:pPr>
            <a:r>
              <a:rPr sz="1200" b="1">
                <a:solidFill>
                  <a:srgbClr val="FFFFFF"/>
                </a:solidFill>
                <a:latin typeface="Arial"/>
              </a:rPr>
              <a:t>What it means</a:t>
            </a:r>
          </a:p>
        </p:txBody>
      </p:sp>
      <p:sp>
        <p:nvSpPr>
          <p:cNvPr id="11" name="Rectangle 10"/>
          <p:cNvSpPr/>
          <p:nvPr/>
        </p:nvSpPr>
        <p:spPr>
          <a:xfrm>
            <a:off x="7387857" y="1828800"/>
            <a:ext cx="4023854"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7585" y="1828800"/>
            <a:ext cx="3804398" cy="475488"/>
          </a:xfrm>
          <a:prstGeom prst="rect">
            <a:avLst/>
          </a:prstGeom>
          <a:noFill/>
        </p:spPr>
        <p:txBody>
          <a:bodyPr wrap="square" anchor="ctr">
            <a:spAutoFit/>
          </a:bodyPr>
          <a:lstStyle/>
          <a:p>
            <a:pPr algn="l">
              <a:spcAft>
                <a:spcPts val="400"/>
              </a:spcAft>
            </a:pPr>
            <a:r>
              <a:rPr sz="1200" b="1">
                <a:solidFill>
                  <a:srgbClr val="FFFFFF"/>
                </a:solidFill>
                <a:latin typeface="Arial"/>
              </a:rPr>
              <a:t>When to use it</a:t>
            </a:r>
          </a:p>
        </p:txBody>
      </p:sp>
      <p:sp>
        <p:nvSpPr>
          <p:cNvPr id="13" name="Rectangle 12"/>
          <p:cNvSpPr/>
          <p:nvPr/>
        </p:nvSpPr>
        <p:spPr>
          <a:xfrm>
            <a:off x="777240" y="2304288"/>
            <a:ext cx="2586763" cy="74615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304288"/>
            <a:ext cx="2367307" cy="746150"/>
          </a:xfrm>
          <a:prstGeom prst="rect">
            <a:avLst/>
          </a:prstGeom>
          <a:noFill/>
        </p:spPr>
        <p:txBody>
          <a:bodyPr wrap="square" anchor="ctr">
            <a:spAutoFit/>
          </a:bodyPr>
          <a:lstStyle/>
          <a:p>
            <a:pPr algn="l">
              <a:spcAft>
                <a:spcPts val="400"/>
              </a:spcAft>
            </a:pPr>
            <a:r>
              <a:rPr sz="1200" b="1">
                <a:solidFill>
                  <a:srgbClr val="161B26"/>
                </a:solidFill>
                <a:latin typeface="Arial"/>
              </a:rPr>
              <a:t>Collaborate / Problem Solve</a:t>
            </a:r>
          </a:p>
        </p:txBody>
      </p:sp>
      <p:sp>
        <p:nvSpPr>
          <p:cNvPr id="15" name="Rectangle 14"/>
          <p:cNvSpPr/>
          <p:nvPr/>
        </p:nvSpPr>
        <p:spPr>
          <a:xfrm>
            <a:off x="3364003" y="2304288"/>
            <a:ext cx="4023854" cy="74615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3731" y="2304288"/>
            <a:ext cx="3804398" cy="746150"/>
          </a:xfrm>
          <a:prstGeom prst="rect">
            <a:avLst/>
          </a:prstGeom>
          <a:noFill/>
        </p:spPr>
        <p:txBody>
          <a:bodyPr wrap="square" anchor="ctr">
            <a:spAutoFit/>
          </a:bodyPr>
          <a:lstStyle/>
          <a:p>
            <a:pPr algn="l">
              <a:spcAft>
                <a:spcPts val="400"/>
              </a:spcAft>
            </a:pPr>
            <a:r>
              <a:rPr sz="1100" b="0">
                <a:solidFill>
                  <a:srgbClr val="5B6372"/>
                </a:solidFill>
                <a:latin typeface="Arial"/>
              </a:rPr>
              <a:t>Win/Win — incorporate multiple viewpoints, seek consensus</a:t>
            </a:r>
          </a:p>
        </p:txBody>
      </p:sp>
      <p:sp>
        <p:nvSpPr>
          <p:cNvPr id="17" name="Rectangle 16"/>
          <p:cNvSpPr/>
          <p:nvPr/>
        </p:nvSpPr>
        <p:spPr>
          <a:xfrm>
            <a:off x="7387857" y="2304288"/>
            <a:ext cx="4023854" cy="74615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7585" y="2304288"/>
            <a:ext cx="3804398" cy="746150"/>
          </a:xfrm>
          <a:prstGeom prst="rect">
            <a:avLst/>
          </a:prstGeom>
          <a:noFill/>
        </p:spPr>
        <p:txBody>
          <a:bodyPr wrap="square" anchor="ctr">
            <a:spAutoFit/>
          </a:bodyPr>
          <a:lstStyle/>
          <a:p>
            <a:pPr algn="l">
              <a:spcAft>
                <a:spcPts val="400"/>
              </a:spcAft>
            </a:pPr>
            <a:r>
              <a:rPr sz="1100" b="0">
                <a:solidFill>
                  <a:srgbClr val="5B6372"/>
                </a:solidFill>
                <a:latin typeface="Arial"/>
              </a:rPr>
              <a:t>When you need commitment and have time; the ideal default</a:t>
            </a:r>
          </a:p>
        </p:txBody>
      </p:sp>
      <p:sp>
        <p:nvSpPr>
          <p:cNvPr id="19" name="Rectangle 18"/>
          <p:cNvSpPr/>
          <p:nvPr/>
        </p:nvSpPr>
        <p:spPr>
          <a:xfrm>
            <a:off x="777240" y="3050438"/>
            <a:ext cx="2586763" cy="7461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3050438"/>
            <a:ext cx="2367307" cy="746150"/>
          </a:xfrm>
          <a:prstGeom prst="rect">
            <a:avLst/>
          </a:prstGeom>
          <a:noFill/>
        </p:spPr>
        <p:txBody>
          <a:bodyPr wrap="square" anchor="ctr">
            <a:spAutoFit/>
          </a:bodyPr>
          <a:lstStyle/>
          <a:p>
            <a:pPr algn="l">
              <a:spcAft>
                <a:spcPts val="400"/>
              </a:spcAft>
            </a:pPr>
            <a:r>
              <a:rPr sz="1200" b="1">
                <a:solidFill>
                  <a:srgbClr val="161B26"/>
                </a:solidFill>
                <a:latin typeface="Arial"/>
              </a:rPr>
              <a:t>Compromise / Reconcile</a:t>
            </a:r>
          </a:p>
        </p:txBody>
      </p:sp>
      <p:sp>
        <p:nvSpPr>
          <p:cNvPr id="21" name="Rectangle 20"/>
          <p:cNvSpPr/>
          <p:nvPr/>
        </p:nvSpPr>
        <p:spPr>
          <a:xfrm>
            <a:off x="3364003" y="3050438"/>
            <a:ext cx="4023854" cy="7461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73731" y="3050438"/>
            <a:ext cx="3804398" cy="746150"/>
          </a:xfrm>
          <a:prstGeom prst="rect">
            <a:avLst/>
          </a:prstGeom>
          <a:noFill/>
        </p:spPr>
        <p:txBody>
          <a:bodyPr wrap="square" anchor="ctr">
            <a:spAutoFit/>
          </a:bodyPr>
          <a:lstStyle/>
          <a:p>
            <a:pPr algn="l">
              <a:spcAft>
                <a:spcPts val="400"/>
              </a:spcAft>
            </a:pPr>
            <a:r>
              <a:rPr sz="1100" b="0">
                <a:solidFill>
                  <a:srgbClr val="5B6372"/>
                </a:solidFill>
                <a:latin typeface="Arial"/>
              </a:rPr>
              <a:t>Lose/Lose — each side gives something up</a:t>
            </a:r>
          </a:p>
        </p:txBody>
      </p:sp>
      <p:sp>
        <p:nvSpPr>
          <p:cNvPr id="23" name="Rectangle 22"/>
          <p:cNvSpPr/>
          <p:nvPr/>
        </p:nvSpPr>
        <p:spPr>
          <a:xfrm>
            <a:off x="7387857" y="3050438"/>
            <a:ext cx="4023854" cy="7461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7585" y="3050438"/>
            <a:ext cx="3804398" cy="746150"/>
          </a:xfrm>
          <a:prstGeom prst="rect">
            <a:avLst/>
          </a:prstGeom>
          <a:noFill/>
        </p:spPr>
        <p:txBody>
          <a:bodyPr wrap="square" anchor="ctr">
            <a:spAutoFit/>
          </a:bodyPr>
          <a:lstStyle/>
          <a:p>
            <a:pPr algn="l">
              <a:spcAft>
                <a:spcPts val="400"/>
              </a:spcAft>
            </a:pPr>
            <a:r>
              <a:rPr sz="1100" b="0">
                <a:solidFill>
                  <a:srgbClr val="5B6372"/>
                </a:solidFill>
                <a:latin typeface="Arial"/>
              </a:rPr>
              <a:t>When both parties have equal power and time is short</a:t>
            </a:r>
          </a:p>
        </p:txBody>
      </p:sp>
      <p:sp>
        <p:nvSpPr>
          <p:cNvPr id="25" name="Rectangle 24"/>
          <p:cNvSpPr/>
          <p:nvPr/>
        </p:nvSpPr>
        <p:spPr>
          <a:xfrm>
            <a:off x="777240" y="3796588"/>
            <a:ext cx="2586763" cy="74615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796588"/>
            <a:ext cx="2367307" cy="746150"/>
          </a:xfrm>
          <a:prstGeom prst="rect">
            <a:avLst/>
          </a:prstGeom>
          <a:noFill/>
        </p:spPr>
        <p:txBody>
          <a:bodyPr wrap="square" anchor="ctr">
            <a:spAutoFit/>
          </a:bodyPr>
          <a:lstStyle/>
          <a:p>
            <a:pPr algn="l">
              <a:spcAft>
                <a:spcPts val="400"/>
              </a:spcAft>
            </a:pPr>
            <a:r>
              <a:rPr sz="1200" b="1">
                <a:solidFill>
                  <a:srgbClr val="161B26"/>
                </a:solidFill>
                <a:latin typeface="Arial"/>
              </a:rPr>
              <a:t>Smooth / Accommodate</a:t>
            </a:r>
          </a:p>
        </p:txBody>
      </p:sp>
      <p:sp>
        <p:nvSpPr>
          <p:cNvPr id="27" name="Rectangle 26"/>
          <p:cNvSpPr/>
          <p:nvPr/>
        </p:nvSpPr>
        <p:spPr>
          <a:xfrm>
            <a:off x="3364003" y="3796588"/>
            <a:ext cx="4023854" cy="74615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73731" y="3796588"/>
            <a:ext cx="3804398" cy="746150"/>
          </a:xfrm>
          <a:prstGeom prst="rect">
            <a:avLst/>
          </a:prstGeom>
          <a:noFill/>
        </p:spPr>
        <p:txBody>
          <a:bodyPr wrap="square" anchor="ctr">
            <a:spAutoFit/>
          </a:bodyPr>
          <a:lstStyle/>
          <a:p>
            <a:pPr algn="l">
              <a:spcAft>
                <a:spcPts val="400"/>
              </a:spcAft>
            </a:pPr>
            <a:r>
              <a:rPr sz="1100" b="0">
                <a:solidFill>
                  <a:srgbClr val="5B6372"/>
                </a:solidFill>
                <a:latin typeface="Arial"/>
              </a:rPr>
              <a:t>Lose/Win — emphasise agreement, concede your position</a:t>
            </a:r>
          </a:p>
        </p:txBody>
      </p:sp>
      <p:sp>
        <p:nvSpPr>
          <p:cNvPr id="29" name="Rectangle 28"/>
          <p:cNvSpPr/>
          <p:nvPr/>
        </p:nvSpPr>
        <p:spPr>
          <a:xfrm>
            <a:off x="7387857" y="3796588"/>
            <a:ext cx="4023854" cy="74615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7585" y="3796588"/>
            <a:ext cx="3804398" cy="746150"/>
          </a:xfrm>
          <a:prstGeom prst="rect">
            <a:avLst/>
          </a:prstGeom>
          <a:noFill/>
        </p:spPr>
        <p:txBody>
          <a:bodyPr wrap="square" anchor="ctr">
            <a:spAutoFit/>
          </a:bodyPr>
          <a:lstStyle/>
          <a:p>
            <a:pPr algn="l">
              <a:spcAft>
                <a:spcPts val="400"/>
              </a:spcAft>
            </a:pPr>
            <a:r>
              <a:rPr sz="1100" b="0">
                <a:solidFill>
                  <a:srgbClr val="5B6372"/>
                </a:solidFill>
                <a:latin typeface="Arial"/>
              </a:rPr>
              <a:t>When the relationship matters more than the issue</a:t>
            </a:r>
          </a:p>
        </p:txBody>
      </p:sp>
      <p:sp>
        <p:nvSpPr>
          <p:cNvPr id="31" name="Rectangle 30"/>
          <p:cNvSpPr/>
          <p:nvPr/>
        </p:nvSpPr>
        <p:spPr>
          <a:xfrm>
            <a:off x="777240" y="4542738"/>
            <a:ext cx="2586763" cy="7461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4542738"/>
            <a:ext cx="2367307" cy="746150"/>
          </a:xfrm>
          <a:prstGeom prst="rect">
            <a:avLst/>
          </a:prstGeom>
          <a:noFill/>
        </p:spPr>
        <p:txBody>
          <a:bodyPr wrap="square" anchor="ctr">
            <a:spAutoFit/>
          </a:bodyPr>
          <a:lstStyle/>
          <a:p>
            <a:pPr algn="l">
              <a:spcAft>
                <a:spcPts val="400"/>
              </a:spcAft>
            </a:pPr>
            <a:r>
              <a:rPr sz="1200" b="1">
                <a:solidFill>
                  <a:srgbClr val="161B26"/>
                </a:solidFill>
                <a:latin typeface="Arial"/>
              </a:rPr>
              <a:t>Force / Direct</a:t>
            </a:r>
          </a:p>
        </p:txBody>
      </p:sp>
      <p:sp>
        <p:nvSpPr>
          <p:cNvPr id="33" name="Rectangle 32"/>
          <p:cNvSpPr/>
          <p:nvPr/>
        </p:nvSpPr>
        <p:spPr>
          <a:xfrm>
            <a:off x="3364003" y="4542738"/>
            <a:ext cx="4023854" cy="7461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73731" y="4542738"/>
            <a:ext cx="3804398" cy="746150"/>
          </a:xfrm>
          <a:prstGeom prst="rect">
            <a:avLst/>
          </a:prstGeom>
          <a:noFill/>
        </p:spPr>
        <p:txBody>
          <a:bodyPr wrap="square" anchor="ctr">
            <a:spAutoFit/>
          </a:bodyPr>
          <a:lstStyle/>
          <a:p>
            <a:pPr algn="l">
              <a:spcAft>
                <a:spcPts val="400"/>
              </a:spcAft>
            </a:pPr>
            <a:r>
              <a:rPr sz="1100" b="0">
                <a:solidFill>
                  <a:srgbClr val="5B6372"/>
                </a:solidFill>
                <a:latin typeface="Arial"/>
              </a:rPr>
              <a:t>Win/Lose — pursue your view at others' expense</a:t>
            </a:r>
          </a:p>
        </p:txBody>
      </p:sp>
      <p:sp>
        <p:nvSpPr>
          <p:cNvPr id="35" name="Rectangle 34"/>
          <p:cNvSpPr/>
          <p:nvPr/>
        </p:nvSpPr>
        <p:spPr>
          <a:xfrm>
            <a:off x="7387857" y="4542738"/>
            <a:ext cx="4023854" cy="7461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97585" y="4542738"/>
            <a:ext cx="3804398" cy="746150"/>
          </a:xfrm>
          <a:prstGeom prst="rect">
            <a:avLst/>
          </a:prstGeom>
          <a:noFill/>
        </p:spPr>
        <p:txBody>
          <a:bodyPr wrap="square" anchor="ctr">
            <a:spAutoFit/>
          </a:bodyPr>
          <a:lstStyle/>
          <a:p>
            <a:pPr algn="l">
              <a:spcAft>
                <a:spcPts val="400"/>
              </a:spcAft>
            </a:pPr>
            <a:r>
              <a:rPr sz="1100" b="0">
                <a:solidFill>
                  <a:srgbClr val="5B6372"/>
                </a:solidFill>
                <a:latin typeface="Arial"/>
              </a:rPr>
              <a:t>In an emergency, or on safety and deadline-critical decisions</a:t>
            </a:r>
          </a:p>
        </p:txBody>
      </p:sp>
      <p:sp>
        <p:nvSpPr>
          <p:cNvPr id="37" name="Rectangle 36"/>
          <p:cNvSpPr/>
          <p:nvPr/>
        </p:nvSpPr>
        <p:spPr>
          <a:xfrm>
            <a:off x="777240" y="5288888"/>
            <a:ext cx="2586763" cy="74615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968" y="5288888"/>
            <a:ext cx="2367307" cy="746150"/>
          </a:xfrm>
          <a:prstGeom prst="rect">
            <a:avLst/>
          </a:prstGeom>
          <a:noFill/>
        </p:spPr>
        <p:txBody>
          <a:bodyPr wrap="square" anchor="ctr">
            <a:spAutoFit/>
          </a:bodyPr>
          <a:lstStyle/>
          <a:p>
            <a:pPr algn="l">
              <a:spcAft>
                <a:spcPts val="400"/>
              </a:spcAft>
            </a:pPr>
            <a:r>
              <a:rPr sz="1200" b="1">
                <a:solidFill>
                  <a:srgbClr val="161B26"/>
                </a:solidFill>
                <a:latin typeface="Arial"/>
              </a:rPr>
              <a:t>Withdraw / Avoid</a:t>
            </a:r>
          </a:p>
        </p:txBody>
      </p:sp>
      <p:sp>
        <p:nvSpPr>
          <p:cNvPr id="39" name="Rectangle 38"/>
          <p:cNvSpPr/>
          <p:nvPr/>
        </p:nvSpPr>
        <p:spPr>
          <a:xfrm>
            <a:off x="3364003" y="5288888"/>
            <a:ext cx="4023854" cy="74615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473731" y="5288888"/>
            <a:ext cx="3804398" cy="746150"/>
          </a:xfrm>
          <a:prstGeom prst="rect">
            <a:avLst/>
          </a:prstGeom>
          <a:noFill/>
        </p:spPr>
        <p:txBody>
          <a:bodyPr wrap="square" anchor="ctr">
            <a:spAutoFit/>
          </a:bodyPr>
          <a:lstStyle/>
          <a:p>
            <a:pPr algn="l">
              <a:spcAft>
                <a:spcPts val="400"/>
              </a:spcAft>
            </a:pPr>
            <a:r>
              <a:rPr sz="1100" b="0">
                <a:solidFill>
                  <a:srgbClr val="5B6372"/>
                </a:solidFill>
                <a:latin typeface="Arial"/>
              </a:rPr>
              <a:t>Retreat and postpone the issue</a:t>
            </a:r>
          </a:p>
        </p:txBody>
      </p:sp>
      <p:sp>
        <p:nvSpPr>
          <p:cNvPr id="41" name="Rectangle 40"/>
          <p:cNvSpPr/>
          <p:nvPr/>
        </p:nvSpPr>
        <p:spPr>
          <a:xfrm>
            <a:off x="7387857" y="5288888"/>
            <a:ext cx="4023854" cy="74615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497585" y="5288888"/>
            <a:ext cx="3804398" cy="746150"/>
          </a:xfrm>
          <a:prstGeom prst="rect">
            <a:avLst/>
          </a:prstGeom>
          <a:noFill/>
        </p:spPr>
        <p:txBody>
          <a:bodyPr wrap="square" anchor="ctr">
            <a:spAutoFit/>
          </a:bodyPr>
          <a:lstStyle/>
          <a:p>
            <a:pPr algn="l">
              <a:spcAft>
                <a:spcPts val="400"/>
              </a:spcAft>
            </a:pPr>
            <a:r>
              <a:rPr sz="1100" b="0">
                <a:solidFill>
                  <a:srgbClr val="5B6372"/>
                </a:solidFill>
                <a:latin typeface="Arial"/>
              </a:rPr>
              <a:t>When the issue is trivial, or emotions need to cool first</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PM'S MOST USEFUL SKILL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Emotional Intelligence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Self-Awareness</a:t>
            </a:r>
          </a:p>
          <a:p>
            <a:pPr algn="l">
              <a:spcAft>
                <a:spcPts val="300"/>
              </a:spcAft>
            </a:pPr>
            <a:r>
              <a:rPr sz="1200" b="0">
                <a:solidFill>
                  <a:srgbClr val="5B6372"/>
                </a:solidFill>
                <a:latin typeface="Arial"/>
              </a:rPr>
              <a:t>Understanding how your actions affect others.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Self-Management</a:t>
            </a:r>
          </a:p>
          <a:p>
            <a:pPr algn="l">
              <a:spcAft>
                <a:spcPts val="300"/>
              </a:spcAft>
            </a:pPr>
            <a:r>
              <a:rPr sz="1200" b="0">
                <a:solidFill>
                  <a:srgbClr val="5B6372"/>
                </a:solidFill>
                <a:latin typeface="Arial"/>
              </a:rPr>
              <a:t>Thinking before you act.</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Social Awareness</a:t>
            </a:r>
          </a:p>
          <a:p>
            <a:pPr algn="l">
              <a:spcAft>
                <a:spcPts val="300"/>
              </a:spcAft>
            </a:pPr>
            <a:r>
              <a:rPr sz="1200" b="0">
                <a:solidFill>
                  <a:srgbClr val="5B6372"/>
                </a:solidFill>
                <a:latin typeface="Arial"/>
              </a:rPr>
              <a:t>Being empathetic to those around you.</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Social Skill</a:t>
            </a:r>
          </a:p>
          <a:p>
            <a:pPr algn="l">
              <a:spcAft>
                <a:spcPts val="300"/>
              </a:spcAft>
            </a:pPr>
            <a:r>
              <a:rPr sz="1200" b="0">
                <a:solidFill>
                  <a:srgbClr val="5B6372"/>
                </a:solidFill>
                <a:latin typeface="Arial"/>
              </a:rPr>
              <a:t>Establishing rapport and managing your own attitude.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ACTIVITY 16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Develop and Manage the Team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16</a:t>
            </a:r>
          </a:p>
        </p:txBody>
      </p:sp>
      <p:sp>
        <p:nvSpPr>
          <p:cNvPr id="9" name="TextBox 8"/>
          <p:cNvSpPr txBox="1"/>
          <p:nvPr/>
        </p:nvSpPr>
        <p:spPr>
          <a:xfrm>
            <a:off x="777240" y="2331720"/>
            <a:ext cx="10698480" cy="1554480"/>
          </a:xfrm>
          <a:prstGeom prst="rect">
            <a:avLst/>
          </a:prstGeom>
          <a:noFill/>
        </p:spPr>
        <p:txBody>
          <a:bodyPr wrap="square" anchor="t">
            <a:spAutoFit/>
          </a:bodyPr>
          <a:lstStyle/>
          <a:p>
            <a:pPr algn="l">
              <a:spcAft>
                <a:spcPts val="400"/>
              </a:spcAft>
            </a:pPr>
            <a:r>
              <a:rPr sz="1900" b="0">
                <a:solidFill>
                  <a:srgbClr val="161B26"/>
                </a:solidFill>
                <a:latin typeface="Arial"/>
              </a:rPr>
              <a:t>Delivery problems are usually people problems. You will use GenAI to prepare for a difficult conversation and to select a conflict management approach — while judging where AI advice on people is genuinely useful and where it is not.</a:t>
            </a:r>
          </a:p>
        </p:txBody>
      </p:sp>
      <p:sp>
        <p:nvSpPr>
          <p:cNvPr id="10" name="Rectangle 9"/>
          <p:cNvSpPr/>
          <p:nvPr/>
        </p:nvSpPr>
        <p:spPr>
          <a:xfrm>
            <a:off x="777240" y="3977639"/>
            <a:ext cx="10634472" cy="17830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60520"/>
            <a:ext cx="10058400" cy="365760"/>
          </a:xfrm>
          <a:prstGeom prst="rect">
            <a:avLst/>
          </a:prstGeom>
          <a:noFill/>
        </p:spPr>
        <p:txBody>
          <a:bodyPr wrap="square" anchor="t">
            <a:spAutoFit/>
          </a:bodyPr>
          <a:lstStyle/>
          <a:p>
            <a:pPr algn="l">
              <a:spcAft>
                <a:spcPts val="400"/>
              </a:spcAft>
            </a:pPr>
            <a:r>
              <a:rPr sz="1300" b="1">
                <a:solidFill>
                  <a:srgbClr val="127A3E"/>
                </a:solidFill>
                <a:latin typeface="Arial"/>
              </a:rPr>
              <a:t>You'll produce</a:t>
            </a:r>
          </a:p>
        </p:txBody>
      </p:sp>
      <p:sp>
        <p:nvSpPr>
          <p:cNvPr id="12" name="TextBox 11"/>
          <p:cNvSpPr txBox="1"/>
          <p:nvPr/>
        </p:nvSpPr>
        <p:spPr>
          <a:xfrm>
            <a:off x="1005840" y="4498848"/>
            <a:ext cx="10149840" cy="685800"/>
          </a:xfrm>
          <a:prstGeom prst="rect">
            <a:avLst/>
          </a:prstGeom>
          <a:noFill/>
        </p:spPr>
        <p:txBody>
          <a:bodyPr wrap="square" anchor="t">
            <a:spAutoFit/>
          </a:bodyPr>
          <a:lstStyle/>
          <a:p>
            <a:pPr algn="l">
              <a:spcAft>
                <a:spcPts val="400"/>
              </a:spcAft>
            </a:pPr>
            <a:r>
              <a:rPr sz="1700" b="1">
                <a:solidFill>
                  <a:srgbClr val="161B26"/>
                </a:solidFill>
                <a:latin typeface="Arial"/>
              </a:rPr>
              <a:t>A prepared difficult conversation and a team development plan mapped to Tuckman's stages.</a:t>
            </a:r>
          </a:p>
        </p:txBody>
      </p:sp>
      <p:sp>
        <p:nvSpPr>
          <p:cNvPr id="13" name="TextBox 12"/>
          <p:cNvSpPr txBox="1"/>
          <p:nvPr/>
        </p:nvSpPr>
        <p:spPr>
          <a:xfrm>
            <a:off x="1005840" y="5257800"/>
            <a:ext cx="10241280" cy="4572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GenAI tool · Claude · Scrum Agile Transformation Studio (alfredang.github.io/scrum)</a:t>
            </a:r>
          </a:p>
        </p:txBody>
      </p:sp>
      <p:sp>
        <p:nvSpPr>
          <p:cNvPr id="14" name="TextBox 13"/>
          <p:cNvSpPr txBox="1"/>
          <p:nvPr/>
        </p:nvSpPr>
        <p:spPr>
          <a:xfrm>
            <a:off x="777240" y="5897880"/>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Step-by-step instructions: see your Learner Guide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02 · ACTIVITY 16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Develop and Manage the Team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16</a:t>
            </a:r>
          </a:p>
        </p:txBody>
      </p:sp>
      <p:sp>
        <p:nvSpPr>
          <p:cNvPr id="9" name="TextBox 8"/>
          <p:cNvSpPr txBox="1"/>
          <p:nvPr/>
        </p:nvSpPr>
        <p:spPr>
          <a:xfrm>
            <a:off x="777240" y="2286000"/>
            <a:ext cx="10607040" cy="365760"/>
          </a:xfrm>
          <a:prstGeom prst="rect">
            <a:avLst/>
          </a:prstGeom>
          <a:noFill/>
        </p:spPr>
        <p:txBody>
          <a:bodyPr wrap="square" anchor="t">
            <a:spAutoFit/>
          </a:bodyPr>
          <a:lstStyle/>
          <a:p>
            <a:pPr algn="l">
              <a:spcAft>
                <a:spcPts val="400"/>
              </a:spcAft>
            </a:pPr>
            <a:r>
              <a:rPr sz="1200" b="1">
                <a:solidFill>
                  <a:srgbClr val="7C3AED"/>
                </a:solidFill>
                <a:latin typeface="Arial"/>
              </a:rPr>
              <a:t>PROMPT GenAI WITH</a:t>
            </a:r>
          </a:p>
        </p:txBody>
      </p:sp>
      <p:sp>
        <p:nvSpPr>
          <p:cNvPr id="10" name="Rectangle 9"/>
          <p:cNvSpPr/>
          <p:nvPr/>
        </p:nvSpPr>
        <p:spPr>
          <a:xfrm>
            <a:off x="777240" y="2651760"/>
            <a:ext cx="10634472" cy="19659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88920"/>
            <a:ext cx="10104120" cy="1691640"/>
          </a:xfrm>
          <a:prstGeom prst="rect">
            <a:avLst/>
          </a:prstGeom>
          <a:noFill/>
        </p:spPr>
        <p:txBody>
          <a:bodyPr wrap="square" anchor="ctr">
            <a:spAutoFit/>
          </a:bodyPr>
          <a:lstStyle/>
          <a:p>
            <a:pPr algn="l">
              <a:spcAft>
                <a:spcPts val="400"/>
              </a:spcAft>
            </a:pPr>
            <a:r>
              <a:rPr sz="1600" b="0">
                <a:solidFill>
                  <a:srgbClr val="D6E4FF"/>
                </a:solidFill>
                <a:latin typeface="Arial"/>
              </a:rPr>
              <a:t>My project team is in the [stage] stage of Tuckman's model and showing these behaviours [paste]. Recommend leadership actions that can move the team forward, and explain which observations support each action.</a:t>
            </a:r>
          </a:p>
        </p:txBody>
      </p:sp>
      <p:sp>
        <p:nvSpPr>
          <p:cNvPr id="12" name="Rectangle 11"/>
          <p:cNvSpPr/>
          <p:nvPr/>
        </p:nvSpPr>
        <p:spPr>
          <a:xfrm>
            <a:off x="777240" y="4800600"/>
            <a:ext cx="10634472" cy="1051560"/>
          </a:xfrm>
          <a:prstGeom prst="rect">
            <a:avLst/>
          </a:prstGeom>
          <a:solidFill>
            <a:srgbClr val="FFF4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4919472"/>
            <a:ext cx="10149840" cy="320040"/>
          </a:xfrm>
          <a:prstGeom prst="rect">
            <a:avLst/>
          </a:prstGeom>
          <a:noFill/>
        </p:spPr>
        <p:txBody>
          <a:bodyPr wrap="square" anchor="t">
            <a:spAutoFit/>
          </a:bodyPr>
          <a:lstStyle/>
          <a:p>
            <a:pPr algn="l">
              <a:spcAft>
                <a:spcPts val="400"/>
              </a:spcAft>
            </a:pPr>
            <a:r>
              <a:rPr sz="1200" b="1">
                <a:solidFill>
                  <a:srgbClr val="F59E0B"/>
                </a:solidFill>
                <a:latin typeface="Arial"/>
              </a:rPr>
              <a:t>⚠  THEN CHECK IT</a:t>
            </a:r>
          </a:p>
        </p:txBody>
      </p:sp>
      <p:sp>
        <p:nvSpPr>
          <p:cNvPr id="14" name="TextBox 13"/>
          <p:cNvSpPr txBox="1"/>
          <p:nvPr/>
        </p:nvSpPr>
        <p:spPr>
          <a:xfrm>
            <a:off x="1051560" y="5230368"/>
            <a:ext cx="10149840" cy="548640"/>
          </a:xfrm>
          <a:prstGeom prst="rect">
            <a:avLst/>
          </a:prstGeom>
          <a:noFill/>
        </p:spPr>
        <p:txBody>
          <a:bodyPr wrap="square" anchor="t">
            <a:spAutoFit/>
          </a:bodyPr>
          <a:lstStyle/>
          <a:p>
            <a:pPr algn="l">
              <a:spcAft>
                <a:spcPts val="400"/>
              </a:spcAft>
            </a:pPr>
            <a:r>
              <a:rPr sz="1400" b="0">
                <a:solidFill>
                  <a:srgbClr val="161B26"/>
                </a:solidFill>
                <a:latin typeface="Arial"/>
              </a:rPr>
              <a:t>GenAI gives you a fast first draft. Check every figure, source and assumption before you use it.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16 · CHECK YOUR 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Develop and Manage the Team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34472"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9" name="TextBox 8"/>
          <p:cNvSpPr txBox="1"/>
          <p:nvPr/>
        </p:nvSpPr>
        <p:spPr>
          <a:xfrm>
            <a:off x="1097280" y="3017520"/>
            <a:ext cx="9966960" cy="1280160"/>
          </a:xfrm>
          <a:prstGeom prst="rect">
            <a:avLst/>
          </a:prstGeom>
          <a:noFill/>
        </p:spPr>
        <p:txBody>
          <a:bodyPr wrap="square" anchor="t">
            <a:spAutoFit/>
          </a:bodyPr>
          <a:lstStyle/>
          <a:p>
            <a:pPr algn="l">
              <a:spcAft>
                <a:spcPts val="400"/>
              </a:spcAft>
            </a:pPr>
            <a:r>
              <a:rPr sz="1700" b="0">
                <a:solidFill>
                  <a:srgbClr val="161B26"/>
                </a:solidFill>
                <a:latin typeface="Arial"/>
              </a:rPr>
              <a:t>You have a conversation plan you would actually use, a named conflict approach with justification, an exported retrospective file, and a clear line on what not to delegate to AI.</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9509760" cy="548640"/>
          </a:xfrm>
          <a:prstGeom prst="rect">
            <a:avLst/>
          </a:prstGeom>
          <a:noFill/>
        </p:spPr>
        <p:txBody>
          <a:bodyPr wrap="square" anchor="t">
            <a:spAutoFit/>
          </a:bodyPr>
          <a:lstStyle/>
          <a:p>
            <a:pPr algn="l">
              <a:spcAft>
                <a:spcPts val="400"/>
              </a:spcAft>
            </a:pPr>
            <a:r>
              <a:rPr sz="1800" b="1">
                <a:solidFill>
                  <a:srgbClr val="1F6FEB"/>
                </a:solidFill>
                <a:latin typeface="Arial"/>
              </a:rPr>
              <a:t>COMMUNICATIONS</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3800" b="1">
                <a:solidFill>
                  <a:srgbClr val="161B26"/>
                </a:solidFill>
                <a:latin typeface="Arial"/>
              </a:rPr>
              <a:t>Plan and Manage Communications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THE COMMUNICATION CHANNEL FORMULA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600" b="1">
                <a:solidFill>
                  <a:srgbClr val="161B26"/>
                </a:solidFill>
                <a:latin typeface="Arial"/>
              </a:rPr>
              <a:t>N × (N – 1) ÷ 2</a:t>
            </a:r>
          </a:p>
        </p:txBody>
      </p:sp>
      <p:sp>
        <p:nvSpPr>
          <p:cNvPr id="6" name="TextBox 5"/>
          <p:cNvSpPr txBox="1"/>
          <p:nvPr/>
        </p:nvSpPr>
        <p:spPr>
          <a:xfrm>
            <a:off x="1024128" y="457200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A team of 10 people has 45 communication channels. A team of 15 has 105. Communication complexity grows faster than the team.</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THE PLAN SPECIFIES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Communications Management Plan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Who</a:t>
            </a:r>
          </a:p>
          <a:p>
            <a:pPr algn="l">
              <a:spcAft>
                <a:spcPts val="300"/>
              </a:spcAft>
            </a:pPr>
            <a:r>
              <a:rPr sz="1000" b="0">
                <a:solidFill>
                  <a:srgbClr val="5B6372"/>
                </a:solidFill>
                <a:latin typeface="Arial"/>
              </a:rPr>
              <a:t>Senders, receivers, and who authorises confidential information.</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What</a:t>
            </a:r>
          </a:p>
          <a:p>
            <a:pPr algn="l">
              <a:spcAft>
                <a:spcPts val="300"/>
              </a:spcAft>
            </a:pPr>
            <a:r>
              <a:rPr sz="1000" b="0">
                <a:solidFill>
                  <a:srgbClr val="5B6372"/>
                </a:solidFill>
                <a:latin typeface="Arial"/>
              </a:rPr>
              <a:t>The type of information and the reason for communicating it.</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22904"/>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How</a:t>
            </a:r>
          </a:p>
          <a:p>
            <a:pPr algn="l">
              <a:spcAft>
                <a:spcPts val="300"/>
              </a:spcAft>
            </a:pPr>
            <a:r>
              <a:rPr sz="1000" b="0">
                <a:solidFill>
                  <a:srgbClr val="5B6372"/>
                </a:solidFill>
                <a:latin typeface="Arial"/>
              </a:rPr>
              <a:t>Language, format, content and level of detail.</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22904"/>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When</a:t>
            </a:r>
          </a:p>
          <a:p>
            <a:pPr algn="l">
              <a:spcAft>
                <a:spcPts val="300"/>
              </a:spcAft>
            </a:pPr>
            <a:r>
              <a:rPr sz="1000" b="0">
                <a:solidFill>
                  <a:srgbClr val="5B6372"/>
                </a:solidFill>
                <a:latin typeface="Arial"/>
              </a:rPr>
              <a:t>Time frame and frequency; whether acknowledgment is required.</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53000"/>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Escalation</a:t>
            </a:r>
          </a:p>
          <a:p>
            <a:pPr algn="l">
              <a:spcAft>
                <a:spcPts val="300"/>
              </a:spcAft>
            </a:pPr>
            <a:r>
              <a:rPr sz="1000" b="0">
                <a:solidFill>
                  <a:srgbClr val="5B6372"/>
                </a:solidFill>
                <a:latin typeface="Arial"/>
              </a:rPr>
              <a:t>The process and guidance for escalating issues.</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53000"/>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Resources</a:t>
            </a:r>
          </a:p>
          <a:p>
            <a:pPr algn="l">
              <a:spcAft>
                <a:spcPts val="300"/>
              </a:spcAft>
            </a:pPr>
            <a:r>
              <a:rPr sz="1000" b="0">
                <a:solidFill>
                  <a:srgbClr val="5B6372"/>
                </a:solidFill>
                <a:latin typeface="Arial"/>
              </a:rPr>
              <a:t>Methods and technologies used, plus allocated time and budget.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WRITING THAT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Five Cs of Communication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9860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187634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187634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9482328" cy="534009"/>
          </a:xfrm>
          <a:prstGeom prst="rect">
            <a:avLst/>
          </a:prstGeom>
          <a:noFill/>
        </p:spPr>
        <p:txBody>
          <a:bodyPr wrap="square" anchor="ctr">
            <a:spAutoFit/>
          </a:bodyPr>
          <a:lstStyle/>
          <a:p>
            <a:pPr algn="l">
              <a:spcAft>
                <a:spcPts val="300"/>
              </a:spcAft>
            </a:pPr>
            <a:r>
              <a:rPr sz="1500" b="1">
                <a:solidFill>
                  <a:srgbClr val="161B26"/>
                </a:solidFill>
                <a:latin typeface="Arial"/>
              </a:rPr>
              <a:t>Correct</a:t>
            </a:r>
          </a:p>
          <a:p>
            <a:pPr algn="l">
              <a:spcAft>
                <a:spcPts val="300"/>
              </a:spcAft>
            </a:pPr>
            <a:r>
              <a:rPr sz="1100" b="0">
                <a:solidFill>
                  <a:srgbClr val="5B6372"/>
                </a:solidFill>
                <a:latin typeface="Arial"/>
              </a:rPr>
              <a:t>Correct grammar and spelling — errors undermine your credibility.</a:t>
            </a:r>
          </a:p>
        </p:txBody>
      </p:sp>
      <p:sp>
        <p:nvSpPr>
          <p:cNvPr id="12" name="Rectangle 11"/>
          <p:cNvSpPr/>
          <p:nvPr/>
        </p:nvSpPr>
        <p:spPr>
          <a:xfrm>
            <a:off x="777240" y="2701137"/>
            <a:ext cx="10634472"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1137"/>
            <a:ext cx="91440" cy="69860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14984" y="2794405"/>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4" y="2794405"/>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1709928" y="2810865"/>
            <a:ext cx="9482328" cy="534009"/>
          </a:xfrm>
          <a:prstGeom prst="rect">
            <a:avLst/>
          </a:prstGeom>
          <a:noFill/>
        </p:spPr>
        <p:txBody>
          <a:bodyPr wrap="square" anchor="ctr">
            <a:spAutoFit/>
          </a:bodyPr>
          <a:lstStyle/>
          <a:p>
            <a:pPr algn="l">
              <a:spcAft>
                <a:spcPts val="300"/>
              </a:spcAft>
            </a:pPr>
            <a:r>
              <a:rPr sz="1500" b="1">
                <a:solidFill>
                  <a:srgbClr val="161B26"/>
                </a:solidFill>
                <a:latin typeface="Arial"/>
              </a:rPr>
              <a:t>Concise</a:t>
            </a:r>
          </a:p>
          <a:p>
            <a:pPr algn="l">
              <a:spcAft>
                <a:spcPts val="300"/>
              </a:spcAft>
            </a:pPr>
            <a:r>
              <a:rPr sz="1100" b="0">
                <a:solidFill>
                  <a:srgbClr val="5B6372"/>
                </a:solidFill>
                <a:latin typeface="Arial"/>
              </a:rPr>
              <a:t>Eliminate excess words. Respect the reader's time.</a:t>
            </a:r>
          </a:p>
        </p:txBody>
      </p:sp>
      <p:sp>
        <p:nvSpPr>
          <p:cNvPr id="17" name="Rectangle 16"/>
          <p:cNvSpPr/>
          <p:nvPr/>
        </p:nvSpPr>
        <p:spPr>
          <a:xfrm>
            <a:off x="777240" y="3619194"/>
            <a:ext cx="10634472"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19194"/>
            <a:ext cx="91440" cy="69860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2"/>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728922"/>
            <a:ext cx="9482328" cy="534009"/>
          </a:xfrm>
          <a:prstGeom prst="rect">
            <a:avLst/>
          </a:prstGeom>
          <a:noFill/>
        </p:spPr>
        <p:txBody>
          <a:bodyPr wrap="square" anchor="ctr">
            <a:spAutoFit/>
          </a:bodyPr>
          <a:lstStyle/>
          <a:p>
            <a:pPr algn="l">
              <a:spcAft>
                <a:spcPts val="300"/>
              </a:spcAft>
            </a:pPr>
            <a:r>
              <a:rPr sz="1500" b="1">
                <a:solidFill>
                  <a:srgbClr val="161B26"/>
                </a:solidFill>
                <a:latin typeface="Arial"/>
              </a:rPr>
              <a:t>Clear</a:t>
            </a:r>
          </a:p>
          <a:p>
            <a:pPr algn="l">
              <a:spcAft>
                <a:spcPts val="300"/>
              </a:spcAft>
            </a:pPr>
            <a:r>
              <a:rPr sz="1100" b="0">
                <a:solidFill>
                  <a:srgbClr val="5B6372"/>
                </a:solidFill>
                <a:latin typeface="Arial"/>
              </a:rPr>
              <a:t>A clear purpose, directed at the needs of the reader.</a:t>
            </a:r>
          </a:p>
        </p:txBody>
      </p:sp>
      <p:sp>
        <p:nvSpPr>
          <p:cNvPr id="22" name="Rectangle 21"/>
          <p:cNvSpPr/>
          <p:nvPr/>
        </p:nvSpPr>
        <p:spPr>
          <a:xfrm>
            <a:off x="777240" y="4537251"/>
            <a:ext cx="10634472"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37251"/>
            <a:ext cx="91440" cy="69860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14984" y="4630519"/>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4984" y="4630519"/>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1709928" y="4646979"/>
            <a:ext cx="9482328" cy="534009"/>
          </a:xfrm>
          <a:prstGeom prst="rect">
            <a:avLst/>
          </a:prstGeom>
          <a:noFill/>
        </p:spPr>
        <p:txBody>
          <a:bodyPr wrap="square" anchor="ctr">
            <a:spAutoFit/>
          </a:bodyPr>
          <a:lstStyle/>
          <a:p>
            <a:pPr algn="l">
              <a:spcAft>
                <a:spcPts val="300"/>
              </a:spcAft>
            </a:pPr>
            <a:r>
              <a:rPr sz="1500" b="1">
                <a:solidFill>
                  <a:srgbClr val="161B26"/>
                </a:solidFill>
                <a:latin typeface="Arial"/>
              </a:rPr>
              <a:t>Coherent</a:t>
            </a:r>
          </a:p>
          <a:p>
            <a:pPr algn="l">
              <a:spcAft>
                <a:spcPts val="300"/>
              </a:spcAft>
            </a:pPr>
            <a:r>
              <a:rPr sz="1100" b="0">
                <a:solidFill>
                  <a:srgbClr val="5B6372"/>
                </a:solidFill>
                <a:latin typeface="Arial"/>
              </a:rPr>
              <a:t>A logical flow of ideas.</a:t>
            </a:r>
          </a:p>
        </p:txBody>
      </p:sp>
      <p:sp>
        <p:nvSpPr>
          <p:cNvPr id="27" name="Rectangle 26"/>
          <p:cNvSpPr/>
          <p:nvPr/>
        </p:nvSpPr>
        <p:spPr>
          <a:xfrm>
            <a:off x="777240" y="5455308"/>
            <a:ext cx="10634472"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55308"/>
            <a:ext cx="91440" cy="69860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548576"/>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54857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5565036"/>
            <a:ext cx="9482328" cy="534009"/>
          </a:xfrm>
          <a:prstGeom prst="rect">
            <a:avLst/>
          </a:prstGeom>
          <a:noFill/>
        </p:spPr>
        <p:txBody>
          <a:bodyPr wrap="square" anchor="ctr">
            <a:spAutoFit/>
          </a:bodyPr>
          <a:lstStyle/>
          <a:p>
            <a:pPr algn="l">
              <a:spcAft>
                <a:spcPts val="300"/>
              </a:spcAft>
            </a:pPr>
            <a:r>
              <a:rPr sz="1500" b="1">
                <a:solidFill>
                  <a:srgbClr val="161B26"/>
                </a:solidFill>
                <a:latin typeface="Arial"/>
              </a:rPr>
              <a:t>Controlling</a:t>
            </a:r>
          </a:p>
          <a:p>
            <a:pPr algn="l">
              <a:spcAft>
                <a:spcPts val="300"/>
              </a:spcAft>
            </a:pPr>
            <a:r>
              <a:rPr sz="1100" b="0">
                <a:solidFill>
                  <a:srgbClr val="5B6372"/>
                </a:solidFill>
                <a:latin typeface="Arial"/>
              </a:rPr>
              <a:t>Control the flow of words and ideas — lead with what matters.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TWO COMMUNICATION METHODS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Push vs Pull Communication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36208" y="1783080"/>
            <a:ext cx="517550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36208" y="1783080"/>
            <a:ext cx="517550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011680"/>
            <a:ext cx="4754880" cy="365760"/>
          </a:xfrm>
          <a:prstGeom prst="rect">
            <a:avLst/>
          </a:prstGeom>
          <a:noFill/>
        </p:spPr>
        <p:txBody>
          <a:bodyPr wrap="square" anchor="t">
            <a:spAutoFit/>
          </a:bodyPr>
          <a:lstStyle/>
          <a:p>
            <a:pPr algn="l">
              <a:spcAft>
                <a:spcPts val="400"/>
              </a:spcAft>
            </a:pPr>
            <a:r>
              <a:rPr sz="1700" b="1">
                <a:solidFill>
                  <a:srgbClr val="1F6FEB"/>
                </a:solidFill>
                <a:latin typeface="Arial"/>
              </a:rPr>
              <a:t>Push</a:t>
            </a:r>
          </a:p>
        </p:txBody>
      </p:sp>
      <p:sp>
        <p:nvSpPr>
          <p:cNvPr id="12" name="TextBox 11"/>
          <p:cNvSpPr txBox="1"/>
          <p:nvPr/>
        </p:nvSpPr>
        <p:spPr>
          <a:xfrm>
            <a:off x="6464808" y="2011680"/>
            <a:ext cx="4663440" cy="365760"/>
          </a:xfrm>
          <a:prstGeom prst="rect">
            <a:avLst/>
          </a:prstGeom>
          <a:noFill/>
        </p:spPr>
        <p:txBody>
          <a:bodyPr wrap="square" anchor="t">
            <a:spAutoFit/>
          </a:bodyPr>
          <a:lstStyle/>
          <a:p>
            <a:pPr algn="l">
              <a:spcAft>
                <a:spcPts val="400"/>
              </a:spcAft>
            </a:pPr>
            <a:r>
              <a:rPr sz="1700" b="1">
                <a:solidFill>
                  <a:srgbClr val="10B981"/>
                </a:solidFill>
                <a:latin typeface="Arial"/>
              </a:rPr>
              <a:t>Pull</a:t>
            </a:r>
          </a:p>
        </p:txBody>
      </p:sp>
      <p:sp>
        <p:nvSpPr>
          <p:cNvPr id="13" name="TextBox 12"/>
          <p:cNvSpPr txBox="1"/>
          <p:nvPr/>
        </p:nvSpPr>
        <p:spPr>
          <a:xfrm>
            <a:off x="1005840" y="2514600"/>
            <a:ext cx="4754880" cy="3383280"/>
          </a:xfrm>
          <a:prstGeom prst="rect">
            <a:avLst/>
          </a:prstGeom>
          <a:noFill/>
        </p:spPr>
        <p:txBody>
          <a:bodyPr wrap="square">
            <a:spAutoFit/>
          </a:bodyPr>
          <a:lstStyle/>
          <a:p>
            <a:pPr>
              <a:spcAft>
                <a:spcPts val="1000"/>
              </a:spcAft>
            </a:pPr>
            <a:r>
              <a:rPr sz="1400">
                <a:solidFill>
                  <a:srgbClr val="161B26"/>
                </a:solidFill>
                <a:latin typeface="Arial"/>
              </a:rPr>
              <a:t>•  Push</a:t>
            </a:r>
          </a:p>
          <a:p>
            <a:pPr>
              <a:spcAft>
                <a:spcPts val="1000"/>
              </a:spcAft>
            </a:pPr>
            <a:r>
              <a:rPr sz="1200">
                <a:solidFill>
                  <a:srgbClr val="5B6372"/>
                </a:solidFill>
                <a:latin typeface="Arial"/>
              </a:rPr>
              <a:t>–  Sent directly to specific recipients</a:t>
            </a:r>
          </a:p>
          <a:p>
            <a:pPr>
              <a:spcAft>
                <a:spcPts val="1000"/>
              </a:spcAft>
            </a:pPr>
            <a:r>
              <a:rPr sz="1200">
                <a:solidFill>
                  <a:srgbClr val="5B6372"/>
                </a:solidFill>
                <a:latin typeface="Arial"/>
              </a:rPr>
              <a:t>–  Emails, reports, memos, voicemails</a:t>
            </a:r>
          </a:p>
          <a:p>
            <a:pPr>
              <a:spcAft>
                <a:spcPts val="1000"/>
              </a:spcAft>
            </a:pPr>
            <a:r>
              <a:rPr sz="1200">
                <a:solidFill>
                  <a:srgbClr val="5B6372"/>
                </a:solidFill>
                <a:latin typeface="Arial"/>
              </a:rPr>
              <a:t>–  Ensures it was DISTRIBUTED — not that it was understood</a:t>
            </a:r>
          </a:p>
          <a:p>
            <a:pPr>
              <a:spcAft>
                <a:spcPts val="1000"/>
              </a:spcAft>
            </a:pPr>
            <a:r>
              <a:rPr sz="1200">
                <a:solidFill>
                  <a:srgbClr val="5B6372"/>
                </a:solidFill>
                <a:latin typeface="Arial"/>
              </a:rPr>
              <a:t>–  Use for what must be read</a:t>
            </a:r>
          </a:p>
        </p:txBody>
      </p:sp>
      <p:sp>
        <p:nvSpPr>
          <p:cNvPr id="14" name="TextBox 13"/>
          <p:cNvSpPr txBox="1"/>
          <p:nvPr/>
        </p:nvSpPr>
        <p:spPr>
          <a:xfrm>
            <a:off x="6464808" y="2514600"/>
            <a:ext cx="4709160" cy="3383280"/>
          </a:xfrm>
          <a:prstGeom prst="rect">
            <a:avLst/>
          </a:prstGeom>
          <a:noFill/>
        </p:spPr>
        <p:txBody>
          <a:bodyPr wrap="square">
            <a:spAutoFit/>
          </a:bodyPr>
          <a:lstStyle/>
          <a:p>
            <a:pPr>
              <a:spcAft>
                <a:spcPts val="1000"/>
              </a:spcAft>
            </a:pPr>
            <a:r>
              <a:rPr sz="1400">
                <a:solidFill>
                  <a:srgbClr val="161B26"/>
                </a:solidFill>
                <a:latin typeface="Arial"/>
              </a:rPr>
              <a:t>•  Pull</a:t>
            </a:r>
          </a:p>
          <a:p>
            <a:pPr>
              <a:spcAft>
                <a:spcPts val="1000"/>
              </a:spcAft>
            </a:pPr>
            <a:r>
              <a:rPr sz="1200">
                <a:solidFill>
                  <a:srgbClr val="5B6372"/>
                </a:solidFill>
                <a:latin typeface="Arial"/>
              </a:rPr>
              <a:t>–  Recipients access it at their own discretion</a:t>
            </a:r>
          </a:p>
          <a:p>
            <a:pPr>
              <a:spcAft>
                <a:spcPts val="1000"/>
              </a:spcAft>
            </a:pPr>
            <a:r>
              <a:rPr sz="1200">
                <a:solidFill>
                  <a:srgbClr val="5B6372"/>
                </a:solidFill>
                <a:latin typeface="Arial"/>
              </a:rPr>
              <a:t>–  Intranet sites, dashboards, knowledge repositories</a:t>
            </a:r>
          </a:p>
          <a:p>
            <a:pPr>
              <a:spcAft>
                <a:spcPts val="1000"/>
              </a:spcAft>
            </a:pPr>
            <a:r>
              <a:rPr sz="1200">
                <a:solidFill>
                  <a:srgbClr val="5B6372"/>
                </a:solidFill>
                <a:latin typeface="Arial"/>
              </a:rPr>
              <a:t>–  Suits large volumes and large audiences</a:t>
            </a:r>
          </a:p>
          <a:p>
            <a:pPr>
              <a:spcAft>
                <a:spcPts val="1000"/>
              </a:spcAft>
            </a:pPr>
            <a:r>
              <a:rPr sz="1200">
                <a:solidFill>
                  <a:srgbClr val="5B6372"/>
                </a:solidFill>
                <a:latin typeface="Arial"/>
              </a:rPr>
              <a:t>–  Use for reference information</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SIX SKILLS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Communication Skills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Active listening</a:t>
            </a:r>
          </a:p>
          <a:p>
            <a:pPr algn="l">
              <a:spcAft>
                <a:spcPts val="300"/>
              </a:spcAft>
            </a:pPr>
            <a:r>
              <a:rPr sz="1000" b="0">
                <a:solidFill>
                  <a:srgbClr val="5B6372"/>
                </a:solidFill>
                <a:latin typeface="Arial"/>
              </a:rPr>
              <a:t>Stay engaged, show interest, summarise back to check understanding.</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Feedback</a:t>
            </a:r>
          </a:p>
          <a:p>
            <a:pPr algn="l">
              <a:spcAft>
                <a:spcPts val="300"/>
              </a:spcAft>
            </a:pPr>
            <a:r>
              <a:rPr sz="1000" b="0">
                <a:solidFill>
                  <a:srgbClr val="5B6372"/>
                </a:solidFill>
                <a:latin typeface="Arial"/>
              </a:rPr>
              <a:t>Written, verbal or non-verbal — ensures the message was heard correctly.</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22904"/>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Non-verbal</a:t>
            </a:r>
          </a:p>
          <a:p>
            <a:pPr algn="l">
              <a:spcAft>
                <a:spcPts val="300"/>
              </a:spcAft>
            </a:pPr>
            <a:r>
              <a:rPr sz="1000" b="0">
                <a:solidFill>
                  <a:srgbClr val="5B6372"/>
                </a:solidFill>
                <a:latin typeface="Arial"/>
              </a:rPr>
              <a:t>Body language, gestures, tone of voice, facial expressions.</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22904"/>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Presentations</a:t>
            </a:r>
          </a:p>
          <a:p>
            <a:pPr algn="l">
              <a:spcAft>
                <a:spcPts val="300"/>
              </a:spcAft>
            </a:pPr>
            <a:r>
              <a:rPr sz="1000" b="0">
                <a:solidFill>
                  <a:srgbClr val="5B6372"/>
                </a:solidFill>
                <a:latin typeface="Arial"/>
              </a:rPr>
              <a:t>Formal delivery of progress and updates to stakeholders.</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53000"/>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Cultural awareness</a:t>
            </a:r>
          </a:p>
          <a:p>
            <a:pPr algn="l">
              <a:spcAft>
                <a:spcPts val="300"/>
              </a:spcAft>
            </a:pPr>
            <a:r>
              <a:rPr sz="1000" b="0">
                <a:solidFill>
                  <a:srgbClr val="5B6372"/>
                </a:solidFill>
                <a:latin typeface="Arial"/>
              </a:rPr>
              <a:t>Habits, priorities, celebrations and ways of working differ.</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53000"/>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Managing expectations</a:t>
            </a:r>
          </a:p>
          <a:p>
            <a:pPr algn="l">
              <a:spcAft>
                <a:spcPts val="300"/>
              </a:spcAft>
            </a:pPr>
            <a:r>
              <a:rPr sz="1000" b="0">
                <a:solidFill>
                  <a:srgbClr val="5B6372"/>
                </a:solidFill>
                <a:latin typeface="Arial"/>
              </a:rPr>
              <a:t>Set expectations early; negotiate to manage them continuously.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GETS IN THE WAY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Barriers to Communication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2811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1991106"/>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199110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781812"/>
          </a:xfrm>
          <a:prstGeom prst="rect">
            <a:avLst/>
          </a:prstGeom>
          <a:noFill/>
        </p:spPr>
        <p:txBody>
          <a:bodyPr wrap="square" anchor="ctr">
            <a:spAutoFit/>
          </a:bodyPr>
          <a:lstStyle/>
          <a:p>
            <a:pPr algn="l">
              <a:spcAft>
                <a:spcPts val="400"/>
              </a:spcAft>
            </a:pPr>
            <a:r>
              <a:rPr sz="1400" b="0">
                <a:solidFill>
                  <a:srgbClr val="161B26"/>
                </a:solidFill>
                <a:latin typeface="Arial"/>
              </a:rPr>
              <a:t>Language differences</a:t>
            </a:r>
          </a:p>
        </p:txBody>
      </p:sp>
      <p:sp>
        <p:nvSpPr>
          <p:cNvPr id="12" name="Rectangle 11"/>
          <p:cNvSpPr/>
          <p:nvPr/>
        </p:nvSpPr>
        <p:spPr>
          <a:xfrm>
            <a:off x="6231636" y="1783080"/>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281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199110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199110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781812"/>
          </a:xfrm>
          <a:prstGeom prst="rect">
            <a:avLst/>
          </a:prstGeom>
          <a:noFill/>
        </p:spPr>
        <p:txBody>
          <a:bodyPr wrap="square" anchor="ctr">
            <a:spAutoFit/>
          </a:bodyPr>
          <a:lstStyle/>
          <a:p>
            <a:pPr algn="l">
              <a:spcAft>
                <a:spcPts val="400"/>
              </a:spcAft>
            </a:pPr>
            <a:r>
              <a:rPr sz="1400" b="0">
                <a:solidFill>
                  <a:srgbClr val="161B26"/>
                </a:solidFill>
                <a:latin typeface="Arial"/>
              </a:rPr>
              <a:t>Cultural differences</a:t>
            </a:r>
          </a:p>
        </p:txBody>
      </p:sp>
      <p:sp>
        <p:nvSpPr>
          <p:cNvPr id="17" name="Rectangle 16"/>
          <p:cNvSpPr/>
          <p:nvPr/>
        </p:nvSpPr>
        <p:spPr>
          <a:xfrm>
            <a:off x="777240" y="2930652"/>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0652"/>
            <a:ext cx="91440" cy="9281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138678"/>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13867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022092"/>
            <a:ext cx="4027932" cy="781812"/>
          </a:xfrm>
          <a:prstGeom prst="rect">
            <a:avLst/>
          </a:prstGeom>
          <a:noFill/>
        </p:spPr>
        <p:txBody>
          <a:bodyPr wrap="square" anchor="ctr">
            <a:spAutoFit/>
          </a:bodyPr>
          <a:lstStyle/>
          <a:p>
            <a:pPr algn="l">
              <a:spcAft>
                <a:spcPts val="400"/>
              </a:spcAft>
            </a:pPr>
            <a:r>
              <a:rPr sz="1400" b="0">
                <a:solidFill>
                  <a:srgbClr val="161B26"/>
                </a:solidFill>
                <a:latin typeface="Arial"/>
              </a:rPr>
              <a:t>Physical barriers — noise, distance, poor infrastructure</a:t>
            </a:r>
          </a:p>
        </p:txBody>
      </p:sp>
      <p:sp>
        <p:nvSpPr>
          <p:cNvPr id="22" name="Rectangle 21"/>
          <p:cNvSpPr/>
          <p:nvPr/>
        </p:nvSpPr>
        <p:spPr>
          <a:xfrm>
            <a:off x="6231636" y="2930652"/>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0652"/>
            <a:ext cx="91440" cy="92811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138678"/>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13867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022092"/>
            <a:ext cx="4027932" cy="781812"/>
          </a:xfrm>
          <a:prstGeom prst="rect">
            <a:avLst/>
          </a:prstGeom>
          <a:noFill/>
        </p:spPr>
        <p:txBody>
          <a:bodyPr wrap="square" anchor="ctr">
            <a:spAutoFit/>
          </a:bodyPr>
          <a:lstStyle/>
          <a:p>
            <a:pPr algn="l">
              <a:spcAft>
                <a:spcPts val="400"/>
              </a:spcAft>
            </a:pPr>
            <a:r>
              <a:rPr sz="1400" b="0">
                <a:solidFill>
                  <a:srgbClr val="161B26"/>
                </a:solidFill>
                <a:latin typeface="Arial"/>
              </a:rPr>
              <a:t>Psychological barriers — stress, emotion</a:t>
            </a:r>
          </a:p>
        </p:txBody>
      </p:sp>
      <p:sp>
        <p:nvSpPr>
          <p:cNvPr id="27" name="Rectangle 26"/>
          <p:cNvSpPr/>
          <p:nvPr/>
        </p:nvSpPr>
        <p:spPr>
          <a:xfrm>
            <a:off x="777240" y="4078224"/>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78224"/>
            <a:ext cx="91440" cy="92811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428625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428625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169664"/>
            <a:ext cx="4027932" cy="781812"/>
          </a:xfrm>
          <a:prstGeom prst="rect">
            <a:avLst/>
          </a:prstGeom>
          <a:noFill/>
        </p:spPr>
        <p:txBody>
          <a:bodyPr wrap="square" anchor="ctr">
            <a:spAutoFit/>
          </a:bodyPr>
          <a:lstStyle/>
          <a:p>
            <a:pPr algn="l">
              <a:spcAft>
                <a:spcPts val="400"/>
              </a:spcAft>
            </a:pPr>
            <a:r>
              <a:rPr sz="1400" b="0">
                <a:solidFill>
                  <a:srgbClr val="161B26"/>
                </a:solidFill>
                <a:latin typeface="Arial"/>
              </a:rPr>
              <a:t>Perceptual barriers — different interpretations</a:t>
            </a:r>
          </a:p>
        </p:txBody>
      </p:sp>
      <p:sp>
        <p:nvSpPr>
          <p:cNvPr id="32" name="Rectangle 31"/>
          <p:cNvSpPr/>
          <p:nvPr/>
        </p:nvSpPr>
        <p:spPr>
          <a:xfrm>
            <a:off x="6231636" y="4078224"/>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78224"/>
            <a:ext cx="91440" cy="9281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428625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428625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169664"/>
            <a:ext cx="4027932" cy="781812"/>
          </a:xfrm>
          <a:prstGeom prst="rect">
            <a:avLst/>
          </a:prstGeom>
          <a:noFill/>
        </p:spPr>
        <p:txBody>
          <a:bodyPr wrap="square" anchor="ctr">
            <a:spAutoFit/>
          </a:bodyPr>
          <a:lstStyle/>
          <a:p>
            <a:pPr algn="l">
              <a:spcAft>
                <a:spcPts val="400"/>
              </a:spcAft>
            </a:pPr>
            <a:r>
              <a:rPr sz="1400" b="0">
                <a:solidFill>
                  <a:srgbClr val="161B26"/>
                </a:solidFill>
                <a:latin typeface="Arial"/>
              </a:rPr>
              <a:t>Information overload</a:t>
            </a:r>
          </a:p>
        </p:txBody>
      </p:sp>
      <p:sp>
        <p:nvSpPr>
          <p:cNvPr id="37" name="Rectangle 36"/>
          <p:cNvSpPr/>
          <p:nvPr/>
        </p:nvSpPr>
        <p:spPr>
          <a:xfrm>
            <a:off x="777240" y="5225796"/>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25796"/>
            <a:ext cx="91440" cy="9281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14984" y="5433822"/>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14984" y="543382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1" name="TextBox 40"/>
          <p:cNvSpPr txBox="1"/>
          <p:nvPr/>
        </p:nvSpPr>
        <p:spPr>
          <a:xfrm>
            <a:off x="1709928" y="5317236"/>
            <a:ext cx="4027932" cy="781812"/>
          </a:xfrm>
          <a:prstGeom prst="rect">
            <a:avLst/>
          </a:prstGeom>
          <a:noFill/>
        </p:spPr>
        <p:txBody>
          <a:bodyPr wrap="square" anchor="ctr">
            <a:spAutoFit/>
          </a:bodyPr>
          <a:lstStyle/>
          <a:p>
            <a:pPr algn="l">
              <a:spcAft>
                <a:spcPts val="400"/>
              </a:spcAft>
            </a:pPr>
            <a:r>
              <a:rPr sz="1400" b="0">
                <a:solidFill>
                  <a:srgbClr val="161B26"/>
                </a:solidFill>
                <a:latin typeface="Arial"/>
              </a:rPr>
              <a:t>Jargon and technical language</a:t>
            </a:r>
          </a:p>
        </p:txBody>
      </p:sp>
      <p:sp>
        <p:nvSpPr>
          <p:cNvPr id="42" name="Rectangle 41"/>
          <p:cNvSpPr/>
          <p:nvPr/>
        </p:nvSpPr>
        <p:spPr>
          <a:xfrm>
            <a:off x="6231636" y="5225796"/>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25796"/>
            <a:ext cx="91440" cy="92811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69380" y="5433822"/>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69380" y="543382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6" name="TextBox 45"/>
          <p:cNvSpPr txBox="1"/>
          <p:nvPr/>
        </p:nvSpPr>
        <p:spPr>
          <a:xfrm>
            <a:off x="7164324" y="5317236"/>
            <a:ext cx="4027932" cy="781812"/>
          </a:xfrm>
          <a:prstGeom prst="rect">
            <a:avLst/>
          </a:prstGeom>
          <a:noFill/>
        </p:spPr>
        <p:txBody>
          <a:bodyPr wrap="square" anchor="ctr">
            <a:spAutoFit/>
          </a:bodyPr>
          <a:lstStyle/>
          <a:p>
            <a:pPr algn="l">
              <a:spcAft>
                <a:spcPts val="400"/>
              </a:spcAft>
            </a:pPr>
            <a:r>
              <a:rPr sz="1400" b="0">
                <a:solidFill>
                  <a:srgbClr val="161B26"/>
                </a:solidFill>
                <a:latin typeface="Arial"/>
              </a:rPr>
              <a:t>Attitudes, prejudices and poor listening</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RECOGNISING STYLES IN YOUR TEAM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Communication Styles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9860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187634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187634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9482328" cy="534009"/>
          </a:xfrm>
          <a:prstGeom prst="rect">
            <a:avLst/>
          </a:prstGeom>
          <a:noFill/>
        </p:spPr>
        <p:txBody>
          <a:bodyPr wrap="square" anchor="ctr">
            <a:spAutoFit/>
          </a:bodyPr>
          <a:lstStyle/>
          <a:p>
            <a:pPr algn="l">
              <a:spcAft>
                <a:spcPts val="300"/>
              </a:spcAft>
            </a:pPr>
            <a:r>
              <a:rPr sz="1500" b="1">
                <a:solidFill>
                  <a:srgbClr val="161B26"/>
                </a:solidFill>
                <a:latin typeface="Arial"/>
              </a:rPr>
              <a:t>Assertive</a:t>
            </a:r>
          </a:p>
          <a:p>
            <a:pPr algn="l">
              <a:spcAft>
                <a:spcPts val="300"/>
              </a:spcAft>
            </a:pPr>
            <a:r>
              <a:rPr sz="1100" b="0">
                <a:solidFill>
                  <a:srgbClr val="5B6372"/>
                </a:solidFill>
                <a:latin typeface="Arial"/>
              </a:rPr>
              <a:t>Direct, respectful and confident — the style to aim for.</a:t>
            </a:r>
          </a:p>
        </p:txBody>
      </p:sp>
      <p:sp>
        <p:nvSpPr>
          <p:cNvPr id="12" name="Rectangle 11"/>
          <p:cNvSpPr/>
          <p:nvPr/>
        </p:nvSpPr>
        <p:spPr>
          <a:xfrm>
            <a:off x="777240" y="2701137"/>
            <a:ext cx="10634472"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1137"/>
            <a:ext cx="91440" cy="69860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14984" y="2794405"/>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4" y="2794405"/>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1709928" y="2810865"/>
            <a:ext cx="9482328" cy="534009"/>
          </a:xfrm>
          <a:prstGeom prst="rect">
            <a:avLst/>
          </a:prstGeom>
          <a:noFill/>
        </p:spPr>
        <p:txBody>
          <a:bodyPr wrap="square" anchor="ctr">
            <a:spAutoFit/>
          </a:bodyPr>
          <a:lstStyle/>
          <a:p>
            <a:pPr algn="l">
              <a:spcAft>
                <a:spcPts val="300"/>
              </a:spcAft>
            </a:pPr>
            <a:r>
              <a:rPr sz="1500" b="1">
                <a:solidFill>
                  <a:srgbClr val="161B26"/>
                </a:solidFill>
                <a:latin typeface="Arial"/>
              </a:rPr>
              <a:t>Aggressive</a:t>
            </a:r>
          </a:p>
          <a:p>
            <a:pPr algn="l">
              <a:spcAft>
                <a:spcPts val="300"/>
              </a:spcAft>
            </a:pPr>
            <a:r>
              <a:rPr sz="1100" b="0">
                <a:solidFill>
                  <a:srgbClr val="5B6372"/>
                </a:solidFill>
                <a:latin typeface="Arial"/>
              </a:rPr>
              <a:t>Dominating, confrontational and disrespectful.</a:t>
            </a:r>
          </a:p>
        </p:txBody>
      </p:sp>
      <p:sp>
        <p:nvSpPr>
          <p:cNvPr id="17" name="Rectangle 16"/>
          <p:cNvSpPr/>
          <p:nvPr/>
        </p:nvSpPr>
        <p:spPr>
          <a:xfrm>
            <a:off x="777240" y="3619194"/>
            <a:ext cx="10634472"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19194"/>
            <a:ext cx="91440" cy="69860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2"/>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728922"/>
            <a:ext cx="9482328" cy="534009"/>
          </a:xfrm>
          <a:prstGeom prst="rect">
            <a:avLst/>
          </a:prstGeom>
          <a:noFill/>
        </p:spPr>
        <p:txBody>
          <a:bodyPr wrap="square" anchor="ctr">
            <a:spAutoFit/>
          </a:bodyPr>
          <a:lstStyle/>
          <a:p>
            <a:pPr algn="l">
              <a:spcAft>
                <a:spcPts val="300"/>
              </a:spcAft>
            </a:pPr>
            <a:r>
              <a:rPr sz="1500" b="1">
                <a:solidFill>
                  <a:srgbClr val="161B26"/>
                </a:solidFill>
                <a:latin typeface="Arial"/>
              </a:rPr>
              <a:t>Passive</a:t>
            </a:r>
          </a:p>
          <a:p>
            <a:pPr algn="l">
              <a:spcAft>
                <a:spcPts val="300"/>
              </a:spcAft>
            </a:pPr>
            <a:r>
              <a:rPr sz="1100" b="0">
                <a:solidFill>
                  <a:srgbClr val="5B6372"/>
                </a:solidFill>
                <a:latin typeface="Arial"/>
              </a:rPr>
              <a:t>Submissive, avoids confrontation, indirect.</a:t>
            </a:r>
          </a:p>
        </p:txBody>
      </p:sp>
      <p:sp>
        <p:nvSpPr>
          <p:cNvPr id="22" name="Rectangle 21"/>
          <p:cNvSpPr/>
          <p:nvPr/>
        </p:nvSpPr>
        <p:spPr>
          <a:xfrm>
            <a:off x="777240" y="4537251"/>
            <a:ext cx="10634472"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37251"/>
            <a:ext cx="91440" cy="69860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14984" y="4630519"/>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4984" y="4630519"/>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1709928" y="4646979"/>
            <a:ext cx="9482328" cy="534009"/>
          </a:xfrm>
          <a:prstGeom prst="rect">
            <a:avLst/>
          </a:prstGeom>
          <a:noFill/>
        </p:spPr>
        <p:txBody>
          <a:bodyPr wrap="square" anchor="ctr">
            <a:spAutoFit/>
          </a:bodyPr>
          <a:lstStyle/>
          <a:p>
            <a:pPr algn="l">
              <a:spcAft>
                <a:spcPts val="300"/>
              </a:spcAft>
            </a:pPr>
            <a:r>
              <a:rPr sz="1500" b="1">
                <a:solidFill>
                  <a:srgbClr val="161B26"/>
                </a:solidFill>
                <a:latin typeface="Arial"/>
              </a:rPr>
              <a:t>Passive-aggressive</a:t>
            </a:r>
          </a:p>
          <a:p>
            <a:pPr algn="l">
              <a:spcAft>
                <a:spcPts val="300"/>
              </a:spcAft>
            </a:pPr>
            <a:r>
              <a:rPr sz="1100" b="0">
                <a:solidFill>
                  <a:srgbClr val="5B6372"/>
                </a:solidFill>
                <a:latin typeface="Arial"/>
              </a:rPr>
              <a:t>Indirect, with disguised hostility.</a:t>
            </a:r>
          </a:p>
        </p:txBody>
      </p:sp>
      <p:sp>
        <p:nvSpPr>
          <p:cNvPr id="27" name="Rectangle 26"/>
          <p:cNvSpPr/>
          <p:nvPr/>
        </p:nvSpPr>
        <p:spPr>
          <a:xfrm>
            <a:off x="777240" y="5455308"/>
            <a:ext cx="10634472"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55308"/>
            <a:ext cx="91440" cy="69860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548576"/>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54857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5565036"/>
            <a:ext cx="9482328" cy="534009"/>
          </a:xfrm>
          <a:prstGeom prst="rect">
            <a:avLst/>
          </a:prstGeom>
          <a:noFill/>
        </p:spPr>
        <p:txBody>
          <a:bodyPr wrap="square" anchor="ctr">
            <a:spAutoFit/>
          </a:bodyPr>
          <a:lstStyle/>
          <a:p>
            <a:pPr algn="l">
              <a:spcAft>
                <a:spcPts val="300"/>
              </a:spcAft>
            </a:pPr>
            <a:r>
              <a:rPr sz="1500" b="1">
                <a:solidFill>
                  <a:srgbClr val="161B26"/>
                </a:solidFill>
                <a:latin typeface="Arial"/>
              </a:rPr>
              <a:t>Manipulative</a:t>
            </a:r>
          </a:p>
          <a:p>
            <a:pPr algn="l">
              <a:spcAft>
                <a:spcPts val="300"/>
              </a:spcAft>
            </a:pPr>
            <a:r>
              <a:rPr sz="1100" b="0">
                <a:solidFill>
                  <a:srgbClr val="5B6372"/>
                </a:solidFill>
                <a:latin typeface="Arial"/>
              </a:rPr>
              <a:t>Controlling and deceitful, using influence to achieve hidden goals.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ACTIVITY 17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Plan and Manage Communications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17</a:t>
            </a:r>
          </a:p>
        </p:txBody>
      </p:sp>
      <p:sp>
        <p:nvSpPr>
          <p:cNvPr id="9" name="TextBox 8"/>
          <p:cNvSpPr txBox="1"/>
          <p:nvPr/>
        </p:nvSpPr>
        <p:spPr>
          <a:xfrm>
            <a:off x="777240" y="2331720"/>
            <a:ext cx="10698480" cy="1554480"/>
          </a:xfrm>
          <a:prstGeom prst="rect">
            <a:avLst/>
          </a:prstGeom>
          <a:noFill/>
        </p:spPr>
        <p:txBody>
          <a:bodyPr wrap="square" anchor="t">
            <a:spAutoFit/>
          </a:bodyPr>
          <a:lstStyle/>
          <a:p>
            <a:pPr algn="l">
              <a:spcAft>
                <a:spcPts val="400"/>
              </a:spcAft>
            </a:pPr>
            <a:r>
              <a:rPr sz="1900" b="0">
                <a:solidFill>
                  <a:srgbClr val="161B26"/>
                </a:solidFill>
                <a:latin typeface="Arial"/>
              </a:rPr>
              <a:t>You will calculate how communication complexity grows, then use GenAI to build a communications plan and adapt a single message for very different audiences.</a:t>
            </a:r>
          </a:p>
        </p:txBody>
      </p:sp>
      <p:sp>
        <p:nvSpPr>
          <p:cNvPr id="10" name="Rectangle 9"/>
          <p:cNvSpPr/>
          <p:nvPr/>
        </p:nvSpPr>
        <p:spPr>
          <a:xfrm>
            <a:off x="777240" y="3977639"/>
            <a:ext cx="10634472" cy="17830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60520"/>
            <a:ext cx="10058400" cy="365760"/>
          </a:xfrm>
          <a:prstGeom prst="rect">
            <a:avLst/>
          </a:prstGeom>
          <a:noFill/>
        </p:spPr>
        <p:txBody>
          <a:bodyPr wrap="square" anchor="t">
            <a:spAutoFit/>
          </a:bodyPr>
          <a:lstStyle/>
          <a:p>
            <a:pPr algn="l">
              <a:spcAft>
                <a:spcPts val="400"/>
              </a:spcAft>
            </a:pPr>
            <a:r>
              <a:rPr sz="1300" b="1">
                <a:solidFill>
                  <a:srgbClr val="127A3E"/>
                </a:solidFill>
                <a:latin typeface="Arial"/>
              </a:rPr>
              <a:t>You'll produce</a:t>
            </a:r>
          </a:p>
        </p:txBody>
      </p:sp>
      <p:sp>
        <p:nvSpPr>
          <p:cNvPr id="12" name="TextBox 11"/>
          <p:cNvSpPr txBox="1"/>
          <p:nvPr/>
        </p:nvSpPr>
        <p:spPr>
          <a:xfrm>
            <a:off x="1005840" y="4498848"/>
            <a:ext cx="10149840" cy="685800"/>
          </a:xfrm>
          <a:prstGeom prst="rect">
            <a:avLst/>
          </a:prstGeom>
          <a:noFill/>
        </p:spPr>
        <p:txBody>
          <a:bodyPr wrap="square" anchor="t">
            <a:spAutoFit/>
          </a:bodyPr>
          <a:lstStyle/>
          <a:p>
            <a:pPr algn="l">
              <a:spcAft>
                <a:spcPts val="400"/>
              </a:spcAft>
            </a:pPr>
            <a:r>
              <a:rPr sz="1700" b="1">
                <a:solidFill>
                  <a:srgbClr val="161B26"/>
                </a:solidFill>
                <a:latin typeface="Arial"/>
              </a:rPr>
              <a:t>A communications management plan and the same update written for three audiences.</a:t>
            </a:r>
          </a:p>
        </p:txBody>
      </p:sp>
      <p:sp>
        <p:nvSpPr>
          <p:cNvPr id="13" name="TextBox 12"/>
          <p:cNvSpPr txBox="1"/>
          <p:nvPr/>
        </p:nvSpPr>
        <p:spPr>
          <a:xfrm>
            <a:off x="1005840" y="5257800"/>
            <a:ext cx="10241280" cy="4572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GenAI tool · your stakeholder register from Activity 4</a:t>
            </a:r>
          </a:p>
        </p:txBody>
      </p:sp>
      <p:sp>
        <p:nvSpPr>
          <p:cNvPr id="14" name="TextBox 13"/>
          <p:cNvSpPr txBox="1"/>
          <p:nvPr/>
        </p:nvSpPr>
        <p:spPr>
          <a:xfrm>
            <a:off x="777240" y="5897880"/>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Step-by-step instructions: see your Learner Guide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02 · ACTIVITY 17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Plan and Manage Communications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17</a:t>
            </a:r>
          </a:p>
        </p:txBody>
      </p:sp>
      <p:sp>
        <p:nvSpPr>
          <p:cNvPr id="9" name="TextBox 8"/>
          <p:cNvSpPr txBox="1"/>
          <p:nvPr/>
        </p:nvSpPr>
        <p:spPr>
          <a:xfrm>
            <a:off x="777240" y="2286000"/>
            <a:ext cx="10607040" cy="365760"/>
          </a:xfrm>
          <a:prstGeom prst="rect">
            <a:avLst/>
          </a:prstGeom>
          <a:noFill/>
        </p:spPr>
        <p:txBody>
          <a:bodyPr wrap="square" anchor="t">
            <a:spAutoFit/>
          </a:bodyPr>
          <a:lstStyle/>
          <a:p>
            <a:pPr algn="l">
              <a:spcAft>
                <a:spcPts val="400"/>
              </a:spcAft>
            </a:pPr>
            <a:r>
              <a:rPr sz="1200" b="1">
                <a:solidFill>
                  <a:srgbClr val="7C3AED"/>
                </a:solidFill>
                <a:latin typeface="Arial"/>
              </a:rPr>
              <a:t>PROMPT GenAI WITH</a:t>
            </a:r>
          </a:p>
        </p:txBody>
      </p:sp>
      <p:sp>
        <p:nvSpPr>
          <p:cNvPr id="10" name="Rectangle 9"/>
          <p:cNvSpPr/>
          <p:nvPr/>
        </p:nvSpPr>
        <p:spPr>
          <a:xfrm>
            <a:off x="777240" y="2651760"/>
            <a:ext cx="10634472" cy="19659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88920"/>
            <a:ext cx="10104120" cy="1691640"/>
          </a:xfrm>
          <a:prstGeom prst="rect">
            <a:avLst/>
          </a:prstGeom>
          <a:noFill/>
        </p:spPr>
        <p:txBody>
          <a:bodyPr wrap="square" anchor="ctr">
            <a:spAutoFit/>
          </a:bodyPr>
          <a:lstStyle/>
          <a:p>
            <a:pPr algn="l">
              <a:spcAft>
                <a:spcPts val="400"/>
              </a:spcAft>
            </a:pPr>
            <a:r>
              <a:rPr sz="1600" b="0">
                <a:solidFill>
                  <a:srgbClr val="D6E4FF"/>
                </a:solidFill>
                <a:latin typeface="Arial"/>
              </a:rPr>
              <a:t>Build a communications management plan from the stakeholder data provided. For each stakeholder specify information needed, purpose, format, level of detail, frequency, channel and sender.</a:t>
            </a:r>
          </a:p>
        </p:txBody>
      </p:sp>
      <p:sp>
        <p:nvSpPr>
          <p:cNvPr id="12" name="Rectangle 11"/>
          <p:cNvSpPr/>
          <p:nvPr/>
        </p:nvSpPr>
        <p:spPr>
          <a:xfrm>
            <a:off x="777240" y="4800600"/>
            <a:ext cx="10634472" cy="1051560"/>
          </a:xfrm>
          <a:prstGeom prst="rect">
            <a:avLst/>
          </a:prstGeom>
          <a:solidFill>
            <a:srgbClr val="FFF4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4919472"/>
            <a:ext cx="10149840" cy="320040"/>
          </a:xfrm>
          <a:prstGeom prst="rect">
            <a:avLst/>
          </a:prstGeom>
          <a:noFill/>
        </p:spPr>
        <p:txBody>
          <a:bodyPr wrap="square" anchor="t">
            <a:spAutoFit/>
          </a:bodyPr>
          <a:lstStyle/>
          <a:p>
            <a:pPr algn="l">
              <a:spcAft>
                <a:spcPts val="400"/>
              </a:spcAft>
            </a:pPr>
            <a:r>
              <a:rPr sz="1200" b="1">
                <a:solidFill>
                  <a:srgbClr val="F59E0B"/>
                </a:solidFill>
                <a:latin typeface="Arial"/>
              </a:rPr>
              <a:t>⚠  THEN CHECK IT</a:t>
            </a:r>
          </a:p>
        </p:txBody>
      </p:sp>
      <p:sp>
        <p:nvSpPr>
          <p:cNvPr id="14" name="TextBox 13"/>
          <p:cNvSpPr txBox="1"/>
          <p:nvPr/>
        </p:nvSpPr>
        <p:spPr>
          <a:xfrm>
            <a:off x="1051560" y="5230368"/>
            <a:ext cx="10149840" cy="548640"/>
          </a:xfrm>
          <a:prstGeom prst="rect">
            <a:avLst/>
          </a:prstGeom>
          <a:noFill/>
        </p:spPr>
        <p:txBody>
          <a:bodyPr wrap="square" anchor="t">
            <a:spAutoFit/>
          </a:bodyPr>
          <a:lstStyle/>
          <a:p>
            <a:pPr algn="l">
              <a:spcAft>
                <a:spcPts val="400"/>
              </a:spcAft>
            </a:pPr>
            <a:r>
              <a:rPr sz="1400" b="0">
                <a:solidFill>
                  <a:srgbClr val="161B26"/>
                </a:solidFill>
                <a:latin typeface="Arial"/>
              </a:rPr>
              <a:t>GenAI gives you a fast first draft. Check every figure, source and assumption before you use it.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17 · CHECK YOUR 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Plan and Manage Communications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34472"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9" name="TextBox 8"/>
          <p:cNvSpPr txBox="1"/>
          <p:nvPr/>
        </p:nvSpPr>
        <p:spPr>
          <a:xfrm>
            <a:off x="1097280" y="3017520"/>
            <a:ext cx="9966960" cy="1280160"/>
          </a:xfrm>
          <a:prstGeom prst="rect">
            <a:avLst/>
          </a:prstGeom>
          <a:noFill/>
        </p:spPr>
        <p:txBody>
          <a:bodyPr wrap="square" anchor="t">
            <a:spAutoFit/>
          </a:bodyPr>
          <a:lstStyle/>
          <a:p>
            <a:pPr algn="l">
              <a:spcAft>
                <a:spcPts val="400"/>
              </a:spcAft>
            </a:pPr>
            <a:r>
              <a:rPr sz="1700" b="0">
                <a:solidFill>
                  <a:srgbClr val="161B26"/>
                </a:solidFill>
                <a:latin typeface="Arial"/>
              </a:rPr>
              <a:t>Your plan gives each stakeholder a specific frequency and channel, uses push and pull deliberately, and your three message versions genuinely differ in what they lead with.</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Project Execution and Delivery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Turn raw project data into work performance information and reports.</a:t>
            </a:r>
          </a:p>
          <a:p>
            <a:pPr>
              <a:spcAft>
                <a:spcPts val="1000"/>
              </a:spcAft>
            </a:pPr>
            <a:r>
              <a:rPr sz="1600">
                <a:solidFill>
                  <a:srgbClr val="161B26"/>
                </a:solidFill>
                <a:latin typeface="Arial"/>
              </a:rPr>
              <a:t>•  Capture explicit and tacit knowledge so it is reusable by the organisation.</a:t>
            </a:r>
          </a:p>
          <a:p>
            <a:pPr>
              <a:spcAft>
                <a:spcPts val="1000"/>
              </a:spcAft>
            </a:pPr>
            <a:r>
              <a:rPr sz="1600">
                <a:solidFill>
                  <a:srgbClr val="161B26"/>
                </a:solidFill>
                <a:latin typeface="Arial"/>
              </a:rPr>
              <a:t>•  Diagnose the root cause of a delivery problem, not just its symptoms.</a:t>
            </a:r>
          </a:p>
          <a:p>
            <a:pPr>
              <a:spcAft>
                <a:spcPts val="1000"/>
              </a:spcAft>
            </a:pPr>
            <a:r>
              <a:rPr sz="1600">
                <a:solidFill>
                  <a:srgbClr val="161B26"/>
                </a:solidFill>
                <a:latin typeface="Arial"/>
              </a:rPr>
              <a:t>•  Structure an improvement cycle and control the result.</a:t>
            </a:r>
          </a:p>
          <a:p>
            <a:pPr>
              <a:spcAft>
                <a:spcPts val="1000"/>
              </a:spcAft>
            </a:pPr>
            <a:r>
              <a:rPr sz="1600">
                <a:solidFill>
                  <a:srgbClr val="161B26"/>
                </a:solidFill>
                <a:latin typeface="Arial"/>
              </a:rPr>
              <a:t>•  Resolve over-allocation and budget pressure by modelling options with GenAI (K3).</a:t>
            </a:r>
          </a:p>
          <a:p>
            <a:pPr>
              <a:spcAft>
                <a:spcPts val="1000"/>
              </a:spcAft>
            </a:pPr>
            <a:r>
              <a:rPr sz="1600">
                <a:solidFill>
                  <a:srgbClr val="161B26"/>
                </a:solidFill>
                <a:latin typeface="Arial"/>
              </a:rPr>
              <a:t>•  Advise staff in resolving challenges during project delivery (A2).</a:t>
            </a:r>
          </a:p>
          <a:p>
            <a:pPr>
              <a:spcAft>
                <a:spcPts val="1000"/>
              </a:spcAft>
            </a:pPr>
            <a:r>
              <a:rPr sz="1600">
                <a:solidFill>
                  <a:srgbClr val="161B26"/>
                </a:solidFill>
                <a:latin typeface="Arial"/>
              </a:rPr>
              <a:t>•  Build a communications plan that matches each stakeholder's real needs.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F59E0B"/>
                </a:solidFill>
                <a:latin typeface="Arial"/>
              </a:rPr>
              <a:t>15 minutes</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opic-03-risk-management.png"/>
          <p:cNvPicPr>
            <a:picLocks noChangeAspect="1"/>
          </p:cNvPicPr>
          <p:nvPr/>
        </p:nvPicPr>
        <p:blipFill>
          <a:blip r:embed="rId2"/>
          <a:stretch>
            <a:fillRect/>
          </a:stretch>
        </p:blipFill>
        <p:spPr>
          <a:xfrm>
            <a:off x="0" y="0"/>
            <a:ext cx="12191695" cy="6858000"/>
          </a:xfrm>
          <a:prstGeom prst="rect">
            <a:avLst/>
          </a:prstGeom>
        </p:spPr>
      </p:pic>
      <p:sp>
        <p:nvSpPr>
          <p:cNvPr id="4" name="Rectangle 3"/>
          <p:cNvSpPr/>
          <p:nvPr/>
        </p:nvSpPr>
        <p:spPr>
          <a:xfrm>
            <a:off x="0" y="0"/>
            <a:ext cx="530352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309360"/>
            <a:ext cx="12191695"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2331720"/>
            <a:ext cx="406908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9" name="TextBox 8"/>
          <p:cNvSpPr txBox="1"/>
          <p:nvPr/>
        </p:nvSpPr>
        <p:spPr>
          <a:xfrm>
            <a:off x="1143000" y="2743200"/>
            <a:ext cx="4069080" cy="1463040"/>
          </a:xfrm>
          <a:prstGeom prst="rect">
            <a:avLst/>
          </a:prstGeom>
          <a:noFill/>
        </p:spPr>
        <p:txBody>
          <a:bodyPr wrap="square" anchor="t">
            <a:spAutoFit/>
          </a:bodyPr>
          <a:lstStyle/>
          <a:p>
            <a:pPr algn="l">
              <a:spcAft>
                <a:spcPts val="400"/>
              </a:spcAft>
            </a:pPr>
            <a:r>
              <a:rPr sz="3400" b="1">
                <a:solidFill>
                  <a:srgbClr val="161B26"/>
                </a:solidFill>
                <a:latin typeface="Arial"/>
              </a:rPr>
              <a:t>Managing Project Risks with GenAI</a:t>
            </a:r>
          </a:p>
        </p:txBody>
      </p:sp>
      <p:sp>
        <p:nvSpPr>
          <p:cNvPr id="10" name="TextBox 9"/>
          <p:cNvSpPr txBox="1"/>
          <p:nvPr/>
        </p:nvSpPr>
        <p:spPr>
          <a:xfrm>
            <a:off x="1161288" y="4343400"/>
            <a:ext cx="4114800" cy="822960"/>
          </a:xfrm>
          <a:prstGeom prst="rect">
            <a:avLst/>
          </a:prstGeom>
          <a:noFill/>
        </p:spPr>
        <p:txBody>
          <a:bodyPr wrap="square" anchor="t">
            <a:spAutoFit/>
          </a:bodyPr>
          <a:lstStyle/>
          <a:p>
            <a:pPr algn="l">
              <a:spcAft>
                <a:spcPts val="400"/>
              </a:spcAft>
            </a:pPr>
            <a:r>
              <a:rPr sz="1400" b="0">
                <a:solidFill>
                  <a:srgbClr val="5B6372"/>
                </a:solidFill>
                <a:latin typeface="Arial"/>
              </a:rPr>
              <a:t>Risk · procurement · monitoring &amp; control · earned value · closure</a:t>
            </a:r>
          </a:p>
        </p:txBody>
      </p:sp>
      <p:sp>
        <p:nvSpPr>
          <p:cNvPr id="11" name="TextBox 10"/>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K1, A3, A4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Concepts — Topic 03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2811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1991106"/>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199110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763524"/>
          </a:xfrm>
          <a:prstGeom prst="rect">
            <a:avLst/>
          </a:prstGeom>
          <a:noFill/>
        </p:spPr>
        <p:txBody>
          <a:bodyPr wrap="square" anchor="ctr">
            <a:spAutoFit/>
          </a:bodyPr>
          <a:lstStyle/>
          <a:p>
            <a:pPr algn="l">
              <a:spcAft>
                <a:spcPts val="300"/>
              </a:spcAft>
            </a:pPr>
            <a:r>
              <a:rPr sz="1400" b="1">
                <a:solidFill>
                  <a:srgbClr val="161B26"/>
                </a:solidFill>
                <a:latin typeface="Arial"/>
              </a:rPr>
              <a:t>Risk vs issue</a:t>
            </a:r>
          </a:p>
          <a:p>
            <a:pPr algn="l">
              <a:spcAft>
                <a:spcPts val="300"/>
              </a:spcAft>
            </a:pPr>
            <a:r>
              <a:rPr sz="1000" b="0">
                <a:solidFill>
                  <a:srgbClr val="5B6372"/>
                </a:solidFill>
                <a:latin typeface="Arial"/>
              </a:rPr>
              <a:t>Risks are future and may be positive or negative (risk register); issues are present and always negative (issue log).</a:t>
            </a:r>
          </a:p>
        </p:txBody>
      </p:sp>
      <p:sp>
        <p:nvSpPr>
          <p:cNvPr id="12" name="Rectangle 11"/>
          <p:cNvSpPr/>
          <p:nvPr/>
        </p:nvSpPr>
        <p:spPr>
          <a:xfrm>
            <a:off x="6231636" y="1783080"/>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281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199110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199110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763524"/>
          </a:xfrm>
          <a:prstGeom prst="rect">
            <a:avLst/>
          </a:prstGeom>
          <a:noFill/>
        </p:spPr>
        <p:txBody>
          <a:bodyPr wrap="square" anchor="ctr">
            <a:spAutoFit/>
          </a:bodyPr>
          <a:lstStyle/>
          <a:p>
            <a:pPr algn="l">
              <a:spcAft>
                <a:spcPts val="300"/>
              </a:spcAft>
            </a:pPr>
            <a:r>
              <a:rPr sz="1400" b="1">
                <a:solidFill>
                  <a:srgbClr val="161B26"/>
                </a:solidFill>
                <a:latin typeface="Arial"/>
              </a:rPr>
              <a:t>Identify and analyse risk</a:t>
            </a:r>
          </a:p>
          <a:p>
            <a:pPr algn="l">
              <a:spcAft>
                <a:spcPts val="300"/>
              </a:spcAft>
            </a:pPr>
            <a:r>
              <a:rPr sz="1000" b="0">
                <a:solidFill>
                  <a:srgbClr val="5B6372"/>
                </a:solidFill>
                <a:latin typeface="Arial"/>
              </a:rPr>
              <a:t>RBS, brainstorming, SWOT and the Delphi technique; qualitative probability/impact then quantitative analysis.</a:t>
            </a:r>
          </a:p>
        </p:txBody>
      </p:sp>
      <p:sp>
        <p:nvSpPr>
          <p:cNvPr id="17" name="Rectangle 16"/>
          <p:cNvSpPr/>
          <p:nvPr/>
        </p:nvSpPr>
        <p:spPr>
          <a:xfrm>
            <a:off x="777240" y="2930652"/>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0652"/>
            <a:ext cx="91440" cy="9281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138678"/>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13867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040380"/>
            <a:ext cx="4027932" cy="763524"/>
          </a:xfrm>
          <a:prstGeom prst="rect">
            <a:avLst/>
          </a:prstGeom>
          <a:noFill/>
        </p:spPr>
        <p:txBody>
          <a:bodyPr wrap="square" anchor="ctr">
            <a:spAutoFit/>
          </a:bodyPr>
          <a:lstStyle/>
          <a:p>
            <a:pPr algn="l">
              <a:spcAft>
                <a:spcPts val="300"/>
              </a:spcAft>
            </a:pPr>
            <a:r>
              <a:rPr sz="1400" b="1">
                <a:solidFill>
                  <a:srgbClr val="161B26"/>
                </a:solidFill>
                <a:latin typeface="Arial"/>
              </a:rPr>
              <a:t>Quantitative analysis</a:t>
            </a:r>
          </a:p>
          <a:p>
            <a:pPr algn="l">
              <a:spcAft>
                <a:spcPts val="300"/>
              </a:spcAft>
            </a:pPr>
            <a:r>
              <a:rPr sz="1000" b="0">
                <a:solidFill>
                  <a:srgbClr val="5B6372"/>
                </a:solidFill>
                <a:latin typeface="Arial"/>
              </a:rPr>
              <a:t>Sensitivity (tornado) charts and decision-tree expected monetary value.</a:t>
            </a:r>
          </a:p>
        </p:txBody>
      </p:sp>
      <p:sp>
        <p:nvSpPr>
          <p:cNvPr id="22" name="Rectangle 21"/>
          <p:cNvSpPr/>
          <p:nvPr/>
        </p:nvSpPr>
        <p:spPr>
          <a:xfrm>
            <a:off x="6231636" y="2930652"/>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0652"/>
            <a:ext cx="91440" cy="92811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138678"/>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13867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040380"/>
            <a:ext cx="4027932" cy="763524"/>
          </a:xfrm>
          <a:prstGeom prst="rect">
            <a:avLst/>
          </a:prstGeom>
          <a:noFill/>
        </p:spPr>
        <p:txBody>
          <a:bodyPr wrap="square" anchor="ctr">
            <a:spAutoFit/>
          </a:bodyPr>
          <a:lstStyle/>
          <a:p>
            <a:pPr algn="l">
              <a:spcAft>
                <a:spcPts val="300"/>
              </a:spcAft>
            </a:pPr>
            <a:r>
              <a:rPr sz="1400" b="1">
                <a:solidFill>
                  <a:srgbClr val="161B26"/>
                </a:solidFill>
                <a:latin typeface="Arial"/>
              </a:rPr>
              <a:t>Plan risk responses</a:t>
            </a:r>
          </a:p>
          <a:p>
            <a:pPr algn="l">
              <a:spcAft>
                <a:spcPts val="300"/>
              </a:spcAft>
            </a:pPr>
            <a:r>
              <a:rPr sz="1000" b="0">
                <a:solidFill>
                  <a:srgbClr val="5B6372"/>
                </a:solidFill>
                <a:latin typeface="Arial"/>
              </a:rPr>
              <a:t>Avoid, transfer, mitigate, accept — escalate, exploit, share, enhance; secondary and residual risk.</a:t>
            </a:r>
          </a:p>
        </p:txBody>
      </p:sp>
      <p:sp>
        <p:nvSpPr>
          <p:cNvPr id="27" name="Rectangle 26"/>
          <p:cNvSpPr/>
          <p:nvPr/>
        </p:nvSpPr>
        <p:spPr>
          <a:xfrm>
            <a:off x="777240" y="4078224"/>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78224"/>
            <a:ext cx="91440" cy="92811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428625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428625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187952"/>
            <a:ext cx="4027932" cy="763524"/>
          </a:xfrm>
          <a:prstGeom prst="rect">
            <a:avLst/>
          </a:prstGeom>
          <a:noFill/>
        </p:spPr>
        <p:txBody>
          <a:bodyPr wrap="square" anchor="ctr">
            <a:spAutoFit/>
          </a:bodyPr>
          <a:lstStyle/>
          <a:p>
            <a:pPr algn="l">
              <a:spcAft>
                <a:spcPts val="300"/>
              </a:spcAft>
            </a:pPr>
            <a:r>
              <a:rPr sz="1400" b="1">
                <a:solidFill>
                  <a:srgbClr val="161B26"/>
                </a:solidFill>
                <a:latin typeface="Arial"/>
              </a:rPr>
              <a:t>Procurement</a:t>
            </a:r>
          </a:p>
          <a:p>
            <a:pPr algn="l">
              <a:spcAft>
                <a:spcPts val="300"/>
              </a:spcAft>
            </a:pPr>
            <a:r>
              <a:rPr sz="1000" b="0">
                <a:solidFill>
                  <a:srgbClr val="5B6372"/>
                </a:solidFill>
                <a:latin typeface="Arial"/>
              </a:rPr>
              <a:t>RFI/RFP/RFQ, contract types, claims and alternative dispute resolution.</a:t>
            </a:r>
          </a:p>
        </p:txBody>
      </p:sp>
      <p:sp>
        <p:nvSpPr>
          <p:cNvPr id="32" name="Rectangle 31"/>
          <p:cNvSpPr/>
          <p:nvPr/>
        </p:nvSpPr>
        <p:spPr>
          <a:xfrm>
            <a:off x="6231636" y="4078224"/>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78224"/>
            <a:ext cx="91440" cy="9281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428625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428625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187952"/>
            <a:ext cx="4027932" cy="763524"/>
          </a:xfrm>
          <a:prstGeom prst="rect">
            <a:avLst/>
          </a:prstGeom>
          <a:noFill/>
        </p:spPr>
        <p:txBody>
          <a:bodyPr wrap="square" anchor="ctr">
            <a:spAutoFit/>
          </a:bodyPr>
          <a:lstStyle/>
          <a:p>
            <a:pPr algn="l">
              <a:spcAft>
                <a:spcPts val="300"/>
              </a:spcAft>
            </a:pPr>
            <a:r>
              <a:rPr sz="1400" b="1">
                <a:solidFill>
                  <a:srgbClr val="161B26"/>
                </a:solidFill>
                <a:latin typeface="Arial"/>
              </a:rPr>
              <a:t>Monitor and control</a:t>
            </a:r>
          </a:p>
          <a:p>
            <a:pPr algn="l">
              <a:spcAft>
                <a:spcPts val="300"/>
              </a:spcAft>
            </a:pPr>
            <a:r>
              <a:rPr sz="1000" b="0">
                <a:solidFill>
                  <a:srgbClr val="5B6372"/>
                </a:solidFill>
                <a:latin typeface="Arial"/>
              </a:rPr>
              <a:t>Integrated change control, validate and control scope, schedule and cost.</a:t>
            </a:r>
          </a:p>
        </p:txBody>
      </p:sp>
      <p:sp>
        <p:nvSpPr>
          <p:cNvPr id="37" name="Rectangle 36"/>
          <p:cNvSpPr/>
          <p:nvPr/>
        </p:nvSpPr>
        <p:spPr>
          <a:xfrm>
            <a:off x="777240" y="5225796"/>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25796"/>
            <a:ext cx="91440" cy="9281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14984" y="5433822"/>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14984" y="543382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1" name="TextBox 40"/>
          <p:cNvSpPr txBox="1"/>
          <p:nvPr/>
        </p:nvSpPr>
        <p:spPr>
          <a:xfrm>
            <a:off x="1709928" y="5335524"/>
            <a:ext cx="4027932" cy="763524"/>
          </a:xfrm>
          <a:prstGeom prst="rect">
            <a:avLst/>
          </a:prstGeom>
          <a:noFill/>
        </p:spPr>
        <p:txBody>
          <a:bodyPr wrap="square" anchor="ctr">
            <a:spAutoFit/>
          </a:bodyPr>
          <a:lstStyle/>
          <a:p>
            <a:pPr algn="l">
              <a:spcAft>
                <a:spcPts val="300"/>
              </a:spcAft>
            </a:pPr>
            <a:r>
              <a:rPr sz="1400" b="1">
                <a:solidFill>
                  <a:srgbClr val="161B26"/>
                </a:solidFill>
                <a:latin typeface="Arial"/>
              </a:rPr>
              <a:t>Earned value analysis</a:t>
            </a:r>
          </a:p>
          <a:p>
            <a:pPr algn="l">
              <a:spcAft>
                <a:spcPts val="300"/>
              </a:spcAft>
            </a:pPr>
            <a:r>
              <a:rPr sz="1000" b="0">
                <a:solidFill>
                  <a:srgbClr val="5B6372"/>
                </a:solidFill>
                <a:latin typeface="Arial"/>
              </a:rPr>
              <a:t>PV, EV, AC; CV, SV, CPI, SPI; EAC and ETC forecasting.</a:t>
            </a:r>
          </a:p>
        </p:txBody>
      </p:sp>
      <p:sp>
        <p:nvSpPr>
          <p:cNvPr id="42" name="Rectangle 41"/>
          <p:cNvSpPr/>
          <p:nvPr/>
        </p:nvSpPr>
        <p:spPr>
          <a:xfrm>
            <a:off x="6231636" y="5225796"/>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25796"/>
            <a:ext cx="91440" cy="92811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69380" y="5433822"/>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69380" y="543382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6" name="TextBox 45"/>
          <p:cNvSpPr txBox="1"/>
          <p:nvPr/>
        </p:nvSpPr>
        <p:spPr>
          <a:xfrm>
            <a:off x="7164324" y="5335524"/>
            <a:ext cx="4027932" cy="763524"/>
          </a:xfrm>
          <a:prstGeom prst="rect">
            <a:avLst/>
          </a:prstGeom>
          <a:noFill/>
        </p:spPr>
        <p:txBody>
          <a:bodyPr wrap="square" anchor="ctr">
            <a:spAutoFit/>
          </a:bodyPr>
          <a:lstStyle/>
          <a:p>
            <a:pPr algn="l">
              <a:spcAft>
                <a:spcPts val="300"/>
              </a:spcAft>
            </a:pPr>
            <a:r>
              <a:rPr sz="1400" b="1">
                <a:solidFill>
                  <a:srgbClr val="161B26"/>
                </a:solidFill>
                <a:latin typeface="Arial"/>
              </a:rPr>
              <a:t>Control quality &amp; close</a:t>
            </a:r>
          </a:p>
          <a:p>
            <a:pPr algn="l">
              <a:spcAft>
                <a:spcPts val="300"/>
              </a:spcAft>
            </a:pPr>
            <a:r>
              <a:rPr sz="1000" b="0">
                <a:solidFill>
                  <a:srgbClr val="5B6372"/>
                </a:solidFill>
                <a:latin typeface="Arial"/>
              </a:rPr>
              <a:t>Check sheets, control charts and the rule of seven; then close the project and capture lessons learned.</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GenAI Activities — Topic 03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640080"/>
          </a:xfrm>
          <a:prstGeom prst="rect">
            <a:avLst/>
          </a:prstGeom>
          <a:noFill/>
        </p:spPr>
        <p:txBody>
          <a:bodyPr wrap="square" anchor="t">
            <a:spAutoFit/>
          </a:bodyPr>
          <a:lstStyle/>
          <a:p>
            <a:pPr algn="l">
              <a:spcAft>
                <a:spcPts val="400"/>
              </a:spcAft>
            </a:pPr>
            <a:r>
              <a:rPr sz="1800" b="1">
                <a:solidFill>
                  <a:srgbClr val="1F6FEB"/>
                </a:solidFill>
                <a:latin typeface="Arial"/>
              </a:rPr>
              <a:t>Activities 18–20</a:t>
            </a:r>
          </a:p>
        </p:txBody>
      </p:sp>
      <p:sp>
        <p:nvSpPr>
          <p:cNvPr id="10" name="TextBox 9"/>
          <p:cNvSpPr txBox="1"/>
          <p:nvPr/>
        </p:nvSpPr>
        <p:spPr>
          <a:xfrm>
            <a:off x="1005840" y="2743200"/>
            <a:ext cx="2926080" cy="3063240"/>
          </a:xfrm>
          <a:prstGeom prst="rect">
            <a:avLst/>
          </a:prstGeom>
          <a:noFill/>
        </p:spPr>
        <p:txBody>
          <a:bodyPr wrap="square">
            <a:spAutoFit/>
          </a:bodyPr>
          <a:lstStyle/>
          <a:p>
            <a:pPr>
              <a:spcAft>
                <a:spcPts val="900"/>
              </a:spcAft>
            </a:pPr>
            <a:r>
              <a:rPr sz="1300">
                <a:solidFill>
                  <a:srgbClr val="161B26"/>
                </a:solidFill>
                <a:latin typeface="Arial"/>
              </a:rPr>
              <a:t>•  Identify Project Risks with GenAI</a:t>
            </a:r>
          </a:p>
          <a:p>
            <a:pPr>
              <a:spcAft>
                <a:spcPts val="900"/>
              </a:spcAft>
            </a:pPr>
            <a:r>
              <a:rPr sz="1300">
                <a:solidFill>
                  <a:srgbClr val="161B26"/>
                </a:solidFill>
                <a:latin typeface="Arial"/>
              </a:rPr>
              <a:t>•  Qualitative Risk Analysis with GenAI</a:t>
            </a:r>
          </a:p>
          <a:p>
            <a:pPr>
              <a:spcAft>
                <a:spcPts val="900"/>
              </a:spcAft>
            </a:pPr>
            <a:r>
              <a:rPr sz="1300">
                <a:solidFill>
                  <a:srgbClr val="161B26"/>
                </a:solidFill>
                <a:latin typeface="Arial"/>
              </a:rPr>
              <a:t>•  Quantitative Risk Analysis with GenAI — Tornado Charts and Decision Trees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640080"/>
          </a:xfrm>
          <a:prstGeom prst="rect">
            <a:avLst/>
          </a:prstGeom>
          <a:noFill/>
        </p:spPr>
        <p:txBody>
          <a:bodyPr wrap="square" anchor="t">
            <a:spAutoFit/>
          </a:bodyPr>
          <a:lstStyle/>
          <a:p>
            <a:pPr algn="l">
              <a:spcAft>
                <a:spcPts val="400"/>
              </a:spcAft>
            </a:pPr>
            <a:r>
              <a:rPr sz="1800" b="1">
                <a:solidFill>
                  <a:srgbClr val="10B981"/>
                </a:solidFill>
                <a:latin typeface="Arial"/>
              </a:rPr>
              <a:t>Activities 21–23</a:t>
            </a:r>
          </a:p>
        </p:txBody>
      </p:sp>
      <p:sp>
        <p:nvSpPr>
          <p:cNvPr id="14" name="TextBox 13"/>
          <p:cNvSpPr txBox="1"/>
          <p:nvPr/>
        </p:nvSpPr>
        <p:spPr>
          <a:xfrm>
            <a:off x="4800600" y="2743200"/>
            <a:ext cx="2926080" cy="3063240"/>
          </a:xfrm>
          <a:prstGeom prst="rect">
            <a:avLst/>
          </a:prstGeom>
          <a:noFill/>
        </p:spPr>
        <p:txBody>
          <a:bodyPr wrap="square">
            <a:spAutoFit/>
          </a:bodyPr>
          <a:lstStyle/>
          <a:p>
            <a:pPr>
              <a:spcAft>
                <a:spcPts val="900"/>
              </a:spcAft>
            </a:pPr>
            <a:r>
              <a:rPr sz="1300">
                <a:solidFill>
                  <a:srgbClr val="161B26"/>
                </a:solidFill>
                <a:latin typeface="Arial"/>
              </a:rPr>
              <a:t>•  Plan Risk Responses with GenAI</a:t>
            </a:r>
          </a:p>
          <a:p>
            <a:pPr>
              <a:spcAft>
                <a:spcPts val="900"/>
              </a:spcAft>
            </a:pPr>
            <a:r>
              <a:rPr sz="1300">
                <a:solidFill>
                  <a:srgbClr val="161B26"/>
                </a:solidFill>
                <a:latin typeface="Arial"/>
              </a:rPr>
              <a:t>•  Plan Procurement and Manage Contracts with GenAI</a:t>
            </a:r>
          </a:p>
          <a:p>
            <a:pPr>
              <a:spcAft>
                <a:spcPts val="900"/>
              </a:spcAft>
            </a:pPr>
            <a:r>
              <a:rPr sz="1300">
                <a:solidFill>
                  <a:srgbClr val="161B26"/>
                </a:solidFill>
                <a:latin typeface="Arial"/>
              </a:rPr>
              <a:t>•  Earned Value Analysis with GenAI</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640080"/>
          </a:xfrm>
          <a:prstGeom prst="rect">
            <a:avLst/>
          </a:prstGeom>
          <a:noFill/>
        </p:spPr>
        <p:txBody>
          <a:bodyPr wrap="square" anchor="t">
            <a:spAutoFit/>
          </a:bodyPr>
          <a:lstStyle/>
          <a:p>
            <a:pPr algn="l">
              <a:spcAft>
                <a:spcPts val="400"/>
              </a:spcAft>
            </a:pPr>
            <a:r>
              <a:rPr sz="1800" b="1">
                <a:solidFill>
                  <a:srgbClr val="7C3AED"/>
                </a:solidFill>
                <a:latin typeface="Arial"/>
              </a:rPr>
              <a:t>Activities 24–25</a:t>
            </a:r>
          </a:p>
        </p:txBody>
      </p:sp>
      <p:sp>
        <p:nvSpPr>
          <p:cNvPr id="18" name="TextBox 17"/>
          <p:cNvSpPr txBox="1"/>
          <p:nvPr/>
        </p:nvSpPr>
        <p:spPr>
          <a:xfrm>
            <a:off x="8595360" y="2743200"/>
            <a:ext cx="2926080" cy="3063240"/>
          </a:xfrm>
          <a:prstGeom prst="rect">
            <a:avLst/>
          </a:prstGeom>
          <a:noFill/>
        </p:spPr>
        <p:txBody>
          <a:bodyPr wrap="square">
            <a:spAutoFit/>
          </a:bodyPr>
          <a:lstStyle/>
          <a:p>
            <a:pPr>
              <a:spcAft>
                <a:spcPts val="900"/>
              </a:spcAft>
            </a:pPr>
            <a:r>
              <a:rPr sz="1300">
                <a:solidFill>
                  <a:srgbClr val="161B26"/>
                </a:solidFill>
                <a:latin typeface="Arial"/>
              </a:rPr>
              <a:t>•  Control Quality with GenAI — Check Sheets and Control Charts</a:t>
            </a:r>
          </a:p>
          <a:p>
            <a:pPr>
              <a:spcAft>
                <a:spcPts val="900"/>
              </a:spcAft>
            </a:pPr>
            <a:r>
              <a:rPr sz="1300">
                <a:solidFill>
                  <a:srgbClr val="161B26"/>
                </a:solidFill>
                <a:latin typeface="Arial"/>
              </a:rPr>
              <a:t>•  Monitor, Control Change and Close the Project with GenAI</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9509760" cy="548640"/>
          </a:xfrm>
          <a:prstGeom prst="rect">
            <a:avLst/>
          </a:prstGeom>
          <a:noFill/>
        </p:spPr>
        <p:txBody>
          <a:bodyPr wrap="square" anchor="t">
            <a:spAutoFit/>
          </a:bodyPr>
          <a:lstStyle/>
          <a:p>
            <a:pPr algn="l">
              <a:spcAft>
                <a:spcPts val="400"/>
              </a:spcAft>
            </a:pPr>
            <a:r>
              <a:rPr sz="1800" b="1">
                <a:solidFill>
                  <a:srgbClr val="1F6FEB"/>
                </a:solidFill>
                <a:latin typeface="Arial"/>
              </a:rPr>
              <a:t>RISK</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3800" b="1">
                <a:solidFill>
                  <a:srgbClr val="161B26"/>
                </a:solidFill>
                <a:latin typeface="Arial"/>
              </a:rPr>
              <a:t>Identify and Analyse Project Risks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E11D48"/>
                </a:solidFill>
                <a:latin typeface="Arial"/>
              </a:rPr>
              <a:t>DEFINITION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is Project Risk?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Known and unknown causes</a:t>
            </a:r>
          </a:p>
          <a:p>
            <a:pPr algn="l">
              <a:spcAft>
                <a:spcPts val="300"/>
              </a:spcAft>
            </a:pPr>
            <a:r>
              <a:rPr sz="1200" b="0">
                <a:solidFill>
                  <a:srgbClr val="5B6372"/>
                </a:solidFill>
                <a:latin typeface="Arial"/>
              </a:rPr>
              <a:t>Risk originates inside and outside the business environment.</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Signalled by a trigger</a:t>
            </a:r>
          </a:p>
          <a:p>
            <a:pPr algn="l">
              <a:spcAft>
                <a:spcPts val="300"/>
              </a:spcAft>
            </a:pPr>
            <a:r>
              <a:rPr sz="1200" b="0">
                <a:solidFill>
                  <a:srgbClr val="5B6372"/>
                </a:solidFill>
                <a:latin typeface="Arial"/>
              </a:rPr>
              <a:t>A trigger condition indicates the risk is developing.</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Positive or negative</a:t>
            </a:r>
          </a:p>
          <a:p>
            <a:pPr algn="l">
              <a:spcAft>
                <a:spcPts val="300"/>
              </a:spcAft>
            </a:pPr>
            <a:r>
              <a:rPr sz="1200" b="0">
                <a:solidFill>
                  <a:srgbClr val="5B6372"/>
                </a:solidFill>
                <a:latin typeface="Arial"/>
              </a:rPr>
              <a:t>Risks can be opportunities as well as threats.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Becomes an issue</a:t>
            </a:r>
          </a:p>
          <a:p>
            <a:pPr algn="l">
              <a:spcAft>
                <a:spcPts val="300"/>
              </a:spcAft>
            </a:pPr>
            <a:r>
              <a:rPr sz="1200" b="0">
                <a:solidFill>
                  <a:srgbClr val="5B6372"/>
                </a:solidFill>
                <a:latin typeface="Arial"/>
              </a:rPr>
              <a:t>If a risk materialises it becomes an issue, and you must act.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 DISTINCTION THAT MATTERS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Risks vs Issues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36208" y="1783080"/>
            <a:ext cx="517550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36208" y="1783080"/>
            <a:ext cx="5175504" cy="914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011680"/>
            <a:ext cx="4754880" cy="365760"/>
          </a:xfrm>
          <a:prstGeom prst="rect">
            <a:avLst/>
          </a:prstGeom>
          <a:noFill/>
        </p:spPr>
        <p:txBody>
          <a:bodyPr wrap="square" anchor="t">
            <a:spAutoFit/>
          </a:bodyPr>
          <a:lstStyle/>
          <a:p>
            <a:pPr algn="l">
              <a:spcAft>
                <a:spcPts val="400"/>
              </a:spcAft>
            </a:pPr>
            <a:r>
              <a:rPr sz="1700" b="1">
                <a:solidFill>
                  <a:srgbClr val="F59E0B"/>
                </a:solidFill>
                <a:latin typeface="Arial"/>
              </a:rPr>
              <a:t>Risk</a:t>
            </a:r>
          </a:p>
        </p:txBody>
      </p:sp>
      <p:sp>
        <p:nvSpPr>
          <p:cNvPr id="12" name="TextBox 11"/>
          <p:cNvSpPr txBox="1"/>
          <p:nvPr/>
        </p:nvSpPr>
        <p:spPr>
          <a:xfrm>
            <a:off x="6464808" y="2011680"/>
            <a:ext cx="4663440" cy="365760"/>
          </a:xfrm>
          <a:prstGeom prst="rect">
            <a:avLst/>
          </a:prstGeom>
          <a:noFill/>
        </p:spPr>
        <p:txBody>
          <a:bodyPr wrap="square" anchor="t">
            <a:spAutoFit/>
          </a:bodyPr>
          <a:lstStyle/>
          <a:p>
            <a:pPr algn="l">
              <a:spcAft>
                <a:spcPts val="400"/>
              </a:spcAft>
            </a:pPr>
            <a:r>
              <a:rPr sz="1700" b="1">
                <a:solidFill>
                  <a:srgbClr val="E11D48"/>
                </a:solidFill>
                <a:latin typeface="Arial"/>
              </a:rPr>
              <a:t>Issue</a:t>
            </a:r>
          </a:p>
        </p:txBody>
      </p:sp>
      <p:sp>
        <p:nvSpPr>
          <p:cNvPr id="13" name="TextBox 12"/>
          <p:cNvSpPr txBox="1"/>
          <p:nvPr/>
        </p:nvSpPr>
        <p:spPr>
          <a:xfrm>
            <a:off x="1005840" y="2514600"/>
            <a:ext cx="4754880" cy="3383280"/>
          </a:xfrm>
          <a:prstGeom prst="rect">
            <a:avLst/>
          </a:prstGeom>
          <a:noFill/>
        </p:spPr>
        <p:txBody>
          <a:bodyPr wrap="square">
            <a:spAutoFit/>
          </a:bodyPr>
          <a:lstStyle/>
          <a:p>
            <a:pPr>
              <a:spcAft>
                <a:spcPts val="1000"/>
              </a:spcAft>
            </a:pPr>
            <a:r>
              <a:rPr sz="1500">
                <a:solidFill>
                  <a:srgbClr val="161B26"/>
                </a:solidFill>
                <a:latin typeface="Arial"/>
              </a:rPr>
              <a:t>•  RISKS</a:t>
            </a:r>
          </a:p>
          <a:p>
            <a:pPr>
              <a:spcAft>
                <a:spcPts val="1000"/>
              </a:spcAft>
            </a:pPr>
            <a:r>
              <a:rPr sz="1300">
                <a:solidFill>
                  <a:srgbClr val="5B6372"/>
                </a:solidFill>
                <a:latin typeface="Arial"/>
              </a:rPr>
              <a:t>–  Focused on the FUTURE</a:t>
            </a:r>
          </a:p>
          <a:p>
            <a:pPr>
              <a:spcAft>
                <a:spcPts val="1000"/>
              </a:spcAft>
            </a:pPr>
            <a:r>
              <a:rPr sz="1300">
                <a:solidFill>
                  <a:srgbClr val="5B6372"/>
                </a:solidFill>
                <a:latin typeface="Arial"/>
              </a:rPr>
              <a:t>–  Can be positive or negative</a:t>
            </a:r>
          </a:p>
          <a:p>
            <a:pPr>
              <a:spcAft>
                <a:spcPts val="1000"/>
              </a:spcAft>
            </a:pPr>
            <a:r>
              <a:rPr sz="1300">
                <a:solidFill>
                  <a:srgbClr val="5B6372"/>
                </a:solidFill>
                <a:latin typeface="Arial"/>
              </a:rPr>
              <a:t>–  Documented in the RISK REGISTER</a:t>
            </a:r>
          </a:p>
          <a:p>
            <a:pPr>
              <a:spcAft>
                <a:spcPts val="1000"/>
              </a:spcAft>
            </a:pPr>
            <a:r>
              <a:rPr sz="1300">
                <a:solidFill>
                  <a:srgbClr val="5B6372"/>
                </a:solidFill>
                <a:latin typeface="Arial"/>
              </a:rPr>
              <a:t>–  The response is called a 'risk response'</a:t>
            </a:r>
          </a:p>
          <a:p>
            <a:pPr>
              <a:spcAft>
                <a:spcPts val="1000"/>
              </a:spcAft>
            </a:pPr>
            <a:r>
              <a:rPr sz="1300">
                <a:solidFill>
                  <a:srgbClr val="5B6372"/>
                </a:solidFill>
                <a:latin typeface="Arial"/>
              </a:rPr>
              <a:t>–  You plan for them in advance</a:t>
            </a:r>
          </a:p>
        </p:txBody>
      </p:sp>
      <p:sp>
        <p:nvSpPr>
          <p:cNvPr id="14" name="TextBox 13"/>
          <p:cNvSpPr txBox="1"/>
          <p:nvPr/>
        </p:nvSpPr>
        <p:spPr>
          <a:xfrm>
            <a:off x="6464808" y="2514600"/>
            <a:ext cx="4709160" cy="3383280"/>
          </a:xfrm>
          <a:prstGeom prst="rect">
            <a:avLst/>
          </a:prstGeom>
          <a:noFill/>
        </p:spPr>
        <p:txBody>
          <a:bodyPr wrap="square">
            <a:spAutoFit/>
          </a:bodyPr>
          <a:lstStyle/>
          <a:p>
            <a:pPr>
              <a:spcAft>
                <a:spcPts val="1000"/>
              </a:spcAft>
            </a:pPr>
            <a:r>
              <a:rPr sz="1500">
                <a:solidFill>
                  <a:srgbClr val="161B26"/>
                </a:solidFill>
                <a:latin typeface="Arial"/>
              </a:rPr>
              <a:t>•  ISSUES</a:t>
            </a:r>
          </a:p>
          <a:p>
            <a:pPr>
              <a:spcAft>
                <a:spcPts val="1000"/>
              </a:spcAft>
            </a:pPr>
            <a:r>
              <a:rPr sz="1300">
                <a:solidFill>
                  <a:srgbClr val="5B6372"/>
                </a:solidFill>
                <a:latin typeface="Arial"/>
              </a:rPr>
              <a:t>–  Focused on the PRESENT</a:t>
            </a:r>
          </a:p>
          <a:p>
            <a:pPr>
              <a:spcAft>
                <a:spcPts val="1000"/>
              </a:spcAft>
            </a:pPr>
            <a:r>
              <a:rPr sz="1300">
                <a:solidFill>
                  <a:srgbClr val="5B6372"/>
                </a:solidFill>
                <a:latin typeface="Arial"/>
              </a:rPr>
              <a:t>–  Always negative</a:t>
            </a:r>
          </a:p>
          <a:p>
            <a:pPr>
              <a:spcAft>
                <a:spcPts val="1000"/>
              </a:spcAft>
            </a:pPr>
            <a:r>
              <a:rPr sz="1300">
                <a:solidFill>
                  <a:srgbClr val="5B6372"/>
                </a:solidFill>
                <a:latin typeface="Arial"/>
              </a:rPr>
              <a:t>–  Documented in the ISSUE LOG</a:t>
            </a:r>
          </a:p>
          <a:p>
            <a:pPr>
              <a:spcAft>
                <a:spcPts val="1000"/>
              </a:spcAft>
            </a:pPr>
            <a:r>
              <a:rPr sz="1300">
                <a:solidFill>
                  <a:srgbClr val="5B6372"/>
                </a:solidFill>
                <a:latin typeface="Arial"/>
              </a:rPr>
              <a:t>–  The response is called a 'workaround'</a:t>
            </a:r>
          </a:p>
          <a:p>
            <a:pPr>
              <a:spcAft>
                <a:spcPts val="1000"/>
              </a:spcAft>
            </a:pPr>
            <a:r>
              <a:rPr sz="1300">
                <a:solidFill>
                  <a:srgbClr val="5B6372"/>
                </a:solidFill>
                <a:latin typeface="Arial"/>
              </a:rPr>
              <a:t>–  You deal with them now</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E11D48"/>
                </a:solidFill>
                <a:latin typeface="Arial"/>
              </a:rPr>
              <a:t>WHY YOU PLAN FOR RISK</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600" b="1">
                <a:solidFill>
                  <a:srgbClr val="161B26"/>
                </a:solidFill>
                <a:latin typeface="Arial"/>
              </a:rPr>
              <a:t>Risk, like quality, is cheaper to fix early.</a:t>
            </a:r>
          </a:p>
        </p:txBody>
      </p:sp>
      <p:sp>
        <p:nvSpPr>
          <p:cNvPr id="6" name="TextBox 5"/>
          <p:cNvSpPr txBox="1"/>
          <p:nvPr/>
        </p:nvSpPr>
        <p:spPr>
          <a:xfrm>
            <a:off x="1024128" y="457200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A risk identified in planning can be designed out. The same risk discovered in execution costs you schedule, budget and credibility.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E11D48"/>
                </a:solidFill>
                <a:latin typeface="Arial"/>
              </a:rPr>
              <a:t>SIX TECHNIQUES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Risk Identification Techniques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Risk Breakdown Structure</a:t>
            </a:r>
          </a:p>
          <a:p>
            <a:pPr algn="l">
              <a:spcAft>
                <a:spcPts val="300"/>
              </a:spcAft>
            </a:pPr>
            <a:r>
              <a:rPr sz="1000" b="0">
                <a:solidFill>
                  <a:srgbClr val="5B6372"/>
                </a:solidFill>
                <a:latin typeface="Arial"/>
              </a:rPr>
              <a:t>A hierarchy of risk categories used as a checklist when brainstorming.</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Brainstorming</a:t>
            </a:r>
          </a:p>
          <a:p>
            <a:pPr algn="l">
              <a:spcAft>
                <a:spcPts val="300"/>
              </a:spcAft>
            </a:pPr>
            <a:r>
              <a:rPr sz="1000" b="0">
                <a:solidFill>
                  <a:srgbClr val="5B6372"/>
                </a:solidFill>
                <a:latin typeface="Arial"/>
              </a:rPr>
              <a:t>Generate risks freely with the team before filtering.</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22904"/>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Nominal group technique</a:t>
            </a:r>
          </a:p>
          <a:p>
            <a:pPr algn="l">
              <a:spcAft>
                <a:spcPts val="300"/>
              </a:spcAft>
            </a:pPr>
            <a:r>
              <a:rPr sz="1000" b="0">
                <a:solidFill>
                  <a:srgbClr val="5B6372"/>
                </a:solidFill>
                <a:latin typeface="Arial"/>
              </a:rPr>
              <a:t>Individuals rank risks privately, then scores are tallied.</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22904"/>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SWOT analysis</a:t>
            </a:r>
          </a:p>
          <a:p>
            <a:pPr algn="l">
              <a:spcAft>
                <a:spcPts val="300"/>
              </a:spcAft>
            </a:pPr>
            <a:r>
              <a:rPr sz="1000" b="0">
                <a:solidFill>
                  <a:srgbClr val="5B6372"/>
                </a:solidFill>
                <a:latin typeface="Arial"/>
              </a:rPr>
              <a:t>Strengths, Weaknesses, Opportunities, Threats.</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53000"/>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Assumption analysis</a:t>
            </a:r>
          </a:p>
          <a:p>
            <a:pPr algn="l">
              <a:spcAft>
                <a:spcPts val="300"/>
              </a:spcAft>
            </a:pPr>
            <a:r>
              <a:rPr sz="1000" b="0">
                <a:solidFill>
                  <a:srgbClr val="5B6372"/>
                </a:solidFill>
                <a:latin typeface="Arial"/>
              </a:rPr>
              <a:t>Every assumption in the plan is a risk if it proves false.</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53000"/>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Delphi technique</a:t>
            </a:r>
          </a:p>
          <a:p>
            <a:pPr algn="l">
              <a:spcAft>
                <a:spcPts val="300"/>
              </a:spcAft>
            </a:pPr>
            <a:r>
              <a:rPr sz="1000" b="0">
                <a:solidFill>
                  <a:srgbClr val="5B6372"/>
                </a:solidFill>
                <a:latin typeface="Arial"/>
              </a:rPr>
              <a:t>Anonymous expert input, iterated until consensus emerges.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207</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E11D48"/>
                </a:solidFill>
                <a:latin typeface="Arial"/>
              </a:rPr>
              <a:t>WHERE TO LOOK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Common Types of Project Risk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2811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1991106"/>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199110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781812"/>
          </a:xfrm>
          <a:prstGeom prst="rect">
            <a:avLst/>
          </a:prstGeom>
          <a:noFill/>
        </p:spPr>
        <p:txBody>
          <a:bodyPr wrap="square" anchor="ctr">
            <a:spAutoFit/>
          </a:bodyPr>
          <a:lstStyle/>
          <a:p>
            <a:pPr algn="l">
              <a:spcAft>
                <a:spcPts val="400"/>
              </a:spcAft>
            </a:pPr>
            <a:r>
              <a:rPr sz="1400" b="0">
                <a:solidFill>
                  <a:srgbClr val="161B26"/>
                </a:solidFill>
                <a:latin typeface="Arial"/>
              </a:rPr>
              <a:t>Budget, cost and exchange rate</a:t>
            </a:r>
          </a:p>
        </p:txBody>
      </p:sp>
      <p:sp>
        <p:nvSpPr>
          <p:cNvPr id="12" name="Rectangle 11"/>
          <p:cNvSpPr/>
          <p:nvPr/>
        </p:nvSpPr>
        <p:spPr>
          <a:xfrm>
            <a:off x="6231636" y="1783080"/>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281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199110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199110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781812"/>
          </a:xfrm>
          <a:prstGeom prst="rect">
            <a:avLst/>
          </a:prstGeom>
          <a:noFill/>
        </p:spPr>
        <p:txBody>
          <a:bodyPr wrap="square" anchor="ctr">
            <a:spAutoFit/>
          </a:bodyPr>
          <a:lstStyle/>
          <a:p>
            <a:pPr algn="l">
              <a:spcAft>
                <a:spcPts val="400"/>
              </a:spcAft>
            </a:pPr>
            <a:r>
              <a:rPr sz="1400" b="0">
                <a:solidFill>
                  <a:srgbClr val="161B26"/>
                </a:solidFill>
                <a:latin typeface="Arial"/>
              </a:rPr>
              <a:t>Schedule and project dependencies</a:t>
            </a:r>
          </a:p>
        </p:txBody>
      </p:sp>
      <p:sp>
        <p:nvSpPr>
          <p:cNvPr id="17" name="Rectangle 16"/>
          <p:cNvSpPr/>
          <p:nvPr/>
        </p:nvSpPr>
        <p:spPr>
          <a:xfrm>
            <a:off x="777240" y="2930652"/>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0652"/>
            <a:ext cx="91440" cy="9281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138678"/>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13867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022092"/>
            <a:ext cx="4027932" cy="781812"/>
          </a:xfrm>
          <a:prstGeom prst="rect">
            <a:avLst/>
          </a:prstGeom>
          <a:noFill/>
        </p:spPr>
        <p:txBody>
          <a:bodyPr wrap="square" anchor="ctr">
            <a:spAutoFit/>
          </a:bodyPr>
          <a:lstStyle/>
          <a:p>
            <a:pPr algn="l">
              <a:spcAft>
                <a:spcPts val="400"/>
              </a:spcAft>
            </a:pPr>
            <a:r>
              <a:rPr sz="1400" b="0">
                <a:solidFill>
                  <a:srgbClr val="161B26"/>
                </a:solidFill>
                <a:latin typeface="Arial"/>
              </a:rPr>
              <a:t>Scope creep and requirement risk</a:t>
            </a:r>
          </a:p>
        </p:txBody>
      </p:sp>
      <p:sp>
        <p:nvSpPr>
          <p:cNvPr id="22" name="Rectangle 21"/>
          <p:cNvSpPr/>
          <p:nvPr/>
        </p:nvSpPr>
        <p:spPr>
          <a:xfrm>
            <a:off x="6231636" y="2930652"/>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0652"/>
            <a:ext cx="91440" cy="92811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138678"/>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13867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022092"/>
            <a:ext cx="4027932" cy="781812"/>
          </a:xfrm>
          <a:prstGeom prst="rect">
            <a:avLst/>
          </a:prstGeom>
          <a:noFill/>
        </p:spPr>
        <p:txBody>
          <a:bodyPr wrap="square" anchor="ctr">
            <a:spAutoFit/>
          </a:bodyPr>
          <a:lstStyle/>
          <a:p>
            <a:pPr algn="l">
              <a:spcAft>
                <a:spcPts val="400"/>
              </a:spcAft>
            </a:pPr>
            <a:r>
              <a:rPr sz="1400" b="0">
                <a:solidFill>
                  <a:srgbClr val="161B26"/>
                </a:solidFill>
                <a:latin typeface="Arial"/>
              </a:rPr>
              <a:t>Technology, design and architecture</a:t>
            </a:r>
          </a:p>
        </p:txBody>
      </p:sp>
      <p:sp>
        <p:nvSpPr>
          <p:cNvPr id="27" name="Rectangle 26"/>
          <p:cNvSpPr/>
          <p:nvPr/>
        </p:nvSpPr>
        <p:spPr>
          <a:xfrm>
            <a:off x="777240" y="4078224"/>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78224"/>
            <a:ext cx="91440" cy="92811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428625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428625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169664"/>
            <a:ext cx="4027932" cy="781812"/>
          </a:xfrm>
          <a:prstGeom prst="rect">
            <a:avLst/>
          </a:prstGeom>
          <a:noFill/>
        </p:spPr>
        <p:txBody>
          <a:bodyPr wrap="square" anchor="ctr">
            <a:spAutoFit/>
          </a:bodyPr>
          <a:lstStyle/>
          <a:p>
            <a:pPr algn="l">
              <a:spcAft>
                <a:spcPts val="400"/>
              </a:spcAft>
            </a:pPr>
            <a:r>
              <a:rPr sz="1400" b="0">
                <a:solidFill>
                  <a:srgbClr val="161B26"/>
                </a:solidFill>
                <a:latin typeface="Arial"/>
              </a:rPr>
              <a:t>Supplier, procurement and contract</a:t>
            </a:r>
          </a:p>
        </p:txBody>
      </p:sp>
      <p:sp>
        <p:nvSpPr>
          <p:cNvPr id="32" name="Rectangle 31"/>
          <p:cNvSpPr/>
          <p:nvPr/>
        </p:nvSpPr>
        <p:spPr>
          <a:xfrm>
            <a:off x="6231636" y="4078224"/>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78224"/>
            <a:ext cx="91440" cy="9281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428625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428625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169664"/>
            <a:ext cx="4027932" cy="781812"/>
          </a:xfrm>
          <a:prstGeom prst="rect">
            <a:avLst/>
          </a:prstGeom>
          <a:noFill/>
        </p:spPr>
        <p:txBody>
          <a:bodyPr wrap="square" anchor="ctr">
            <a:spAutoFit/>
          </a:bodyPr>
          <a:lstStyle/>
          <a:p>
            <a:pPr algn="l">
              <a:spcAft>
                <a:spcPts val="400"/>
              </a:spcAft>
            </a:pPr>
            <a:r>
              <a:rPr sz="1400" b="0">
                <a:solidFill>
                  <a:srgbClr val="161B26"/>
                </a:solidFill>
                <a:latin typeface="Arial"/>
              </a:rPr>
              <a:t>Regulatory, legal and compliance</a:t>
            </a:r>
          </a:p>
        </p:txBody>
      </p:sp>
      <p:sp>
        <p:nvSpPr>
          <p:cNvPr id="37" name="Rectangle 36"/>
          <p:cNvSpPr/>
          <p:nvPr/>
        </p:nvSpPr>
        <p:spPr>
          <a:xfrm>
            <a:off x="777240" y="5225796"/>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25796"/>
            <a:ext cx="91440" cy="9281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14984" y="5433822"/>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14984" y="543382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1" name="TextBox 40"/>
          <p:cNvSpPr txBox="1"/>
          <p:nvPr/>
        </p:nvSpPr>
        <p:spPr>
          <a:xfrm>
            <a:off x="1709928" y="5317236"/>
            <a:ext cx="4027932" cy="781812"/>
          </a:xfrm>
          <a:prstGeom prst="rect">
            <a:avLst/>
          </a:prstGeom>
          <a:noFill/>
        </p:spPr>
        <p:txBody>
          <a:bodyPr wrap="square" anchor="ctr">
            <a:spAutoFit/>
          </a:bodyPr>
          <a:lstStyle/>
          <a:p>
            <a:pPr algn="l">
              <a:spcAft>
                <a:spcPts val="400"/>
              </a:spcAft>
            </a:pPr>
            <a:r>
              <a:rPr sz="1400" b="0">
                <a:solidFill>
                  <a:srgbClr val="161B26"/>
                </a:solidFill>
                <a:latin typeface="Arial"/>
              </a:rPr>
              <a:t>Resource, skill and sponsor support</a:t>
            </a:r>
          </a:p>
        </p:txBody>
      </p:sp>
      <p:sp>
        <p:nvSpPr>
          <p:cNvPr id="42" name="Rectangle 41"/>
          <p:cNvSpPr/>
          <p:nvPr/>
        </p:nvSpPr>
        <p:spPr>
          <a:xfrm>
            <a:off x="6231636" y="5225796"/>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25796"/>
            <a:ext cx="91440" cy="92811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69380" y="5433822"/>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69380" y="543382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6" name="TextBox 45"/>
          <p:cNvSpPr txBox="1"/>
          <p:nvPr/>
        </p:nvSpPr>
        <p:spPr>
          <a:xfrm>
            <a:off x="7164324" y="5317236"/>
            <a:ext cx="4027932" cy="781812"/>
          </a:xfrm>
          <a:prstGeom prst="rect">
            <a:avLst/>
          </a:prstGeom>
          <a:noFill/>
        </p:spPr>
        <p:txBody>
          <a:bodyPr wrap="square" anchor="ctr">
            <a:spAutoFit/>
          </a:bodyPr>
          <a:lstStyle/>
          <a:p>
            <a:pPr algn="l">
              <a:spcAft>
                <a:spcPts val="400"/>
              </a:spcAft>
            </a:pPr>
            <a:r>
              <a:rPr sz="1400" b="0">
                <a:solidFill>
                  <a:srgbClr val="161B26"/>
                </a:solidFill>
                <a:latin typeface="Arial"/>
              </a:rPr>
              <a:t>Quality, security and reputation</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208</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CAUSE → EVENT → EFFECT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Writing a Proper Risk Statement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a:solidFill>
                  <a:srgbClr val="161B26"/>
                </a:solidFill>
                <a:latin typeface="Arial"/>
              </a:rPr>
              <a:t>•  A risk is not a single word. 'Vendor' is not a risk.</a:t>
            </a:r>
          </a:p>
          <a:p>
            <a:pPr>
              <a:spcAft>
                <a:spcPts val="1000"/>
              </a:spcAft>
            </a:pPr>
            <a:r>
              <a:rPr sz="1700">
                <a:solidFill>
                  <a:srgbClr val="161B26"/>
                </a:solidFill>
                <a:latin typeface="Arial"/>
              </a:rPr>
              <a:t>•  Use the structure: CAUSE → RISK EVENT → EFFECT.</a:t>
            </a:r>
          </a:p>
          <a:p>
            <a:pPr>
              <a:spcAft>
                <a:spcPts val="1000"/>
              </a:spcAft>
            </a:pPr>
            <a:r>
              <a:rPr sz="1700">
                <a:solidFill>
                  <a:srgbClr val="161B26"/>
                </a:solidFill>
                <a:latin typeface="Arial"/>
              </a:rPr>
              <a:t>•  'Because the vendor has only one integration engineer, their resource may be unavailable in December, delaying UAT by two weeks.'</a:t>
            </a:r>
          </a:p>
          <a:p>
            <a:pPr>
              <a:spcAft>
                <a:spcPts val="1000"/>
              </a:spcAft>
            </a:pPr>
            <a:r>
              <a:rPr sz="1700">
                <a:solidFill>
                  <a:srgbClr val="161B26"/>
                </a:solidFill>
                <a:latin typeface="Arial"/>
              </a:rPr>
              <a:t>•  Now it is specific enough to assign an owner, a trigger and a response.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209</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ACTIVITY 18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Identify Project Risks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18</a:t>
            </a:r>
          </a:p>
        </p:txBody>
      </p:sp>
      <p:sp>
        <p:nvSpPr>
          <p:cNvPr id="9" name="TextBox 8"/>
          <p:cNvSpPr txBox="1"/>
          <p:nvPr/>
        </p:nvSpPr>
        <p:spPr>
          <a:xfrm>
            <a:off x="777240" y="2331720"/>
            <a:ext cx="10698480" cy="1554480"/>
          </a:xfrm>
          <a:prstGeom prst="rect">
            <a:avLst/>
          </a:prstGeom>
          <a:noFill/>
        </p:spPr>
        <p:txBody>
          <a:bodyPr wrap="square" anchor="t">
            <a:spAutoFit/>
          </a:bodyPr>
          <a:lstStyle/>
          <a:p>
            <a:pPr algn="l">
              <a:spcAft>
                <a:spcPts val="400"/>
              </a:spcAft>
            </a:pPr>
            <a:r>
              <a:rPr sz="1900" b="0">
                <a:solidFill>
                  <a:srgbClr val="161B26"/>
                </a:solidFill>
                <a:latin typeface="Arial"/>
              </a:rPr>
              <a:t>GenAI is genuinely excellent at risk identification — it will suggest risks your team would never think of. It is correspondingly poor at knowing which of them matter to you. You will use both facts.</a:t>
            </a:r>
          </a:p>
        </p:txBody>
      </p:sp>
      <p:sp>
        <p:nvSpPr>
          <p:cNvPr id="10" name="Rectangle 9"/>
          <p:cNvSpPr/>
          <p:nvPr/>
        </p:nvSpPr>
        <p:spPr>
          <a:xfrm>
            <a:off x="777240" y="3977639"/>
            <a:ext cx="10634472" cy="17830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60520"/>
            <a:ext cx="10058400" cy="365760"/>
          </a:xfrm>
          <a:prstGeom prst="rect">
            <a:avLst/>
          </a:prstGeom>
          <a:noFill/>
        </p:spPr>
        <p:txBody>
          <a:bodyPr wrap="square" anchor="t">
            <a:spAutoFit/>
          </a:bodyPr>
          <a:lstStyle/>
          <a:p>
            <a:pPr algn="l">
              <a:spcAft>
                <a:spcPts val="400"/>
              </a:spcAft>
            </a:pPr>
            <a:r>
              <a:rPr sz="1300" b="1">
                <a:solidFill>
                  <a:srgbClr val="127A3E"/>
                </a:solidFill>
                <a:latin typeface="Arial"/>
              </a:rPr>
              <a:t>You'll produce</a:t>
            </a:r>
          </a:p>
        </p:txBody>
      </p:sp>
      <p:sp>
        <p:nvSpPr>
          <p:cNvPr id="12" name="TextBox 11"/>
          <p:cNvSpPr txBox="1"/>
          <p:nvPr/>
        </p:nvSpPr>
        <p:spPr>
          <a:xfrm>
            <a:off x="1005840" y="4498848"/>
            <a:ext cx="10149840" cy="685800"/>
          </a:xfrm>
          <a:prstGeom prst="rect">
            <a:avLst/>
          </a:prstGeom>
          <a:noFill/>
        </p:spPr>
        <p:txBody>
          <a:bodyPr wrap="square" anchor="t">
            <a:spAutoFit/>
          </a:bodyPr>
          <a:lstStyle/>
          <a:p>
            <a:pPr algn="l">
              <a:spcAft>
                <a:spcPts val="400"/>
              </a:spcAft>
            </a:pPr>
            <a:r>
              <a:rPr sz="1700" b="1">
                <a:solidFill>
                  <a:srgbClr val="161B26"/>
                </a:solidFill>
                <a:latin typeface="Arial"/>
              </a:rPr>
              <a:t>A populated risk register with risks sourced from GenAI and from your team.</a:t>
            </a:r>
          </a:p>
        </p:txBody>
      </p:sp>
      <p:sp>
        <p:nvSpPr>
          <p:cNvPr id="13" name="TextBox 12"/>
          <p:cNvSpPr txBox="1"/>
          <p:nvPr/>
        </p:nvSpPr>
        <p:spPr>
          <a:xfrm>
            <a:off x="1005840" y="5257800"/>
            <a:ext cx="10241280" cy="4572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GenAI tool · Project Manager Buddy GPT · Risk Register template</a:t>
            </a:r>
          </a:p>
        </p:txBody>
      </p:sp>
      <p:sp>
        <p:nvSpPr>
          <p:cNvPr id="14" name="TextBox 13"/>
          <p:cNvSpPr txBox="1"/>
          <p:nvPr/>
        </p:nvSpPr>
        <p:spPr>
          <a:xfrm>
            <a:off x="777240" y="5897880"/>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Step-by-step instructions: see your Learner Guide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210</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03 · ACTIVITY 18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Identify Project Risks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18</a:t>
            </a:r>
          </a:p>
        </p:txBody>
      </p:sp>
      <p:sp>
        <p:nvSpPr>
          <p:cNvPr id="9" name="TextBox 8"/>
          <p:cNvSpPr txBox="1"/>
          <p:nvPr/>
        </p:nvSpPr>
        <p:spPr>
          <a:xfrm>
            <a:off x="777240" y="2286000"/>
            <a:ext cx="10607040" cy="365760"/>
          </a:xfrm>
          <a:prstGeom prst="rect">
            <a:avLst/>
          </a:prstGeom>
          <a:noFill/>
        </p:spPr>
        <p:txBody>
          <a:bodyPr wrap="square" anchor="t">
            <a:spAutoFit/>
          </a:bodyPr>
          <a:lstStyle/>
          <a:p>
            <a:pPr algn="l">
              <a:spcAft>
                <a:spcPts val="400"/>
              </a:spcAft>
            </a:pPr>
            <a:r>
              <a:rPr sz="1200" b="1">
                <a:solidFill>
                  <a:srgbClr val="7C3AED"/>
                </a:solidFill>
                <a:latin typeface="Arial"/>
              </a:rPr>
              <a:t>PROMPT GenAI WITH</a:t>
            </a:r>
          </a:p>
        </p:txBody>
      </p:sp>
      <p:sp>
        <p:nvSpPr>
          <p:cNvPr id="10" name="Rectangle 9"/>
          <p:cNvSpPr/>
          <p:nvPr/>
        </p:nvSpPr>
        <p:spPr>
          <a:xfrm>
            <a:off x="777240" y="2651760"/>
            <a:ext cx="10634472" cy="19659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88920"/>
            <a:ext cx="10104120" cy="1691640"/>
          </a:xfrm>
          <a:prstGeom prst="rect">
            <a:avLst/>
          </a:prstGeom>
          <a:noFill/>
        </p:spPr>
        <p:txBody>
          <a:bodyPr wrap="square" anchor="ctr">
            <a:spAutoFit/>
          </a:bodyPr>
          <a:lstStyle/>
          <a:p>
            <a:pPr algn="l">
              <a:spcAft>
                <a:spcPts val="400"/>
              </a:spcAft>
            </a:pPr>
            <a:r>
              <a:rPr sz="1600" b="0">
                <a:solidFill>
                  <a:srgbClr val="D6E4FF"/>
                </a:solidFill>
                <a:latin typeface="Arial"/>
              </a:rPr>
              <a:t>Act as an expert project manager in the [industry] working on a [project type]. Use the supplied project facts to draft a risk register covering cause, event, effect, category, owner and evidence. Separate facts from assumptions.</a:t>
            </a:r>
          </a:p>
        </p:txBody>
      </p:sp>
      <p:sp>
        <p:nvSpPr>
          <p:cNvPr id="12" name="Rectangle 11"/>
          <p:cNvSpPr/>
          <p:nvPr/>
        </p:nvSpPr>
        <p:spPr>
          <a:xfrm>
            <a:off x="777240" y="4800600"/>
            <a:ext cx="10634472" cy="1051560"/>
          </a:xfrm>
          <a:prstGeom prst="rect">
            <a:avLst/>
          </a:prstGeom>
          <a:solidFill>
            <a:srgbClr val="FFF4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4919472"/>
            <a:ext cx="10149840" cy="320040"/>
          </a:xfrm>
          <a:prstGeom prst="rect">
            <a:avLst/>
          </a:prstGeom>
          <a:noFill/>
        </p:spPr>
        <p:txBody>
          <a:bodyPr wrap="square" anchor="t">
            <a:spAutoFit/>
          </a:bodyPr>
          <a:lstStyle/>
          <a:p>
            <a:pPr algn="l">
              <a:spcAft>
                <a:spcPts val="400"/>
              </a:spcAft>
            </a:pPr>
            <a:r>
              <a:rPr sz="1200" b="1">
                <a:solidFill>
                  <a:srgbClr val="F59E0B"/>
                </a:solidFill>
                <a:latin typeface="Arial"/>
              </a:rPr>
              <a:t>⚠  THEN CHECK IT</a:t>
            </a:r>
          </a:p>
        </p:txBody>
      </p:sp>
      <p:sp>
        <p:nvSpPr>
          <p:cNvPr id="14" name="TextBox 13"/>
          <p:cNvSpPr txBox="1"/>
          <p:nvPr/>
        </p:nvSpPr>
        <p:spPr>
          <a:xfrm>
            <a:off x="1051560" y="5230368"/>
            <a:ext cx="10149840" cy="548640"/>
          </a:xfrm>
          <a:prstGeom prst="rect">
            <a:avLst/>
          </a:prstGeom>
          <a:noFill/>
        </p:spPr>
        <p:txBody>
          <a:bodyPr wrap="square" anchor="t">
            <a:spAutoFit/>
          </a:bodyPr>
          <a:lstStyle/>
          <a:p>
            <a:pPr algn="l">
              <a:spcAft>
                <a:spcPts val="400"/>
              </a:spcAft>
            </a:pPr>
            <a:r>
              <a:rPr sz="1400" b="0">
                <a:solidFill>
                  <a:srgbClr val="161B26"/>
                </a:solidFill>
                <a:latin typeface="Arial"/>
              </a:rPr>
              <a:t>GenAI gives you a fast first draft. Check every figure, source and assumption before you use it.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211</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18 · CHECK YOUR 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Identify Project Risks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34472"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9" name="TextBox 8"/>
          <p:cNvSpPr txBox="1"/>
          <p:nvPr/>
        </p:nvSpPr>
        <p:spPr>
          <a:xfrm>
            <a:off x="1097280" y="3017520"/>
            <a:ext cx="9966960" cy="1280160"/>
          </a:xfrm>
          <a:prstGeom prst="rect">
            <a:avLst/>
          </a:prstGeom>
          <a:noFill/>
        </p:spPr>
        <p:txBody>
          <a:bodyPr wrap="square" anchor="t">
            <a:spAutoFit/>
          </a:bodyPr>
          <a:lstStyle/>
          <a:p>
            <a:pPr algn="l">
              <a:spcAft>
                <a:spcPts val="400"/>
              </a:spcAft>
            </a:pPr>
            <a:r>
              <a:rPr sz="1700" b="0">
                <a:solidFill>
                  <a:srgbClr val="161B26"/>
                </a:solidFill>
                <a:latin typeface="Arial"/>
              </a:rPr>
              <a:t>Your register has risks from both sources, every entry is written as cause → event → effect with an owner, and you can name one risk your team found that the AI missed.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212</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E11D48"/>
                </a:solidFill>
                <a:latin typeface="Arial"/>
              </a:rPr>
              <a:t>PRIORITISING RISK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Qualitative Risk Analysis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Do it first</a:t>
            </a:r>
          </a:p>
          <a:p>
            <a:pPr algn="l">
              <a:spcAft>
                <a:spcPts val="300"/>
              </a:spcAft>
            </a:pPr>
            <a:r>
              <a:rPr sz="1200" b="0">
                <a:solidFill>
                  <a:srgbClr val="5B6372"/>
                </a:solidFill>
                <a:latin typeface="Arial"/>
              </a:rPr>
              <a:t>Subjective assessment comes before any quantitative work.</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Probability × Impact</a:t>
            </a:r>
          </a:p>
          <a:p>
            <a:pPr algn="l">
              <a:spcAft>
                <a:spcPts val="300"/>
              </a:spcAft>
            </a:pPr>
            <a:r>
              <a:rPr sz="1200" b="0">
                <a:solidFill>
                  <a:srgbClr val="5B6372"/>
                </a:solidFill>
                <a:latin typeface="Arial"/>
              </a:rPr>
              <a:t>Combine the probability of occurrence with the impact if it occurs.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Prioritise</a:t>
            </a:r>
          </a:p>
          <a:p>
            <a:pPr algn="l">
              <a:spcAft>
                <a:spcPts val="300"/>
              </a:spcAft>
            </a:pPr>
            <a:r>
              <a:rPr sz="1200" b="0">
                <a:solidFill>
                  <a:srgbClr val="5B6372"/>
                </a:solidFill>
                <a:latin typeface="Arial"/>
              </a:rPr>
              <a:t>The output is a prioritised shortlist, not a score for every risk.</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Then quantify</a:t>
            </a:r>
          </a:p>
          <a:p>
            <a:pPr algn="l">
              <a:spcAft>
                <a:spcPts val="300"/>
              </a:spcAft>
            </a:pPr>
            <a:r>
              <a:rPr sz="1200" b="0">
                <a:solidFill>
                  <a:srgbClr val="5B6372"/>
                </a:solidFill>
                <a:latin typeface="Arial"/>
              </a:rPr>
              <a:t>Move to quantitative analysis only if further support is required.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213</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E11D48"/>
                </a:solidFill>
                <a:latin typeface="Arial"/>
              </a:rPr>
              <a:t>BEYOND PROBABILITY AND IMPACT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Other Risk Factors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2811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1991106"/>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199110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763524"/>
          </a:xfrm>
          <a:prstGeom prst="rect">
            <a:avLst/>
          </a:prstGeom>
          <a:noFill/>
        </p:spPr>
        <p:txBody>
          <a:bodyPr wrap="square" anchor="ctr">
            <a:spAutoFit/>
          </a:bodyPr>
          <a:lstStyle/>
          <a:p>
            <a:pPr algn="l">
              <a:spcAft>
                <a:spcPts val="300"/>
              </a:spcAft>
            </a:pPr>
            <a:r>
              <a:rPr sz="1400" b="1">
                <a:solidFill>
                  <a:srgbClr val="161B26"/>
                </a:solidFill>
                <a:latin typeface="Arial"/>
              </a:rPr>
              <a:t>Urgency</a:t>
            </a:r>
          </a:p>
          <a:p>
            <a:pPr algn="l">
              <a:spcAft>
                <a:spcPts val="300"/>
              </a:spcAft>
            </a:pPr>
            <a:r>
              <a:rPr sz="1000" b="0">
                <a:solidFill>
                  <a:srgbClr val="5B6372"/>
                </a:solidFill>
                <a:latin typeface="Arial"/>
              </a:rPr>
              <a:t>How soon a response is needed to be effective.</a:t>
            </a:r>
          </a:p>
        </p:txBody>
      </p:sp>
      <p:sp>
        <p:nvSpPr>
          <p:cNvPr id="12" name="Rectangle 11"/>
          <p:cNvSpPr/>
          <p:nvPr/>
        </p:nvSpPr>
        <p:spPr>
          <a:xfrm>
            <a:off x="6231636" y="1783080"/>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281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199110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199110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763524"/>
          </a:xfrm>
          <a:prstGeom prst="rect">
            <a:avLst/>
          </a:prstGeom>
          <a:noFill/>
        </p:spPr>
        <p:txBody>
          <a:bodyPr wrap="square" anchor="ctr">
            <a:spAutoFit/>
          </a:bodyPr>
          <a:lstStyle/>
          <a:p>
            <a:pPr algn="l">
              <a:spcAft>
                <a:spcPts val="300"/>
              </a:spcAft>
            </a:pPr>
            <a:r>
              <a:rPr sz="1400" b="1">
                <a:solidFill>
                  <a:srgbClr val="161B26"/>
                </a:solidFill>
                <a:latin typeface="Arial"/>
              </a:rPr>
              <a:t>Proximity</a:t>
            </a:r>
          </a:p>
          <a:p>
            <a:pPr algn="l">
              <a:spcAft>
                <a:spcPts val="300"/>
              </a:spcAft>
            </a:pPr>
            <a:r>
              <a:rPr sz="1000" b="0">
                <a:solidFill>
                  <a:srgbClr val="5B6372"/>
                </a:solidFill>
                <a:latin typeface="Arial"/>
              </a:rPr>
              <a:t>How close the risk is to occurring.</a:t>
            </a:r>
          </a:p>
        </p:txBody>
      </p:sp>
      <p:sp>
        <p:nvSpPr>
          <p:cNvPr id="17" name="Rectangle 16"/>
          <p:cNvSpPr/>
          <p:nvPr/>
        </p:nvSpPr>
        <p:spPr>
          <a:xfrm>
            <a:off x="777240" y="2930652"/>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0652"/>
            <a:ext cx="91440" cy="9281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138678"/>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13867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040380"/>
            <a:ext cx="4027932" cy="763524"/>
          </a:xfrm>
          <a:prstGeom prst="rect">
            <a:avLst/>
          </a:prstGeom>
          <a:noFill/>
        </p:spPr>
        <p:txBody>
          <a:bodyPr wrap="square" anchor="ctr">
            <a:spAutoFit/>
          </a:bodyPr>
          <a:lstStyle/>
          <a:p>
            <a:pPr algn="l">
              <a:spcAft>
                <a:spcPts val="300"/>
              </a:spcAft>
            </a:pPr>
            <a:r>
              <a:rPr sz="1400" b="1">
                <a:solidFill>
                  <a:srgbClr val="161B26"/>
                </a:solidFill>
                <a:latin typeface="Arial"/>
              </a:rPr>
              <a:t>Dormancy</a:t>
            </a:r>
          </a:p>
          <a:p>
            <a:pPr algn="l">
              <a:spcAft>
                <a:spcPts val="300"/>
              </a:spcAft>
            </a:pPr>
            <a:r>
              <a:rPr sz="1000" b="0">
                <a:solidFill>
                  <a:srgbClr val="5B6372"/>
                </a:solidFill>
                <a:latin typeface="Arial"/>
              </a:rPr>
              <a:t>The period between the risk occurring and you discovering it.</a:t>
            </a:r>
          </a:p>
        </p:txBody>
      </p:sp>
      <p:sp>
        <p:nvSpPr>
          <p:cNvPr id="22" name="Rectangle 21"/>
          <p:cNvSpPr/>
          <p:nvPr/>
        </p:nvSpPr>
        <p:spPr>
          <a:xfrm>
            <a:off x="6231636" y="2930652"/>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0652"/>
            <a:ext cx="91440" cy="92811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138678"/>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13867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040380"/>
            <a:ext cx="4027932" cy="763524"/>
          </a:xfrm>
          <a:prstGeom prst="rect">
            <a:avLst/>
          </a:prstGeom>
          <a:noFill/>
        </p:spPr>
        <p:txBody>
          <a:bodyPr wrap="square" anchor="ctr">
            <a:spAutoFit/>
          </a:bodyPr>
          <a:lstStyle/>
          <a:p>
            <a:pPr algn="l">
              <a:spcAft>
                <a:spcPts val="300"/>
              </a:spcAft>
            </a:pPr>
            <a:r>
              <a:rPr sz="1400" b="1">
                <a:solidFill>
                  <a:srgbClr val="161B26"/>
                </a:solidFill>
                <a:latin typeface="Arial"/>
              </a:rPr>
              <a:t>Manageability</a:t>
            </a:r>
          </a:p>
          <a:p>
            <a:pPr algn="l">
              <a:spcAft>
                <a:spcPts val="300"/>
              </a:spcAft>
            </a:pPr>
            <a:r>
              <a:rPr sz="1000" b="0">
                <a:solidFill>
                  <a:srgbClr val="5B6372"/>
                </a:solidFill>
                <a:latin typeface="Arial"/>
              </a:rPr>
              <a:t>How easily the risk can be managed if it occurs.</a:t>
            </a:r>
          </a:p>
        </p:txBody>
      </p:sp>
      <p:sp>
        <p:nvSpPr>
          <p:cNvPr id="27" name="Rectangle 26"/>
          <p:cNvSpPr/>
          <p:nvPr/>
        </p:nvSpPr>
        <p:spPr>
          <a:xfrm>
            <a:off x="777240" y="4078224"/>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78224"/>
            <a:ext cx="91440" cy="92811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428625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428625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187952"/>
            <a:ext cx="4027932" cy="763524"/>
          </a:xfrm>
          <a:prstGeom prst="rect">
            <a:avLst/>
          </a:prstGeom>
          <a:noFill/>
        </p:spPr>
        <p:txBody>
          <a:bodyPr wrap="square" anchor="ctr">
            <a:spAutoFit/>
          </a:bodyPr>
          <a:lstStyle/>
          <a:p>
            <a:pPr algn="l">
              <a:spcAft>
                <a:spcPts val="300"/>
              </a:spcAft>
            </a:pPr>
            <a:r>
              <a:rPr sz="1400" b="1">
                <a:solidFill>
                  <a:srgbClr val="161B26"/>
                </a:solidFill>
                <a:latin typeface="Arial"/>
              </a:rPr>
              <a:t>Controllability</a:t>
            </a:r>
          </a:p>
          <a:p>
            <a:pPr algn="l">
              <a:spcAft>
                <a:spcPts val="300"/>
              </a:spcAft>
            </a:pPr>
            <a:r>
              <a:rPr sz="1000" b="0">
                <a:solidFill>
                  <a:srgbClr val="5B6372"/>
                </a:solidFill>
                <a:latin typeface="Arial"/>
              </a:rPr>
              <a:t>How easily the risk outcome can be controlled.</a:t>
            </a:r>
          </a:p>
        </p:txBody>
      </p:sp>
      <p:sp>
        <p:nvSpPr>
          <p:cNvPr id="32" name="Rectangle 31"/>
          <p:cNvSpPr/>
          <p:nvPr/>
        </p:nvSpPr>
        <p:spPr>
          <a:xfrm>
            <a:off x="6231636" y="4078224"/>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78224"/>
            <a:ext cx="91440" cy="9281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428625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428625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187952"/>
            <a:ext cx="4027932" cy="763524"/>
          </a:xfrm>
          <a:prstGeom prst="rect">
            <a:avLst/>
          </a:prstGeom>
          <a:noFill/>
        </p:spPr>
        <p:txBody>
          <a:bodyPr wrap="square" anchor="ctr">
            <a:spAutoFit/>
          </a:bodyPr>
          <a:lstStyle/>
          <a:p>
            <a:pPr algn="l">
              <a:spcAft>
                <a:spcPts val="300"/>
              </a:spcAft>
            </a:pPr>
            <a:r>
              <a:rPr sz="1400" b="1">
                <a:solidFill>
                  <a:srgbClr val="161B26"/>
                </a:solidFill>
                <a:latin typeface="Arial"/>
              </a:rPr>
              <a:t>Strategic impact</a:t>
            </a:r>
          </a:p>
          <a:p>
            <a:pPr algn="l">
              <a:spcAft>
                <a:spcPts val="300"/>
              </a:spcAft>
            </a:pPr>
            <a:r>
              <a:rPr sz="1000" b="0">
                <a:solidFill>
                  <a:srgbClr val="5B6372"/>
                </a:solidFill>
                <a:latin typeface="Arial"/>
              </a:rPr>
              <a:t>How the risk affects the organisation's goals.</a:t>
            </a:r>
          </a:p>
        </p:txBody>
      </p:sp>
      <p:sp>
        <p:nvSpPr>
          <p:cNvPr id="37" name="Rectangle 36"/>
          <p:cNvSpPr/>
          <p:nvPr/>
        </p:nvSpPr>
        <p:spPr>
          <a:xfrm>
            <a:off x="777240" y="5225796"/>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25796"/>
            <a:ext cx="91440" cy="9281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14984" y="5433822"/>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14984" y="543382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1" name="TextBox 40"/>
          <p:cNvSpPr txBox="1"/>
          <p:nvPr/>
        </p:nvSpPr>
        <p:spPr>
          <a:xfrm>
            <a:off x="1709928" y="5335524"/>
            <a:ext cx="4027932" cy="763524"/>
          </a:xfrm>
          <a:prstGeom prst="rect">
            <a:avLst/>
          </a:prstGeom>
          <a:noFill/>
        </p:spPr>
        <p:txBody>
          <a:bodyPr wrap="square" anchor="ctr">
            <a:spAutoFit/>
          </a:bodyPr>
          <a:lstStyle/>
          <a:p>
            <a:pPr algn="l">
              <a:spcAft>
                <a:spcPts val="300"/>
              </a:spcAft>
            </a:pPr>
            <a:r>
              <a:rPr sz="1400" b="1">
                <a:solidFill>
                  <a:srgbClr val="161B26"/>
                </a:solidFill>
                <a:latin typeface="Arial"/>
              </a:rPr>
              <a:t>Connectivity</a:t>
            </a:r>
          </a:p>
          <a:p>
            <a:pPr algn="l">
              <a:spcAft>
                <a:spcPts val="300"/>
              </a:spcAft>
            </a:pPr>
            <a:r>
              <a:rPr sz="1000" b="0">
                <a:solidFill>
                  <a:srgbClr val="5B6372"/>
                </a:solidFill>
                <a:latin typeface="Arial"/>
              </a:rPr>
              <a:t>How related this risk is to other project risks.</a:t>
            </a:r>
          </a:p>
        </p:txBody>
      </p:sp>
      <p:sp>
        <p:nvSpPr>
          <p:cNvPr id="42" name="Rectangle 41"/>
          <p:cNvSpPr/>
          <p:nvPr/>
        </p:nvSpPr>
        <p:spPr>
          <a:xfrm>
            <a:off x="6231636" y="5225796"/>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25796"/>
            <a:ext cx="91440" cy="92811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69380" y="5433822"/>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69380" y="543382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6" name="TextBox 45"/>
          <p:cNvSpPr txBox="1"/>
          <p:nvPr/>
        </p:nvSpPr>
        <p:spPr>
          <a:xfrm>
            <a:off x="7164324" y="5335524"/>
            <a:ext cx="4027932" cy="763524"/>
          </a:xfrm>
          <a:prstGeom prst="rect">
            <a:avLst/>
          </a:prstGeom>
          <a:noFill/>
        </p:spPr>
        <p:txBody>
          <a:bodyPr wrap="square" anchor="ctr">
            <a:spAutoFit/>
          </a:bodyPr>
          <a:lstStyle/>
          <a:p>
            <a:pPr algn="l">
              <a:spcAft>
                <a:spcPts val="300"/>
              </a:spcAft>
            </a:pPr>
            <a:r>
              <a:rPr sz="1400" b="1">
                <a:solidFill>
                  <a:srgbClr val="161B26"/>
                </a:solidFill>
                <a:latin typeface="Arial"/>
              </a:rPr>
              <a:t>Propinquity</a:t>
            </a:r>
          </a:p>
          <a:p>
            <a:pPr algn="l">
              <a:spcAft>
                <a:spcPts val="300"/>
              </a:spcAft>
            </a:pPr>
            <a:r>
              <a:rPr sz="1000" b="0">
                <a:solidFill>
                  <a:srgbClr val="5B6372"/>
                </a:solidFill>
                <a:latin typeface="Arial"/>
              </a:rPr>
              <a:t>The degree to which stakeholders actually care about the risk.</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214</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E11D48"/>
                </a:solidFill>
                <a:latin typeface="Arial"/>
              </a:rPr>
              <a:t>YOUR RISK RECORD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Risk Register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Risk ID and title</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Category and description (cause → event → effect)</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Probability, impact and score</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Risk owner</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Planned response and trigger condition</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Current status and residual risk</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215</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ACTIVITY 19</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Qualitative Risk Analysis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19</a:t>
            </a:r>
          </a:p>
        </p:txBody>
      </p:sp>
      <p:sp>
        <p:nvSpPr>
          <p:cNvPr id="9" name="TextBox 8"/>
          <p:cNvSpPr txBox="1"/>
          <p:nvPr/>
        </p:nvSpPr>
        <p:spPr>
          <a:xfrm>
            <a:off x="777240" y="2331720"/>
            <a:ext cx="10698480" cy="1554480"/>
          </a:xfrm>
          <a:prstGeom prst="rect">
            <a:avLst/>
          </a:prstGeom>
          <a:noFill/>
        </p:spPr>
        <p:txBody>
          <a:bodyPr wrap="square" anchor="t">
            <a:spAutoFit/>
          </a:bodyPr>
          <a:lstStyle/>
          <a:p>
            <a:pPr algn="l">
              <a:spcAft>
                <a:spcPts val="400"/>
              </a:spcAft>
            </a:pPr>
            <a:r>
              <a:rPr sz="1900" b="0">
                <a:solidFill>
                  <a:srgbClr val="161B26"/>
                </a:solidFill>
                <a:latin typeface="Arial"/>
              </a:rPr>
              <a:t>You cannot act on fifty risks. Qualitative analysis prioritises them so you spend your attention where it matters — and you will test how consistent GenAI's scoring actually is.</a:t>
            </a:r>
          </a:p>
        </p:txBody>
      </p:sp>
      <p:sp>
        <p:nvSpPr>
          <p:cNvPr id="10" name="Rectangle 9"/>
          <p:cNvSpPr/>
          <p:nvPr/>
        </p:nvSpPr>
        <p:spPr>
          <a:xfrm>
            <a:off x="777240" y="3977639"/>
            <a:ext cx="10634472" cy="17830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60520"/>
            <a:ext cx="10058400" cy="365760"/>
          </a:xfrm>
          <a:prstGeom prst="rect">
            <a:avLst/>
          </a:prstGeom>
          <a:noFill/>
        </p:spPr>
        <p:txBody>
          <a:bodyPr wrap="square" anchor="t">
            <a:spAutoFit/>
          </a:bodyPr>
          <a:lstStyle/>
          <a:p>
            <a:pPr algn="l">
              <a:spcAft>
                <a:spcPts val="400"/>
              </a:spcAft>
            </a:pPr>
            <a:r>
              <a:rPr sz="1300" b="1">
                <a:solidFill>
                  <a:srgbClr val="127A3E"/>
                </a:solidFill>
                <a:latin typeface="Arial"/>
              </a:rPr>
              <a:t>You'll produce</a:t>
            </a:r>
          </a:p>
        </p:txBody>
      </p:sp>
      <p:sp>
        <p:nvSpPr>
          <p:cNvPr id="12" name="TextBox 11"/>
          <p:cNvSpPr txBox="1"/>
          <p:nvPr/>
        </p:nvSpPr>
        <p:spPr>
          <a:xfrm>
            <a:off x="1005840" y="4498848"/>
            <a:ext cx="10149840" cy="685800"/>
          </a:xfrm>
          <a:prstGeom prst="rect">
            <a:avLst/>
          </a:prstGeom>
          <a:noFill/>
        </p:spPr>
        <p:txBody>
          <a:bodyPr wrap="square" anchor="t">
            <a:spAutoFit/>
          </a:bodyPr>
          <a:lstStyle/>
          <a:p>
            <a:pPr algn="l">
              <a:spcAft>
                <a:spcPts val="400"/>
              </a:spcAft>
            </a:pPr>
            <a:r>
              <a:rPr sz="1700" b="1">
                <a:solidFill>
                  <a:srgbClr val="161B26"/>
                </a:solidFill>
                <a:latin typeface="Arial"/>
              </a:rPr>
              <a:t>A scored probability/impact matrix with a prioritised risk shortlist.</a:t>
            </a:r>
          </a:p>
        </p:txBody>
      </p:sp>
      <p:sp>
        <p:nvSpPr>
          <p:cNvPr id="13" name="TextBox 12"/>
          <p:cNvSpPr txBox="1"/>
          <p:nvPr/>
        </p:nvSpPr>
        <p:spPr>
          <a:xfrm>
            <a:off x="1005840" y="5257800"/>
            <a:ext cx="10241280" cy="4572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GenAI tool · Probability and Impact Matrix template</a:t>
            </a:r>
          </a:p>
        </p:txBody>
      </p:sp>
      <p:sp>
        <p:nvSpPr>
          <p:cNvPr id="14" name="TextBox 13"/>
          <p:cNvSpPr txBox="1"/>
          <p:nvPr/>
        </p:nvSpPr>
        <p:spPr>
          <a:xfrm>
            <a:off x="777240" y="5897880"/>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Step-by-step instructions: see your Learner Guide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216</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03 · ACTIVITY 19</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Qualitative Risk Analysis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19</a:t>
            </a:r>
          </a:p>
        </p:txBody>
      </p:sp>
      <p:sp>
        <p:nvSpPr>
          <p:cNvPr id="9" name="TextBox 8"/>
          <p:cNvSpPr txBox="1"/>
          <p:nvPr/>
        </p:nvSpPr>
        <p:spPr>
          <a:xfrm>
            <a:off x="777240" y="2286000"/>
            <a:ext cx="10607040" cy="365760"/>
          </a:xfrm>
          <a:prstGeom prst="rect">
            <a:avLst/>
          </a:prstGeom>
          <a:noFill/>
        </p:spPr>
        <p:txBody>
          <a:bodyPr wrap="square" anchor="t">
            <a:spAutoFit/>
          </a:bodyPr>
          <a:lstStyle/>
          <a:p>
            <a:pPr algn="l">
              <a:spcAft>
                <a:spcPts val="400"/>
              </a:spcAft>
            </a:pPr>
            <a:r>
              <a:rPr sz="1200" b="1">
                <a:solidFill>
                  <a:srgbClr val="7C3AED"/>
                </a:solidFill>
                <a:latin typeface="Arial"/>
              </a:rPr>
              <a:t>PROMPT GenAI WITH</a:t>
            </a:r>
          </a:p>
        </p:txBody>
      </p:sp>
      <p:sp>
        <p:nvSpPr>
          <p:cNvPr id="10" name="Rectangle 9"/>
          <p:cNvSpPr/>
          <p:nvPr/>
        </p:nvSpPr>
        <p:spPr>
          <a:xfrm>
            <a:off x="777240" y="2651760"/>
            <a:ext cx="10634472" cy="19659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88920"/>
            <a:ext cx="10104120" cy="1691640"/>
          </a:xfrm>
          <a:prstGeom prst="rect">
            <a:avLst/>
          </a:prstGeom>
          <a:noFill/>
        </p:spPr>
        <p:txBody>
          <a:bodyPr wrap="square" anchor="ctr">
            <a:spAutoFit/>
          </a:bodyPr>
          <a:lstStyle/>
          <a:p>
            <a:pPr algn="l">
              <a:spcAft>
                <a:spcPts val="400"/>
              </a:spcAft>
            </a:pPr>
            <a:r>
              <a:rPr sz="1600" b="0">
                <a:solidFill>
                  <a:srgbClr val="D6E4FF"/>
                </a:solidFill>
                <a:latin typeface="Arial"/>
              </a:rPr>
              <a:t>Score each supplied risk for probability and impact from 1 to 5, calculate the risk score, place it in a probability-impact matrix and explain any score that is not directly supported by the data.</a:t>
            </a:r>
          </a:p>
        </p:txBody>
      </p:sp>
      <p:sp>
        <p:nvSpPr>
          <p:cNvPr id="12" name="Rectangle 11"/>
          <p:cNvSpPr/>
          <p:nvPr/>
        </p:nvSpPr>
        <p:spPr>
          <a:xfrm>
            <a:off x="777240" y="4800600"/>
            <a:ext cx="10634472" cy="1051560"/>
          </a:xfrm>
          <a:prstGeom prst="rect">
            <a:avLst/>
          </a:prstGeom>
          <a:solidFill>
            <a:srgbClr val="FFF4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4919472"/>
            <a:ext cx="10149840" cy="320040"/>
          </a:xfrm>
          <a:prstGeom prst="rect">
            <a:avLst/>
          </a:prstGeom>
          <a:noFill/>
        </p:spPr>
        <p:txBody>
          <a:bodyPr wrap="square" anchor="t">
            <a:spAutoFit/>
          </a:bodyPr>
          <a:lstStyle/>
          <a:p>
            <a:pPr algn="l">
              <a:spcAft>
                <a:spcPts val="400"/>
              </a:spcAft>
            </a:pPr>
            <a:r>
              <a:rPr sz="1200" b="1">
                <a:solidFill>
                  <a:srgbClr val="F59E0B"/>
                </a:solidFill>
                <a:latin typeface="Arial"/>
              </a:rPr>
              <a:t>⚠  THEN CHECK IT</a:t>
            </a:r>
          </a:p>
        </p:txBody>
      </p:sp>
      <p:sp>
        <p:nvSpPr>
          <p:cNvPr id="14" name="TextBox 13"/>
          <p:cNvSpPr txBox="1"/>
          <p:nvPr/>
        </p:nvSpPr>
        <p:spPr>
          <a:xfrm>
            <a:off x="1051560" y="5230368"/>
            <a:ext cx="10149840" cy="548640"/>
          </a:xfrm>
          <a:prstGeom prst="rect">
            <a:avLst/>
          </a:prstGeom>
          <a:noFill/>
        </p:spPr>
        <p:txBody>
          <a:bodyPr wrap="square" anchor="t">
            <a:spAutoFit/>
          </a:bodyPr>
          <a:lstStyle/>
          <a:p>
            <a:pPr algn="l">
              <a:spcAft>
                <a:spcPts val="400"/>
              </a:spcAft>
            </a:pPr>
            <a:r>
              <a:rPr sz="1400" b="0">
                <a:solidFill>
                  <a:srgbClr val="161B26"/>
                </a:solidFill>
                <a:latin typeface="Arial"/>
              </a:rPr>
              <a:t>GenAI gives you a fast first draft. Check every figure, source and assumption before you use it.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217</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19 · CHECK YOUR 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Qualitative Risk Analysis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34472"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9" name="TextBox 8"/>
          <p:cNvSpPr txBox="1"/>
          <p:nvPr/>
        </p:nvSpPr>
        <p:spPr>
          <a:xfrm>
            <a:off x="1097280" y="3017520"/>
            <a:ext cx="9966960" cy="1280160"/>
          </a:xfrm>
          <a:prstGeom prst="rect">
            <a:avLst/>
          </a:prstGeom>
          <a:noFill/>
        </p:spPr>
        <p:txBody>
          <a:bodyPr wrap="square" anchor="t">
            <a:spAutoFit/>
          </a:bodyPr>
          <a:lstStyle/>
          <a:p>
            <a:pPr algn="l">
              <a:spcAft>
                <a:spcPts val="400"/>
              </a:spcAft>
            </a:pPr>
            <a:r>
              <a:rPr sz="1700" b="0">
                <a:solidFill>
                  <a:srgbClr val="161B26"/>
                </a:solidFill>
                <a:latin typeface="Arial"/>
              </a:rPr>
              <a:t>Your top ten risks have group-agreed scores, your top five carry proximity and dormancy assessments, and you can explain why AI scoring alone is not sufficient.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218</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PUTTING NUMBERS ON RISK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Quantitative Risk Analysis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36208" y="1783080"/>
            <a:ext cx="517550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36208" y="1783080"/>
            <a:ext cx="517550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011680"/>
            <a:ext cx="4754880" cy="365760"/>
          </a:xfrm>
          <a:prstGeom prst="rect">
            <a:avLst/>
          </a:prstGeom>
          <a:noFill/>
        </p:spPr>
        <p:txBody>
          <a:bodyPr wrap="square" anchor="t">
            <a:spAutoFit/>
          </a:bodyPr>
          <a:lstStyle/>
          <a:p>
            <a:pPr algn="l">
              <a:spcAft>
                <a:spcPts val="400"/>
              </a:spcAft>
            </a:pPr>
            <a:r>
              <a:rPr sz="1700" b="1">
                <a:solidFill>
                  <a:srgbClr val="7C3AED"/>
                </a:solidFill>
                <a:latin typeface="Arial"/>
              </a:rPr>
              <a:t>Tornado charts</a:t>
            </a:r>
          </a:p>
        </p:txBody>
      </p:sp>
      <p:sp>
        <p:nvSpPr>
          <p:cNvPr id="12" name="TextBox 11"/>
          <p:cNvSpPr txBox="1"/>
          <p:nvPr/>
        </p:nvSpPr>
        <p:spPr>
          <a:xfrm>
            <a:off x="6464808" y="2011680"/>
            <a:ext cx="4663440" cy="365760"/>
          </a:xfrm>
          <a:prstGeom prst="rect">
            <a:avLst/>
          </a:prstGeom>
          <a:noFill/>
        </p:spPr>
        <p:txBody>
          <a:bodyPr wrap="square" anchor="t">
            <a:spAutoFit/>
          </a:bodyPr>
          <a:lstStyle/>
          <a:p>
            <a:pPr algn="l">
              <a:spcAft>
                <a:spcPts val="400"/>
              </a:spcAft>
            </a:pPr>
            <a:r>
              <a:rPr sz="1700" b="1">
                <a:solidFill>
                  <a:srgbClr val="1F6FEB"/>
                </a:solidFill>
                <a:latin typeface="Arial"/>
              </a:rPr>
              <a:t>Decision trees</a:t>
            </a:r>
          </a:p>
        </p:txBody>
      </p:sp>
      <p:sp>
        <p:nvSpPr>
          <p:cNvPr id="13" name="TextBox 12"/>
          <p:cNvSpPr txBox="1"/>
          <p:nvPr/>
        </p:nvSpPr>
        <p:spPr>
          <a:xfrm>
            <a:off x="1005840" y="2514600"/>
            <a:ext cx="4754880" cy="3383280"/>
          </a:xfrm>
          <a:prstGeom prst="rect">
            <a:avLst/>
          </a:prstGeom>
          <a:noFill/>
        </p:spPr>
        <p:txBody>
          <a:bodyPr wrap="square">
            <a:spAutoFit/>
          </a:bodyPr>
          <a:lstStyle/>
          <a:p>
            <a:pPr>
              <a:spcAft>
                <a:spcPts val="1000"/>
              </a:spcAft>
            </a:pPr>
            <a:r>
              <a:rPr sz="1400">
                <a:solidFill>
                  <a:srgbClr val="161B26"/>
                </a:solidFill>
                <a:latin typeface="Arial"/>
              </a:rPr>
              <a:t>•  Sensitivity Analysis / Tornado Chart</a:t>
            </a:r>
          </a:p>
          <a:p>
            <a:pPr>
              <a:spcAft>
                <a:spcPts val="1000"/>
              </a:spcAft>
            </a:pPr>
            <a:r>
              <a:rPr sz="1200">
                <a:solidFill>
                  <a:srgbClr val="5B6372"/>
                </a:solidFill>
                <a:latin typeface="Arial"/>
              </a:rPr>
              <a:t>–  Shows which variables most affect the outcome</a:t>
            </a:r>
          </a:p>
          <a:p>
            <a:pPr>
              <a:spcAft>
                <a:spcPts val="1000"/>
              </a:spcAft>
            </a:pPr>
            <a:r>
              <a:rPr sz="1200">
                <a:solidFill>
                  <a:srgbClr val="5B6372"/>
                </a:solidFill>
                <a:latin typeface="Arial"/>
              </a:rPr>
              <a:t>–  Each bar is a variable's high-to-low impact range</a:t>
            </a:r>
          </a:p>
          <a:p>
            <a:pPr>
              <a:spcAft>
                <a:spcPts val="1000"/>
              </a:spcAft>
            </a:pPr>
            <a:r>
              <a:rPr sz="1200">
                <a:solidFill>
                  <a:srgbClr val="5B6372"/>
                </a:solidFill>
                <a:latin typeface="Arial"/>
              </a:rPr>
              <a:t>–  Longest bars at the top — those are your priorities</a:t>
            </a:r>
          </a:p>
          <a:p>
            <a:pPr>
              <a:spcAft>
                <a:spcPts val="1000"/>
              </a:spcAft>
            </a:pPr>
            <a:r>
              <a:rPr sz="1200">
                <a:solidFill>
                  <a:srgbClr val="5B6372"/>
                </a:solidFill>
                <a:latin typeface="Arial"/>
              </a:rPr>
              <a:t>–  Tells you where to focus management attention</a:t>
            </a:r>
          </a:p>
        </p:txBody>
      </p:sp>
      <p:sp>
        <p:nvSpPr>
          <p:cNvPr id="14" name="TextBox 13"/>
          <p:cNvSpPr txBox="1"/>
          <p:nvPr/>
        </p:nvSpPr>
        <p:spPr>
          <a:xfrm>
            <a:off x="6464808" y="2514600"/>
            <a:ext cx="4709160" cy="3383280"/>
          </a:xfrm>
          <a:prstGeom prst="rect">
            <a:avLst/>
          </a:prstGeom>
          <a:noFill/>
        </p:spPr>
        <p:txBody>
          <a:bodyPr wrap="square">
            <a:spAutoFit/>
          </a:bodyPr>
          <a:lstStyle/>
          <a:p>
            <a:pPr>
              <a:spcAft>
                <a:spcPts val="1000"/>
              </a:spcAft>
            </a:pPr>
            <a:r>
              <a:rPr sz="1400">
                <a:solidFill>
                  <a:srgbClr val="161B26"/>
                </a:solidFill>
                <a:latin typeface="Arial"/>
              </a:rPr>
              <a:t>•  Decision Tree Analysis</a:t>
            </a:r>
          </a:p>
          <a:p>
            <a:pPr>
              <a:spcAft>
                <a:spcPts val="1000"/>
              </a:spcAft>
            </a:pPr>
            <a:r>
              <a:rPr sz="1200">
                <a:solidFill>
                  <a:srgbClr val="5B6372"/>
                </a:solidFill>
                <a:latin typeface="Arial"/>
              </a:rPr>
              <a:t>–  Shows decisions, outcomes and their probabilities</a:t>
            </a:r>
          </a:p>
          <a:p>
            <a:pPr>
              <a:spcAft>
                <a:spcPts val="1000"/>
              </a:spcAft>
            </a:pPr>
            <a:r>
              <a:rPr sz="1200">
                <a:solidFill>
                  <a:srgbClr val="5B6372"/>
                </a:solidFill>
                <a:latin typeface="Arial"/>
              </a:rPr>
              <a:t>–  Each path carries a cost and a payoff</a:t>
            </a:r>
          </a:p>
          <a:p>
            <a:pPr>
              <a:spcAft>
                <a:spcPts val="1000"/>
              </a:spcAft>
            </a:pPr>
            <a:r>
              <a:rPr sz="1200">
                <a:solidFill>
                  <a:srgbClr val="5B6372"/>
                </a:solidFill>
                <a:latin typeface="Arial"/>
              </a:rPr>
              <a:t>–  Produces an Expected Monetary Value per branch</a:t>
            </a:r>
          </a:p>
          <a:p>
            <a:pPr>
              <a:spcAft>
                <a:spcPts val="1000"/>
              </a:spcAft>
            </a:pPr>
            <a:r>
              <a:rPr sz="1200">
                <a:solidFill>
                  <a:srgbClr val="5B6372"/>
                </a:solidFill>
                <a:latin typeface="Arial"/>
              </a:rPr>
              <a:t>–  EMV = Σ (probability × payoff) – branch cost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219</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ACTIVITY 20</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Quantitative Risk Analysis with GenAI — Tornado Charts and Decision Trees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20</a:t>
            </a:r>
          </a:p>
        </p:txBody>
      </p:sp>
      <p:sp>
        <p:nvSpPr>
          <p:cNvPr id="9" name="TextBox 8"/>
          <p:cNvSpPr txBox="1"/>
          <p:nvPr/>
        </p:nvSpPr>
        <p:spPr>
          <a:xfrm>
            <a:off x="777240" y="2331720"/>
            <a:ext cx="10698480" cy="1554480"/>
          </a:xfrm>
          <a:prstGeom prst="rect">
            <a:avLst/>
          </a:prstGeom>
          <a:noFill/>
        </p:spPr>
        <p:txBody>
          <a:bodyPr wrap="square" anchor="t">
            <a:spAutoFit/>
          </a:bodyPr>
          <a:lstStyle/>
          <a:p>
            <a:pPr algn="l">
              <a:spcAft>
                <a:spcPts val="400"/>
              </a:spcAft>
            </a:pPr>
            <a:r>
              <a:rPr sz="1900" b="0">
                <a:solidFill>
                  <a:srgbClr val="161B26"/>
                </a:solidFill>
                <a:latin typeface="Arial"/>
              </a:rPr>
              <a:t>When a decision carries real money, qualitative scoring is not enough. You will run a sensitivity analysis and a decision tree, using GenAI for the setup and doing the arithmetic yourself.</a:t>
            </a:r>
          </a:p>
        </p:txBody>
      </p:sp>
      <p:sp>
        <p:nvSpPr>
          <p:cNvPr id="10" name="Rectangle 9"/>
          <p:cNvSpPr/>
          <p:nvPr/>
        </p:nvSpPr>
        <p:spPr>
          <a:xfrm>
            <a:off x="777240" y="3977639"/>
            <a:ext cx="10634472" cy="17830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60520"/>
            <a:ext cx="10058400" cy="365760"/>
          </a:xfrm>
          <a:prstGeom prst="rect">
            <a:avLst/>
          </a:prstGeom>
          <a:noFill/>
        </p:spPr>
        <p:txBody>
          <a:bodyPr wrap="square" anchor="t">
            <a:spAutoFit/>
          </a:bodyPr>
          <a:lstStyle/>
          <a:p>
            <a:pPr algn="l">
              <a:spcAft>
                <a:spcPts val="400"/>
              </a:spcAft>
            </a:pPr>
            <a:r>
              <a:rPr sz="1300" b="1">
                <a:solidFill>
                  <a:srgbClr val="127A3E"/>
                </a:solidFill>
                <a:latin typeface="Arial"/>
              </a:rPr>
              <a:t>You'll produce</a:t>
            </a:r>
          </a:p>
        </p:txBody>
      </p:sp>
      <p:sp>
        <p:nvSpPr>
          <p:cNvPr id="12" name="TextBox 11"/>
          <p:cNvSpPr txBox="1"/>
          <p:nvPr/>
        </p:nvSpPr>
        <p:spPr>
          <a:xfrm>
            <a:off x="1005840" y="4498848"/>
            <a:ext cx="10149840" cy="685800"/>
          </a:xfrm>
          <a:prstGeom prst="rect">
            <a:avLst/>
          </a:prstGeom>
          <a:noFill/>
        </p:spPr>
        <p:txBody>
          <a:bodyPr wrap="square" anchor="t">
            <a:spAutoFit/>
          </a:bodyPr>
          <a:lstStyle/>
          <a:p>
            <a:pPr algn="l">
              <a:spcAft>
                <a:spcPts val="400"/>
              </a:spcAft>
            </a:pPr>
            <a:r>
              <a:rPr sz="1700" b="1">
                <a:solidFill>
                  <a:srgbClr val="161B26"/>
                </a:solidFill>
                <a:latin typeface="Arial"/>
              </a:rPr>
              <a:t>A tornado chart identifying your most sensitive risk variables and a decision tree with expected monetary values.</a:t>
            </a:r>
          </a:p>
        </p:txBody>
      </p:sp>
      <p:sp>
        <p:nvSpPr>
          <p:cNvPr id="13" name="TextBox 12"/>
          <p:cNvSpPr txBox="1"/>
          <p:nvPr/>
        </p:nvSpPr>
        <p:spPr>
          <a:xfrm>
            <a:off x="1005840" y="5257800"/>
            <a:ext cx="10241280" cy="4572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GenAI tool · Tornado Chart - Sensitivity Analysis.xlsx · Decision Tree Analysis.xlsx</a:t>
            </a:r>
          </a:p>
        </p:txBody>
      </p:sp>
      <p:sp>
        <p:nvSpPr>
          <p:cNvPr id="14" name="TextBox 13"/>
          <p:cNvSpPr txBox="1"/>
          <p:nvPr/>
        </p:nvSpPr>
        <p:spPr>
          <a:xfrm>
            <a:off x="777240" y="5897880"/>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Step-by-step instructions: see your Learner Guide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220</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03 · ACTIVITY 20</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Quantitative Risk Analysis with GenAI — Tornado Charts and Decision Trees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20</a:t>
            </a:r>
          </a:p>
        </p:txBody>
      </p:sp>
      <p:sp>
        <p:nvSpPr>
          <p:cNvPr id="9" name="TextBox 8"/>
          <p:cNvSpPr txBox="1"/>
          <p:nvPr/>
        </p:nvSpPr>
        <p:spPr>
          <a:xfrm>
            <a:off x="777240" y="2286000"/>
            <a:ext cx="10607040" cy="365760"/>
          </a:xfrm>
          <a:prstGeom prst="rect">
            <a:avLst/>
          </a:prstGeom>
          <a:noFill/>
        </p:spPr>
        <p:txBody>
          <a:bodyPr wrap="square" anchor="t">
            <a:spAutoFit/>
          </a:bodyPr>
          <a:lstStyle/>
          <a:p>
            <a:pPr algn="l">
              <a:spcAft>
                <a:spcPts val="400"/>
              </a:spcAft>
            </a:pPr>
            <a:r>
              <a:rPr sz="1200" b="1">
                <a:solidFill>
                  <a:srgbClr val="7C3AED"/>
                </a:solidFill>
                <a:latin typeface="Arial"/>
              </a:rPr>
              <a:t>PROMPT GenAI WITH</a:t>
            </a:r>
          </a:p>
        </p:txBody>
      </p:sp>
      <p:sp>
        <p:nvSpPr>
          <p:cNvPr id="10" name="Rectangle 9"/>
          <p:cNvSpPr/>
          <p:nvPr/>
        </p:nvSpPr>
        <p:spPr>
          <a:xfrm>
            <a:off x="777240" y="2651760"/>
            <a:ext cx="10634472" cy="19659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88920"/>
            <a:ext cx="10104120" cy="1691640"/>
          </a:xfrm>
          <a:prstGeom prst="rect">
            <a:avLst/>
          </a:prstGeom>
          <a:noFill/>
        </p:spPr>
        <p:txBody>
          <a:bodyPr wrap="square" anchor="ctr">
            <a:spAutoFit/>
          </a:bodyPr>
          <a:lstStyle/>
          <a:p>
            <a:pPr algn="l">
              <a:spcAft>
                <a:spcPts val="400"/>
              </a:spcAft>
            </a:pPr>
            <a:r>
              <a:rPr sz="1600" b="0">
                <a:solidFill>
                  <a:srgbClr val="D6E4FF"/>
                </a:solidFill>
                <a:latin typeface="Arial"/>
              </a:rPr>
              <a:t>Use the supplied high, base and low values to rank the ten variables by their effect on project cost or schedule. Produce tornado-chart data and one decision tree with expected monetary values, showing every calculation.</a:t>
            </a:r>
          </a:p>
        </p:txBody>
      </p:sp>
      <p:sp>
        <p:nvSpPr>
          <p:cNvPr id="12" name="Rectangle 11"/>
          <p:cNvSpPr/>
          <p:nvPr/>
        </p:nvSpPr>
        <p:spPr>
          <a:xfrm>
            <a:off x="777240" y="4800600"/>
            <a:ext cx="10634472" cy="1051560"/>
          </a:xfrm>
          <a:prstGeom prst="rect">
            <a:avLst/>
          </a:prstGeom>
          <a:solidFill>
            <a:srgbClr val="FFF4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4919472"/>
            <a:ext cx="10149840" cy="320040"/>
          </a:xfrm>
          <a:prstGeom prst="rect">
            <a:avLst/>
          </a:prstGeom>
          <a:noFill/>
        </p:spPr>
        <p:txBody>
          <a:bodyPr wrap="square" anchor="t">
            <a:spAutoFit/>
          </a:bodyPr>
          <a:lstStyle/>
          <a:p>
            <a:pPr algn="l">
              <a:spcAft>
                <a:spcPts val="400"/>
              </a:spcAft>
            </a:pPr>
            <a:r>
              <a:rPr sz="1200" b="1">
                <a:solidFill>
                  <a:srgbClr val="F59E0B"/>
                </a:solidFill>
                <a:latin typeface="Arial"/>
              </a:rPr>
              <a:t>⚠  THEN CHECK IT</a:t>
            </a:r>
          </a:p>
        </p:txBody>
      </p:sp>
      <p:sp>
        <p:nvSpPr>
          <p:cNvPr id="14" name="TextBox 13"/>
          <p:cNvSpPr txBox="1"/>
          <p:nvPr/>
        </p:nvSpPr>
        <p:spPr>
          <a:xfrm>
            <a:off x="1051560" y="5230368"/>
            <a:ext cx="10149840" cy="548640"/>
          </a:xfrm>
          <a:prstGeom prst="rect">
            <a:avLst/>
          </a:prstGeom>
          <a:noFill/>
        </p:spPr>
        <p:txBody>
          <a:bodyPr wrap="square" anchor="t">
            <a:spAutoFit/>
          </a:bodyPr>
          <a:lstStyle/>
          <a:p>
            <a:pPr algn="l">
              <a:spcAft>
                <a:spcPts val="400"/>
              </a:spcAft>
            </a:pPr>
            <a:r>
              <a:rPr sz="1400" b="0">
                <a:solidFill>
                  <a:srgbClr val="161B26"/>
                </a:solidFill>
                <a:latin typeface="Arial"/>
              </a:rPr>
              <a:t>GenAI gives you a fast first draft. Check every figure, source and assumption before you use it.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221</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20 · CHECK YOUR 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Quantitative Risk Analysis with GenAI — Tornado Charts and Decision Trees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34472"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9" name="TextBox 8"/>
          <p:cNvSpPr txBox="1"/>
          <p:nvPr/>
        </p:nvSpPr>
        <p:spPr>
          <a:xfrm>
            <a:off x="1097280" y="3017520"/>
            <a:ext cx="9966960" cy="1280160"/>
          </a:xfrm>
          <a:prstGeom prst="rect">
            <a:avLst/>
          </a:prstGeom>
          <a:noFill/>
        </p:spPr>
        <p:txBody>
          <a:bodyPr wrap="square" anchor="t">
            <a:spAutoFit/>
          </a:bodyPr>
          <a:lstStyle/>
          <a:p>
            <a:pPr algn="l">
              <a:spcAft>
                <a:spcPts val="400"/>
              </a:spcAft>
            </a:pPr>
            <a:r>
              <a:rPr sz="1700" b="0">
                <a:solidFill>
                  <a:srgbClr val="161B26"/>
                </a:solidFill>
                <a:latin typeface="Arial"/>
              </a:rPr>
              <a:t>Your tornado chart is ordered by sensitivity with justified asymmetric ranges, and you have hand-verified the EMV of every decision tree branch.</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222</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EIGHT STRATEGIES  ·  ESCALATE APPLIES TO BOTH</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Risk Response Strategies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36208" y="1783080"/>
            <a:ext cx="517550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36208" y="1783080"/>
            <a:ext cx="517550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011680"/>
            <a:ext cx="4754880" cy="365760"/>
          </a:xfrm>
          <a:prstGeom prst="rect">
            <a:avLst/>
          </a:prstGeom>
          <a:noFill/>
        </p:spPr>
        <p:txBody>
          <a:bodyPr wrap="square" anchor="t">
            <a:spAutoFit/>
          </a:bodyPr>
          <a:lstStyle/>
          <a:p>
            <a:pPr algn="l">
              <a:spcAft>
                <a:spcPts val="400"/>
              </a:spcAft>
            </a:pPr>
            <a:r>
              <a:rPr sz="1700" b="1">
                <a:solidFill>
                  <a:srgbClr val="E11D48"/>
                </a:solidFill>
                <a:latin typeface="Arial"/>
              </a:rPr>
              <a:t>Threats</a:t>
            </a:r>
          </a:p>
        </p:txBody>
      </p:sp>
      <p:sp>
        <p:nvSpPr>
          <p:cNvPr id="12" name="TextBox 11"/>
          <p:cNvSpPr txBox="1"/>
          <p:nvPr/>
        </p:nvSpPr>
        <p:spPr>
          <a:xfrm>
            <a:off x="6464808" y="2011680"/>
            <a:ext cx="4663440" cy="365760"/>
          </a:xfrm>
          <a:prstGeom prst="rect">
            <a:avLst/>
          </a:prstGeom>
          <a:noFill/>
        </p:spPr>
        <p:txBody>
          <a:bodyPr wrap="square" anchor="t">
            <a:spAutoFit/>
          </a:bodyPr>
          <a:lstStyle/>
          <a:p>
            <a:pPr algn="l">
              <a:spcAft>
                <a:spcPts val="400"/>
              </a:spcAft>
            </a:pPr>
            <a:r>
              <a:rPr sz="1700" b="1">
                <a:solidFill>
                  <a:srgbClr val="10B981"/>
                </a:solidFill>
                <a:latin typeface="Arial"/>
              </a:rPr>
              <a:t>Opportunities</a:t>
            </a:r>
          </a:p>
        </p:txBody>
      </p:sp>
      <p:sp>
        <p:nvSpPr>
          <p:cNvPr id="13" name="TextBox 12"/>
          <p:cNvSpPr txBox="1"/>
          <p:nvPr/>
        </p:nvSpPr>
        <p:spPr>
          <a:xfrm>
            <a:off x="1005840" y="2514600"/>
            <a:ext cx="4754880" cy="3383280"/>
          </a:xfrm>
          <a:prstGeom prst="rect">
            <a:avLst/>
          </a:prstGeom>
          <a:noFill/>
        </p:spPr>
        <p:txBody>
          <a:bodyPr wrap="square">
            <a:spAutoFit/>
          </a:bodyPr>
          <a:lstStyle/>
          <a:p>
            <a:pPr>
              <a:spcAft>
                <a:spcPts val="1000"/>
              </a:spcAft>
            </a:pPr>
            <a:r>
              <a:rPr sz="1400">
                <a:solidFill>
                  <a:srgbClr val="161B26"/>
                </a:solidFill>
                <a:latin typeface="Arial"/>
              </a:rPr>
              <a:t>•  For THREATS (negative risk)</a:t>
            </a:r>
          </a:p>
          <a:p>
            <a:pPr>
              <a:spcAft>
                <a:spcPts val="1000"/>
              </a:spcAft>
            </a:pPr>
            <a:r>
              <a:rPr sz="1200">
                <a:solidFill>
                  <a:srgbClr val="5B6372"/>
                </a:solidFill>
                <a:latin typeface="Arial"/>
              </a:rPr>
              <a:t>–  AVOID — eliminate the cause; change the plan</a:t>
            </a:r>
          </a:p>
          <a:p>
            <a:pPr>
              <a:spcAft>
                <a:spcPts val="1000"/>
              </a:spcAft>
            </a:pPr>
            <a:r>
              <a:rPr sz="1200">
                <a:solidFill>
                  <a:srgbClr val="5B6372"/>
                </a:solidFill>
                <a:latin typeface="Arial"/>
              </a:rPr>
              <a:t>–  TRANSFER — shift the impact to a third party (insurance, contract)</a:t>
            </a:r>
          </a:p>
          <a:p>
            <a:pPr>
              <a:spcAft>
                <a:spcPts val="1000"/>
              </a:spcAft>
            </a:pPr>
            <a:r>
              <a:rPr sz="1200">
                <a:solidFill>
                  <a:srgbClr val="5B6372"/>
                </a:solidFill>
                <a:latin typeface="Arial"/>
              </a:rPr>
              <a:t>–  MITIGATE — reduce the probability or the impact</a:t>
            </a:r>
          </a:p>
          <a:p>
            <a:pPr>
              <a:spcAft>
                <a:spcPts val="1000"/>
              </a:spcAft>
            </a:pPr>
            <a:r>
              <a:rPr sz="1200">
                <a:solidFill>
                  <a:srgbClr val="5B6372"/>
                </a:solidFill>
                <a:latin typeface="Arial"/>
              </a:rPr>
              <a:t>–  ACCEPT — take no action; hold a contingency reserve</a:t>
            </a:r>
          </a:p>
        </p:txBody>
      </p:sp>
      <p:sp>
        <p:nvSpPr>
          <p:cNvPr id="14" name="TextBox 13"/>
          <p:cNvSpPr txBox="1"/>
          <p:nvPr/>
        </p:nvSpPr>
        <p:spPr>
          <a:xfrm>
            <a:off x="6464808" y="2514600"/>
            <a:ext cx="4709160" cy="3383280"/>
          </a:xfrm>
          <a:prstGeom prst="rect">
            <a:avLst/>
          </a:prstGeom>
          <a:noFill/>
        </p:spPr>
        <p:txBody>
          <a:bodyPr wrap="square">
            <a:spAutoFit/>
          </a:bodyPr>
          <a:lstStyle/>
          <a:p>
            <a:pPr>
              <a:spcAft>
                <a:spcPts val="1000"/>
              </a:spcAft>
            </a:pPr>
            <a:r>
              <a:rPr sz="1400">
                <a:solidFill>
                  <a:srgbClr val="161B26"/>
                </a:solidFill>
                <a:latin typeface="Arial"/>
              </a:rPr>
              <a:t>•  For OPPORTUNITIES (positive risk)</a:t>
            </a:r>
          </a:p>
          <a:p>
            <a:pPr>
              <a:spcAft>
                <a:spcPts val="1000"/>
              </a:spcAft>
            </a:pPr>
            <a:r>
              <a:rPr sz="1200">
                <a:solidFill>
                  <a:srgbClr val="5B6372"/>
                </a:solidFill>
                <a:latin typeface="Arial"/>
              </a:rPr>
              <a:t>–  EXPLOIT — make certain the opportunity happens</a:t>
            </a:r>
          </a:p>
          <a:p>
            <a:pPr>
              <a:spcAft>
                <a:spcPts val="1000"/>
              </a:spcAft>
            </a:pPr>
            <a:r>
              <a:rPr sz="1200">
                <a:solidFill>
                  <a:srgbClr val="5B6372"/>
                </a:solidFill>
                <a:latin typeface="Arial"/>
              </a:rPr>
              <a:t>–  SHARE — partner with someone better able to capture it</a:t>
            </a:r>
          </a:p>
          <a:p>
            <a:pPr>
              <a:spcAft>
                <a:spcPts val="1000"/>
              </a:spcAft>
            </a:pPr>
            <a:r>
              <a:rPr sz="1200">
                <a:solidFill>
                  <a:srgbClr val="5B6372"/>
                </a:solidFill>
                <a:latin typeface="Arial"/>
              </a:rPr>
              <a:t>–  ENHANCE — increase the probability or the impact</a:t>
            </a:r>
          </a:p>
          <a:p>
            <a:pPr>
              <a:spcAft>
                <a:spcPts val="1000"/>
              </a:spcAft>
            </a:pPr>
            <a:r>
              <a:rPr sz="1200">
                <a:solidFill>
                  <a:srgbClr val="5B6372"/>
                </a:solidFill>
                <a:latin typeface="Arial"/>
              </a:rPr>
              <a:t>–  ACCEPT — take it if it arrives, but do nothing to cause it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223</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E11D48"/>
                </a:solidFill>
                <a:latin typeface="Arial"/>
              </a:rPr>
              <a:t>THE FOUR THINGS PEOPLE FORGET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After the Response — What's Left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Trigger condition</a:t>
            </a:r>
          </a:p>
          <a:p>
            <a:pPr algn="l">
              <a:spcAft>
                <a:spcPts val="300"/>
              </a:spcAft>
            </a:pPr>
            <a:r>
              <a:rPr sz="1100" b="0">
                <a:solidFill>
                  <a:srgbClr val="5B6372"/>
                </a:solidFill>
                <a:latin typeface="Arial"/>
              </a:rPr>
              <a:t>The observable signal that the risk is developing. A response with no trigger is never implemented in time.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Secondary risk</a:t>
            </a:r>
          </a:p>
          <a:p>
            <a:pPr algn="l">
              <a:spcAft>
                <a:spcPts val="300"/>
              </a:spcAft>
            </a:pPr>
            <a:r>
              <a:rPr sz="1100" b="0">
                <a:solidFill>
                  <a:srgbClr val="5B6372"/>
                </a:solidFill>
                <a:latin typeface="Arial"/>
              </a:rPr>
              <a:t>A NEW risk created directly by your response. Transferring risk to a vendor creates vendor dependency risk.</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87952"/>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Residual risk</a:t>
            </a:r>
          </a:p>
          <a:p>
            <a:pPr algn="l">
              <a:spcAft>
                <a:spcPts val="300"/>
              </a:spcAft>
            </a:pPr>
            <a:r>
              <a:rPr sz="1100" b="0">
                <a:solidFill>
                  <a:srgbClr val="5B6372"/>
                </a:solidFill>
                <a:latin typeface="Arial"/>
              </a:rPr>
              <a:t>What REMAINS after the response is implemented. It must be accepted knowingly.</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87952"/>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Fallback plan</a:t>
            </a:r>
          </a:p>
          <a:p>
            <a:pPr algn="l">
              <a:spcAft>
                <a:spcPts val="300"/>
              </a:spcAft>
            </a:pPr>
            <a:r>
              <a:rPr sz="1100" b="0">
                <a:solidFill>
                  <a:srgbClr val="5B6372"/>
                </a:solidFill>
                <a:latin typeface="Arial"/>
              </a:rPr>
              <a:t>What you do if the primary response fails. Funded by the contingency reserve.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224</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ACTIVITY 21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Plan Risk Responses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21</a:t>
            </a:r>
          </a:p>
        </p:txBody>
      </p:sp>
      <p:sp>
        <p:nvSpPr>
          <p:cNvPr id="9" name="TextBox 8"/>
          <p:cNvSpPr txBox="1"/>
          <p:nvPr/>
        </p:nvSpPr>
        <p:spPr>
          <a:xfrm>
            <a:off x="777240" y="2331720"/>
            <a:ext cx="10698480" cy="1554480"/>
          </a:xfrm>
          <a:prstGeom prst="rect">
            <a:avLst/>
          </a:prstGeom>
          <a:noFill/>
        </p:spPr>
        <p:txBody>
          <a:bodyPr wrap="square" anchor="t">
            <a:spAutoFit/>
          </a:bodyPr>
          <a:lstStyle/>
          <a:p>
            <a:pPr algn="l">
              <a:spcAft>
                <a:spcPts val="400"/>
              </a:spcAft>
            </a:pPr>
            <a:r>
              <a:rPr sz="1900" b="0">
                <a:solidFill>
                  <a:srgbClr val="161B26"/>
                </a:solidFill>
                <a:latin typeface="Arial"/>
              </a:rPr>
              <a:t>A risk register with no responses is a list of things you will be surprised by. You will plan a response for every priority risk and check for the second-order effects that responses create.</a:t>
            </a:r>
          </a:p>
        </p:txBody>
      </p:sp>
      <p:sp>
        <p:nvSpPr>
          <p:cNvPr id="10" name="Rectangle 9"/>
          <p:cNvSpPr/>
          <p:nvPr/>
        </p:nvSpPr>
        <p:spPr>
          <a:xfrm>
            <a:off x="777240" y="3977639"/>
            <a:ext cx="10634472" cy="17830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60520"/>
            <a:ext cx="10058400" cy="365760"/>
          </a:xfrm>
          <a:prstGeom prst="rect">
            <a:avLst/>
          </a:prstGeom>
          <a:noFill/>
        </p:spPr>
        <p:txBody>
          <a:bodyPr wrap="square" anchor="t">
            <a:spAutoFit/>
          </a:bodyPr>
          <a:lstStyle/>
          <a:p>
            <a:pPr algn="l">
              <a:spcAft>
                <a:spcPts val="400"/>
              </a:spcAft>
            </a:pPr>
            <a:r>
              <a:rPr sz="1300" b="1">
                <a:solidFill>
                  <a:srgbClr val="127A3E"/>
                </a:solidFill>
                <a:latin typeface="Arial"/>
              </a:rPr>
              <a:t>You'll produce</a:t>
            </a:r>
          </a:p>
        </p:txBody>
      </p:sp>
      <p:sp>
        <p:nvSpPr>
          <p:cNvPr id="12" name="TextBox 11"/>
          <p:cNvSpPr txBox="1"/>
          <p:nvPr/>
        </p:nvSpPr>
        <p:spPr>
          <a:xfrm>
            <a:off x="1005840" y="4498848"/>
            <a:ext cx="10149840" cy="685800"/>
          </a:xfrm>
          <a:prstGeom prst="rect">
            <a:avLst/>
          </a:prstGeom>
          <a:noFill/>
        </p:spPr>
        <p:txBody>
          <a:bodyPr wrap="square" anchor="t">
            <a:spAutoFit/>
          </a:bodyPr>
          <a:lstStyle/>
          <a:p>
            <a:pPr algn="l">
              <a:spcAft>
                <a:spcPts val="400"/>
              </a:spcAft>
            </a:pPr>
            <a:r>
              <a:rPr sz="1700" b="1">
                <a:solidFill>
                  <a:srgbClr val="161B26"/>
                </a:solidFill>
                <a:latin typeface="Arial"/>
              </a:rPr>
              <a:t>A response plan for every priority risk, with owners, triggers and fallback plans.</a:t>
            </a:r>
          </a:p>
        </p:txBody>
      </p:sp>
      <p:sp>
        <p:nvSpPr>
          <p:cNvPr id="13" name="TextBox 12"/>
          <p:cNvSpPr txBox="1"/>
          <p:nvPr/>
        </p:nvSpPr>
        <p:spPr>
          <a:xfrm>
            <a:off x="1005840" y="5257800"/>
            <a:ext cx="10241280" cy="4572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GenAI tool · your risk register from Activities 18-19</a:t>
            </a:r>
          </a:p>
        </p:txBody>
      </p:sp>
      <p:sp>
        <p:nvSpPr>
          <p:cNvPr id="14" name="TextBox 13"/>
          <p:cNvSpPr txBox="1"/>
          <p:nvPr/>
        </p:nvSpPr>
        <p:spPr>
          <a:xfrm>
            <a:off x="777240" y="5897880"/>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Step-by-step instructions: see your Learner Guide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225</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03 · ACTIVITY 21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Plan Risk Responses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21</a:t>
            </a:r>
          </a:p>
        </p:txBody>
      </p:sp>
      <p:sp>
        <p:nvSpPr>
          <p:cNvPr id="9" name="TextBox 8"/>
          <p:cNvSpPr txBox="1"/>
          <p:nvPr/>
        </p:nvSpPr>
        <p:spPr>
          <a:xfrm>
            <a:off x="777240" y="2286000"/>
            <a:ext cx="10607040" cy="365760"/>
          </a:xfrm>
          <a:prstGeom prst="rect">
            <a:avLst/>
          </a:prstGeom>
          <a:noFill/>
        </p:spPr>
        <p:txBody>
          <a:bodyPr wrap="square" anchor="t">
            <a:spAutoFit/>
          </a:bodyPr>
          <a:lstStyle/>
          <a:p>
            <a:pPr algn="l">
              <a:spcAft>
                <a:spcPts val="400"/>
              </a:spcAft>
            </a:pPr>
            <a:r>
              <a:rPr sz="1200" b="1">
                <a:solidFill>
                  <a:srgbClr val="7C3AED"/>
                </a:solidFill>
                <a:latin typeface="Arial"/>
              </a:rPr>
              <a:t>PROMPT GenAI WITH</a:t>
            </a:r>
          </a:p>
        </p:txBody>
      </p:sp>
      <p:sp>
        <p:nvSpPr>
          <p:cNvPr id="10" name="Rectangle 9"/>
          <p:cNvSpPr/>
          <p:nvPr/>
        </p:nvSpPr>
        <p:spPr>
          <a:xfrm>
            <a:off x="777240" y="2651760"/>
            <a:ext cx="10634472" cy="19659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88920"/>
            <a:ext cx="10104120" cy="1691640"/>
          </a:xfrm>
          <a:prstGeom prst="rect">
            <a:avLst/>
          </a:prstGeom>
          <a:noFill/>
        </p:spPr>
        <p:txBody>
          <a:bodyPr wrap="square" anchor="ctr">
            <a:spAutoFit/>
          </a:bodyPr>
          <a:lstStyle/>
          <a:p>
            <a:pPr algn="l">
              <a:spcAft>
                <a:spcPts val="400"/>
              </a:spcAft>
            </a:pPr>
            <a:r>
              <a:rPr sz="1600" b="0">
                <a:solidFill>
                  <a:srgbClr val="D6E4FF"/>
                </a:solidFill>
                <a:latin typeface="Arial"/>
              </a:rPr>
              <a:t>For each priority risk [paste], recommend one primary response strategy from avoid, transfer, mitigate, accept, escalate, exploit, share or enhance. Give the action, owner, trigger, fallback and response cost.</a:t>
            </a:r>
          </a:p>
        </p:txBody>
      </p:sp>
      <p:sp>
        <p:nvSpPr>
          <p:cNvPr id="12" name="Rectangle 11"/>
          <p:cNvSpPr/>
          <p:nvPr/>
        </p:nvSpPr>
        <p:spPr>
          <a:xfrm>
            <a:off x="777240" y="4800600"/>
            <a:ext cx="10634472" cy="1051560"/>
          </a:xfrm>
          <a:prstGeom prst="rect">
            <a:avLst/>
          </a:prstGeom>
          <a:solidFill>
            <a:srgbClr val="FFF4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4919472"/>
            <a:ext cx="10149840" cy="320040"/>
          </a:xfrm>
          <a:prstGeom prst="rect">
            <a:avLst/>
          </a:prstGeom>
          <a:noFill/>
        </p:spPr>
        <p:txBody>
          <a:bodyPr wrap="square" anchor="t">
            <a:spAutoFit/>
          </a:bodyPr>
          <a:lstStyle/>
          <a:p>
            <a:pPr algn="l">
              <a:spcAft>
                <a:spcPts val="400"/>
              </a:spcAft>
            </a:pPr>
            <a:r>
              <a:rPr sz="1200" b="1">
                <a:solidFill>
                  <a:srgbClr val="F59E0B"/>
                </a:solidFill>
                <a:latin typeface="Arial"/>
              </a:rPr>
              <a:t>⚠  THEN CHECK IT</a:t>
            </a:r>
          </a:p>
        </p:txBody>
      </p:sp>
      <p:sp>
        <p:nvSpPr>
          <p:cNvPr id="14" name="TextBox 13"/>
          <p:cNvSpPr txBox="1"/>
          <p:nvPr/>
        </p:nvSpPr>
        <p:spPr>
          <a:xfrm>
            <a:off x="1051560" y="5230368"/>
            <a:ext cx="10149840" cy="548640"/>
          </a:xfrm>
          <a:prstGeom prst="rect">
            <a:avLst/>
          </a:prstGeom>
          <a:noFill/>
        </p:spPr>
        <p:txBody>
          <a:bodyPr wrap="square" anchor="t">
            <a:spAutoFit/>
          </a:bodyPr>
          <a:lstStyle/>
          <a:p>
            <a:pPr algn="l">
              <a:spcAft>
                <a:spcPts val="400"/>
              </a:spcAft>
            </a:pPr>
            <a:r>
              <a:rPr sz="1400" b="0">
                <a:solidFill>
                  <a:srgbClr val="161B26"/>
                </a:solidFill>
                <a:latin typeface="Arial"/>
              </a:rPr>
              <a:t>GenAI gives you a fast first draft. Check every figure, source and assumption before you use it.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226</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21 · CHECK YOUR 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Plan Risk Responses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34472"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9" name="TextBox 8"/>
          <p:cNvSpPr txBox="1"/>
          <p:nvPr/>
        </p:nvSpPr>
        <p:spPr>
          <a:xfrm>
            <a:off x="1097280" y="3017520"/>
            <a:ext cx="9966960" cy="1280160"/>
          </a:xfrm>
          <a:prstGeom prst="rect">
            <a:avLst/>
          </a:prstGeom>
          <a:noFill/>
        </p:spPr>
        <p:txBody>
          <a:bodyPr wrap="square" anchor="t">
            <a:spAutoFit/>
          </a:bodyPr>
          <a:lstStyle/>
          <a:p>
            <a:pPr algn="l">
              <a:spcAft>
                <a:spcPts val="400"/>
              </a:spcAft>
            </a:pPr>
            <a:r>
              <a:rPr sz="1700" b="0">
                <a:solidFill>
                  <a:srgbClr val="161B26"/>
                </a:solidFill>
                <a:latin typeface="Arial"/>
              </a:rPr>
              <a:t>Every priority risk has a correctly-named strategy, an owner, an observable trigger, an identified secondary and residual risk, and your top three have fallback plans.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227</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9509760" cy="548640"/>
          </a:xfrm>
          <a:prstGeom prst="rect">
            <a:avLst/>
          </a:prstGeom>
          <a:noFill/>
        </p:spPr>
        <p:txBody>
          <a:bodyPr wrap="square" anchor="t">
            <a:spAutoFit/>
          </a:bodyPr>
          <a:lstStyle/>
          <a:p>
            <a:pPr algn="l">
              <a:spcAft>
                <a:spcPts val="400"/>
              </a:spcAft>
            </a:pPr>
            <a:r>
              <a:rPr sz="1800" b="1">
                <a:solidFill>
                  <a:srgbClr val="1F6FEB"/>
                </a:solidFill>
                <a:latin typeface="Arial"/>
              </a:rPr>
              <a:t>PROCUREMENT</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3800" b="1">
                <a:solidFill>
                  <a:srgbClr val="161B26"/>
                </a:solidFill>
                <a:latin typeface="Arial"/>
              </a:rPr>
              <a:t>Plan Procurement and Manage Contracts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228</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BUYING FROM OUTSIDE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Planning the Procurement Strategy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Any external resource</a:t>
            </a:r>
          </a:p>
          <a:p>
            <a:pPr algn="l">
              <a:spcAft>
                <a:spcPts val="300"/>
              </a:spcAft>
            </a:pPr>
            <a:r>
              <a:rPr sz="1100" b="0">
                <a:solidFill>
                  <a:srgbClr val="5B6372"/>
                </a:solidFill>
                <a:latin typeface="Arial"/>
              </a:rPr>
              <a:t>Procurement covers vendors, consultants, contractors and equipment.</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Agreement vs contract</a:t>
            </a:r>
          </a:p>
          <a:p>
            <a:pPr algn="l">
              <a:spcAft>
                <a:spcPts val="300"/>
              </a:spcAft>
            </a:pPr>
            <a:r>
              <a:rPr sz="1100" b="0">
                <a:solidFill>
                  <a:srgbClr val="5B6372"/>
                </a:solidFill>
                <a:latin typeface="Arial"/>
              </a:rPr>
              <a:t>You can have an agreement without a contract — but never a contract without an agreement.</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87952"/>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Claims</a:t>
            </a:r>
          </a:p>
          <a:p>
            <a:pPr algn="l">
              <a:spcAft>
                <a:spcPts val="300"/>
              </a:spcAft>
            </a:pPr>
            <a:r>
              <a:rPr sz="1100" b="0">
                <a:solidFill>
                  <a:srgbClr val="5B6372"/>
                </a:solidFill>
                <a:latin typeface="Arial"/>
              </a:rPr>
              <a:t>Arise when buyer and seller cannot agree that a change occurred.</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87952"/>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ADR</a:t>
            </a:r>
          </a:p>
          <a:p>
            <a:pPr algn="l">
              <a:spcAft>
                <a:spcPts val="300"/>
              </a:spcAft>
            </a:pPr>
            <a:r>
              <a:rPr sz="1100" b="0">
                <a:solidFill>
                  <a:srgbClr val="5B6372"/>
                </a:solidFill>
                <a:latin typeface="Arial"/>
              </a:rPr>
              <a:t>If a claim is unresolved, Alternative Dispute Resolution is used — as defined in the contract.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229</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CHOOSING THE RIGHT DOCUMENT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Bid Documents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9482328" cy="1146048"/>
          </a:xfrm>
          <a:prstGeom prst="rect">
            <a:avLst/>
          </a:prstGeom>
          <a:noFill/>
        </p:spPr>
        <p:txBody>
          <a:bodyPr wrap="square" anchor="ctr">
            <a:spAutoFit/>
          </a:bodyPr>
          <a:lstStyle/>
          <a:p>
            <a:pPr algn="l">
              <a:spcAft>
                <a:spcPts val="300"/>
              </a:spcAft>
            </a:pPr>
            <a:r>
              <a:rPr sz="1700" b="1">
                <a:solidFill>
                  <a:srgbClr val="161B26"/>
                </a:solidFill>
                <a:latin typeface="Arial"/>
              </a:rPr>
              <a:t>RFI — Request for Information</a:t>
            </a:r>
          </a:p>
          <a:p>
            <a:pPr algn="l">
              <a:spcAft>
                <a:spcPts val="300"/>
              </a:spcAft>
            </a:pPr>
            <a:r>
              <a:rPr sz="1300" b="0">
                <a:solidFill>
                  <a:srgbClr val="5B6372"/>
                </a:solidFill>
                <a:latin typeface="Arial"/>
              </a:rPr>
              <a:t>When you need more information about what sellers can provide.</a:t>
            </a:r>
          </a:p>
        </p:txBody>
      </p:sp>
      <p:sp>
        <p:nvSpPr>
          <p:cNvPr id="12" name="Rectangle 11"/>
          <p:cNvSpPr/>
          <p:nvPr/>
        </p:nvSpPr>
        <p:spPr>
          <a:xfrm>
            <a:off x="777240" y="3313176"/>
            <a:ext cx="10634472"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3176"/>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14984" y="3712464"/>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1709928" y="3422904"/>
            <a:ext cx="9482328" cy="1146048"/>
          </a:xfrm>
          <a:prstGeom prst="rect">
            <a:avLst/>
          </a:prstGeom>
          <a:noFill/>
        </p:spPr>
        <p:txBody>
          <a:bodyPr wrap="square" anchor="ctr">
            <a:spAutoFit/>
          </a:bodyPr>
          <a:lstStyle/>
          <a:p>
            <a:pPr algn="l">
              <a:spcAft>
                <a:spcPts val="300"/>
              </a:spcAft>
            </a:pPr>
            <a:r>
              <a:rPr sz="1700" b="1">
                <a:solidFill>
                  <a:srgbClr val="161B26"/>
                </a:solidFill>
                <a:latin typeface="Arial"/>
              </a:rPr>
              <a:t>RFP — Request for Proposal</a:t>
            </a:r>
          </a:p>
          <a:p>
            <a:pPr algn="l">
              <a:spcAft>
                <a:spcPts val="300"/>
              </a:spcAft>
            </a:pPr>
            <a:r>
              <a:rPr sz="1300" b="0">
                <a:solidFill>
                  <a:srgbClr val="5B6372"/>
                </a:solidFill>
                <a:latin typeface="Arial"/>
              </a:rPr>
              <a:t>When the solution is not obvious and you need sellers to propose one.</a:t>
            </a:r>
          </a:p>
        </p:txBody>
      </p:sp>
      <p:sp>
        <p:nvSpPr>
          <p:cNvPr id="17" name="Rectangle 16"/>
          <p:cNvSpPr/>
          <p:nvPr/>
        </p:nvSpPr>
        <p:spPr>
          <a:xfrm>
            <a:off x="777240" y="4843272"/>
            <a:ext cx="10634472"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43272"/>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5242560"/>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953000"/>
            <a:ext cx="9482328" cy="1146048"/>
          </a:xfrm>
          <a:prstGeom prst="rect">
            <a:avLst/>
          </a:prstGeom>
          <a:noFill/>
        </p:spPr>
        <p:txBody>
          <a:bodyPr wrap="square" anchor="ctr">
            <a:spAutoFit/>
          </a:bodyPr>
          <a:lstStyle/>
          <a:p>
            <a:pPr algn="l">
              <a:spcAft>
                <a:spcPts val="300"/>
              </a:spcAft>
            </a:pPr>
            <a:r>
              <a:rPr sz="1700" b="1">
                <a:solidFill>
                  <a:srgbClr val="161B26"/>
                </a:solidFill>
                <a:latin typeface="Arial"/>
              </a:rPr>
              <a:t>RFQ — Request for Quote</a:t>
            </a:r>
          </a:p>
          <a:p>
            <a:pPr algn="l">
              <a:spcAft>
                <a:spcPts val="300"/>
              </a:spcAft>
            </a:pPr>
            <a:r>
              <a:rPr sz="1300" b="0">
                <a:solidFill>
                  <a:srgbClr val="5B6372"/>
                </a:solidFill>
                <a:latin typeface="Arial"/>
              </a:rPr>
              <a:t>When you know exactly what you want and need a price.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230</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MOST IMPORTANT PROCUREMENT DECISION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Contract Types — Who Carries the Risk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2238836"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828800"/>
            <a:ext cx="2019380" cy="475488"/>
          </a:xfrm>
          <a:prstGeom prst="rect">
            <a:avLst/>
          </a:prstGeom>
          <a:noFill/>
        </p:spPr>
        <p:txBody>
          <a:bodyPr wrap="square" anchor="ctr">
            <a:spAutoFit/>
          </a:bodyPr>
          <a:lstStyle/>
          <a:p>
            <a:pPr algn="l">
              <a:spcAft>
                <a:spcPts val="400"/>
              </a:spcAft>
            </a:pPr>
            <a:r>
              <a:rPr sz="1200" b="1">
                <a:solidFill>
                  <a:srgbClr val="FFFFFF"/>
                </a:solidFill>
                <a:latin typeface="Arial"/>
              </a:rPr>
              <a:t>Contract type</a:t>
            </a:r>
          </a:p>
        </p:txBody>
      </p:sp>
      <p:sp>
        <p:nvSpPr>
          <p:cNvPr id="9" name="Rectangle 8"/>
          <p:cNvSpPr/>
          <p:nvPr/>
        </p:nvSpPr>
        <p:spPr>
          <a:xfrm>
            <a:off x="3016076" y="1828800"/>
            <a:ext cx="3638108"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25804" y="1828800"/>
            <a:ext cx="3418652" cy="475488"/>
          </a:xfrm>
          <a:prstGeom prst="rect">
            <a:avLst/>
          </a:prstGeom>
          <a:noFill/>
        </p:spPr>
        <p:txBody>
          <a:bodyPr wrap="square" anchor="ctr">
            <a:spAutoFit/>
          </a:bodyPr>
          <a:lstStyle/>
          <a:p>
            <a:pPr algn="l">
              <a:spcAft>
                <a:spcPts val="400"/>
              </a:spcAft>
            </a:pPr>
            <a:r>
              <a:rPr sz="1200" b="1">
                <a:solidFill>
                  <a:srgbClr val="FFFFFF"/>
                </a:solidFill>
                <a:latin typeface="Arial"/>
              </a:rPr>
              <a:t>Variants</a:t>
            </a:r>
          </a:p>
        </p:txBody>
      </p:sp>
      <p:sp>
        <p:nvSpPr>
          <p:cNvPr id="11" name="Rectangle 10"/>
          <p:cNvSpPr/>
          <p:nvPr/>
        </p:nvSpPr>
        <p:spPr>
          <a:xfrm>
            <a:off x="6654184" y="1828800"/>
            <a:ext cx="4757526"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63912" y="1828800"/>
            <a:ext cx="4538070" cy="475488"/>
          </a:xfrm>
          <a:prstGeom prst="rect">
            <a:avLst/>
          </a:prstGeom>
          <a:noFill/>
        </p:spPr>
        <p:txBody>
          <a:bodyPr wrap="square" anchor="ctr">
            <a:spAutoFit/>
          </a:bodyPr>
          <a:lstStyle/>
          <a:p>
            <a:pPr algn="l">
              <a:spcAft>
                <a:spcPts val="400"/>
              </a:spcAft>
            </a:pPr>
            <a:r>
              <a:rPr sz="1200" b="1">
                <a:solidFill>
                  <a:srgbClr val="FFFFFF"/>
                </a:solidFill>
                <a:latin typeface="Arial"/>
              </a:rPr>
              <a:t>Who carries cost-overrun risk / when to use</a:t>
            </a:r>
          </a:p>
        </p:txBody>
      </p:sp>
      <p:sp>
        <p:nvSpPr>
          <p:cNvPr id="13" name="Rectangle 12"/>
          <p:cNvSpPr/>
          <p:nvPr/>
        </p:nvSpPr>
        <p:spPr>
          <a:xfrm>
            <a:off x="777240" y="2304288"/>
            <a:ext cx="2238836"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304288"/>
            <a:ext cx="2019380" cy="786384"/>
          </a:xfrm>
          <a:prstGeom prst="rect">
            <a:avLst/>
          </a:prstGeom>
          <a:noFill/>
        </p:spPr>
        <p:txBody>
          <a:bodyPr wrap="square" anchor="ctr">
            <a:spAutoFit/>
          </a:bodyPr>
          <a:lstStyle/>
          <a:p>
            <a:pPr algn="l">
              <a:spcAft>
                <a:spcPts val="400"/>
              </a:spcAft>
            </a:pPr>
            <a:r>
              <a:rPr sz="1200" b="1">
                <a:solidFill>
                  <a:srgbClr val="161B26"/>
                </a:solidFill>
                <a:latin typeface="Arial"/>
              </a:rPr>
              <a:t>Fixed Price</a:t>
            </a:r>
          </a:p>
        </p:txBody>
      </p:sp>
      <p:sp>
        <p:nvSpPr>
          <p:cNvPr id="15" name="Rectangle 14"/>
          <p:cNvSpPr/>
          <p:nvPr/>
        </p:nvSpPr>
        <p:spPr>
          <a:xfrm>
            <a:off x="3016076" y="2304288"/>
            <a:ext cx="3638108"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25804" y="2304288"/>
            <a:ext cx="3418652" cy="786384"/>
          </a:xfrm>
          <a:prstGeom prst="rect">
            <a:avLst/>
          </a:prstGeom>
          <a:noFill/>
        </p:spPr>
        <p:txBody>
          <a:bodyPr wrap="square" anchor="ctr">
            <a:spAutoFit/>
          </a:bodyPr>
          <a:lstStyle/>
          <a:p>
            <a:pPr algn="l">
              <a:spcAft>
                <a:spcPts val="400"/>
              </a:spcAft>
            </a:pPr>
            <a:r>
              <a:rPr sz="1100" b="0">
                <a:solidFill>
                  <a:srgbClr val="5B6372"/>
                </a:solidFill>
                <a:latin typeface="Arial"/>
              </a:rPr>
              <a:t>Firm Fixed Price; FP + Incentive Fee; FP with Economic Adjustment</a:t>
            </a:r>
          </a:p>
        </p:txBody>
      </p:sp>
      <p:sp>
        <p:nvSpPr>
          <p:cNvPr id="17" name="Rectangle 16"/>
          <p:cNvSpPr/>
          <p:nvPr/>
        </p:nvSpPr>
        <p:spPr>
          <a:xfrm>
            <a:off x="6654184" y="2304288"/>
            <a:ext cx="4757526"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63912" y="2304288"/>
            <a:ext cx="4538070" cy="786384"/>
          </a:xfrm>
          <a:prstGeom prst="rect">
            <a:avLst/>
          </a:prstGeom>
          <a:noFill/>
        </p:spPr>
        <p:txBody>
          <a:bodyPr wrap="square" anchor="ctr">
            <a:spAutoFit/>
          </a:bodyPr>
          <a:lstStyle/>
          <a:p>
            <a:pPr algn="l">
              <a:spcAft>
                <a:spcPts val="400"/>
              </a:spcAft>
            </a:pPr>
            <a:r>
              <a:rPr sz="1100" b="0">
                <a:solidFill>
                  <a:srgbClr val="5B6372"/>
                </a:solidFill>
                <a:latin typeface="Arial"/>
              </a:rPr>
              <a:t>SELLER carries it. Use when scope is straightforward and requirements are well defined</a:t>
            </a:r>
          </a:p>
        </p:txBody>
      </p:sp>
      <p:sp>
        <p:nvSpPr>
          <p:cNvPr id="19" name="Rectangle 18"/>
          <p:cNvSpPr/>
          <p:nvPr/>
        </p:nvSpPr>
        <p:spPr>
          <a:xfrm>
            <a:off x="777240" y="3090672"/>
            <a:ext cx="2238836"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3090672"/>
            <a:ext cx="2019380" cy="786384"/>
          </a:xfrm>
          <a:prstGeom prst="rect">
            <a:avLst/>
          </a:prstGeom>
          <a:noFill/>
        </p:spPr>
        <p:txBody>
          <a:bodyPr wrap="square" anchor="ctr">
            <a:spAutoFit/>
          </a:bodyPr>
          <a:lstStyle/>
          <a:p>
            <a:pPr algn="l">
              <a:spcAft>
                <a:spcPts val="400"/>
              </a:spcAft>
            </a:pPr>
            <a:r>
              <a:rPr sz="1200" b="1">
                <a:solidFill>
                  <a:srgbClr val="161B26"/>
                </a:solidFill>
                <a:latin typeface="Arial"/>
              </a:rPr>
              <a:t>Cost Reimbursable</a:t>
            </a:r>
          </a:p>
        </p:txBody>
      </p:sp>
      <p:sp>
        <p:nvSpPr>
          <p:cNvPr id="21" name="Rectangle 20"/>
          <p:cNvSpPr/>
          <p:nvPr/>
        </p:nvSpPr>
        <p:spPr>
          <a:xfrm>
            <a:off x="3016076" y="3090672"/>
            <a:ext cx="3638108"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125804" y="3090672"/>
            <a:ext cx="3418652" cy="786384"/>
          </a:xfrm>
          <a:prstGeom prst="rect">
            <a:avLst/>
          </a:prstGeom>
          <a:noFill/>
        </p:spPr>
        <p:txBody>
          <a:bodyPr wrap="square" anchor="ctr">
            <a:spAutoFit/>
          </a:bodyPr>
          <a:lstStyle/>
          <a:p>
            <a:pPr algn="l">
              <a:spcAft>
                <a:spcPts val="400"/>
              </a:spcAft>
            </a:pPr>
            <a:r>
              <a:rPr sz="1100" b="0">
                <a:solidFill>
                  <a:srgbClr val="5B6372"/>
                </a:solidFill>
                <a:latin typeface="Arial"/>
              </a:rPr>
              <a:t>Cost plus Fixed Fee; plus Incentive Fee; plus Award Fee</a:t>
            </a:r>
          </a:p>
        </p:txBody>
      </p:sp>
      <p:sp>
        <p:nvSpPr>
          <p:cNvPr id="23" name="Rectangle 22"/>
          <p:cNvSpPr/>
          <p:nvPr/>
        </p:nvSpPr>
        <p:spPr>
          <a:xfrm>
            <a:off x="6654184" y="3090672"/>
            <a:ext cx="4757526"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63912" y="3090672"/>
            <a:ext cx="4538070" cy="786384"/>
          </a:xfrm>
          <a:prstGeom prst="rect">
            <a:avLst/>
          </a:prstGeom>
          <a:noFill/>
        </p:spPr>
        <p:txBody>
          <a:bodyPr wrap="square" anchor="ctr">
            <a:spAutoFit/>
          </a:bodyPr>
          <a:lstStyle/>
          <a:p>
            <a:pPr algn="l">
              <a:spcAft>
                <a:spcPts val="400"/>
              </a:spcAft>
            </a:pPr>
            <a:r>
              <a:rPr sz="1100" b="0">
                <a:solidFill>
                  <a:srgbClr val="5B6372"/>
                </a:solidFill>
                <a:latin typeface="Arial"/>
              </a:rPr>
              <a:t>BUYER carries it. Use to incentivise the seller, or when work is expected to change</a:t>
            </a:r>
          </a:p>
        </p:txBody>
      </p:sp>
      <p:sp>
        <p:nvSpPr>
          <p:cNvPr id="25" name="Rectangle 24"/>
          <p:cNvSpPr/>
          <p:nvPr/>
        </p:nvSpPr>
        <p:spPr>
          <a:xfrm>
            <a:off x="777240" y="3877056"/>
            <a:ext cx="2238836"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877056"/>
            <a:ext cx="2019380" cy="786384"/>
          </a:xfrm>
          <a:prstGeom prst="rect">
            <a:avLst/>
          </a:prstGeom>
          <a:noFill/>
        </p:spPr>
        <p:txBody>
          <a:bodyPr wrap="square" anchor="ctr">
            <a:spAutoFit/>
          </a:bodyPr>
          <a:lstStyle/>
          <a:p>
            <a:pPr algn="l">
              <a:spcAft>
                <a:spcPts val="400"/>
              </a:spcAft>
            </a:pPr>
            <a:r>
              <a:rPr sz="1200" b="1">
                <a:solidFill>
                  <a:srgbClr val="161B26"/>
                </a:solidFill>
                <a:latin typeface="Arial"/>
              </a:rPr>
              <a:t>Time and Materials</a:t>
            </a:r>
          </a:p>
        </p:txBody>
      </p:sp>
      <p:sp>
        <p:nvSpPr>
          <p:cNvPr id="27" name="Rectangle 26"/>
          <p:cNvSpPr/>
          <p:nvPr/>
        </p:nvSpPr>
        <p:spPr>
          <a:xfrm>
            <a:off x="3016076" y="3877056"/>
            <a:ext cx="3638108"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125804" y="3877056"/>
            <a:ext cx="3418652" cy="786384"/>
          </a:xfrm>
          <a:prstGeom prst="rect">
            <a:avLst/>
          </a:prstGeom>
          <a:noFill/>
        </p:spPr>
        <p:txBody>
          <a:bodyPr wrap="square" anchor="ctr">
            <a:spAutoFit/>
          </a:bodyPr>
          <a:lstStyle/>
          <a:p>
            <a:pPr algn="l">
              <a:spcAft>
                <a:spcPts val="400"/>
              </a:spcAft>
            </a:pPr>
            <a:r>
              <a:rPr sz="1100" b="0">
                <a:solidFill>
                  <a:srgbClr val="5B6372"/>
                </a:solidFill>
                <a:latin typeface="Arial"/>
              </a:rPr>
              <a:t>Hybrid of both</a:t>
            </a:r>
          </a:p>
        </p:txBody>
      </p:sp>
      <p:sp>
        <p:nvSpPr>
          <p:cNvPr id="29" name="Rectangle 28"/>
          <p:cNvSpPr/>
          <p:nvPr/>
        </p:nvSpPr>
        <p:spPr>
          <a:xfrm>
            <a:off x="6654184" y="3877056"/>
            <a:ext cx="4757526" cy="7863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3912" y="3877056"/>
            <a:ext cx="4538070" cy="786384"/>
          </a:xfrm>
          <a:prstGeom prst="rect">
            <a:avLst/>
          </a:prstGeom>
          <a:noFill/>
        </p:spPr>
        <p:txBody>
          <a:bodyPr wrap="square" anchor="ctr">
            <a:spAutoFit/>
          </a:bodyPr>
          <a:lstStyle/>
          <a:p>
            <a:pPr algn="l">
              <a:spcAft>
                <a:spcPts val="400"/>
              </a:spcAft>
            </a:pPr>
            <a:r>
              <a:rPr sz="1100" b="0">
                <a:solidFill>
                  <a:srgbClr val="5B6372"/>
                </a:solidFill>
                <a:latin typeface="Arial"/>
              </a:rPr>
              <a:t>Shared. Use when a precise statement of work is unavailable, or for staff augmentation</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231</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MUST BE IN IT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Components of a Contract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2811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1991106"/>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199110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781812"/>
          </a:xfrm>
          <a:prstGeom prst="rect">
            <a:avLst/>
          </a:prstGeom>
          <a:noFill/>
        </p:spPr>
        <p:txBody>
          <a:bodyPr wrap="square" anchor="ctr">
            <a:spAutoFit/>
          </a:bodyPr>
          <a:lstStyle/>
          <a:p>
            <a:pPr algn="l">
              <a:spcAft>
                <a:spcPts val="400"/>
              </a:spcAft>
            </a:pPr>
            <a:r>
              <a:rPr sz="1400" b="0">
                <a:solidFill>
                  <a:srgbClr val="161B26"/>
                </a:solidFill>
                <a:latin typeface="Arial"/>
              </a:rPr>
              <a:t>Description of work — deliverables and scope</a:t>
            </a:r>
          </a:p>
        </p:txBody>
      </p:sp>
      <p:sp>
        <p:nvSpPr>
          <p:cNvPr id="12" name="Rectangle 11"/>
          <p:cNvSpPr/>
          <p:nvPr/>
        </p:nvSpPr>
        <p:spPr>
          <a:xfrm>
            <a:off x="6231636" y="1783080"/>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281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199110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199110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781812"/>
          </a:xfrm>
          <a:prstGeom prst="rect">
            <a:avLst/>
          </a:prstGeom>
          <a:noFill/>
        </p:spPr>
        <p:txBody>
          <a:bodyPr wrap="square" anchor="ctr">
            <a:spAutoFit/>
          </a:bodyPr>
          <a:lstStyle/>
          <a:p>
            <a:pPr algn="l">
              <a:spcAft>
                <a:spcPts val="400"/>
              </a:spcAft>
            </a:pPr>
            <a:r>
              <a:rPr sz="1400" b="0">
                <a:solidFill>
                  <a:srgbClr val="161B26"/>
                </a:solidFill>
                <a:latin typeface="Arial"/>
              </a:rPr>
              <a:t>Delivery date and schedule information</a:t>
            </a:r>
          </a:p>
        </p:txBody>
      </p:sp>
      <p:sp>
        <p:nvSpPr>
          <p:cNvPr id="17" name="Rectangle 16"/>
          <p:cNvSpPr/>
          <p:nvPr/>
        </p:nvSpPr>
        <p:spPr>
          <a:xfrm>
            <a:off x="777240" y="2930652"/>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0652"/>
            <a:ext cx="91440" cy="9281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138678"/>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13867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022092"/>
            <a:ext cx="4027932" cy="781812"/>
          </a:xfrm>
          <a:prstGeom prst="rect">
            <a:avLst/>
          </a:prstGeom>
          <a:noFill/>
        </p:spPr>
        <p:txBody>
          <a:bodyPr wrap="square" anchor="ctr">
            <a:spAutoFit/>
          </a:bodyPr>
          <a:lstStyle/>
          <a:p>
            <a:pPr algn="l">
              <a:spcAft>
                <a:spcPts val="400"/>
              </a:spcAft>
            </a:pPr>
            <a:r>
              <a:rPr sz="1400" b="0">
                <a:solidFill>
                  <a:srgbClr val="161B26"/>
                </a:solidFill>
                <a:latin typeface="Arial"/>
              </a:rPr>
              <a:t>Responsibilities of both parties</a:t>
            </a:r>
          </a:p>
        </p:txBody>
      </p:sp>
      <p:sp>
        <p:nvSpPr>
          <p:cNvPr id="22" name="Rectangle 21"/>
          <p:cNvSpPr/>
          <p:nvPr/>
        </p:nvSpPr>
        <p:spPr>
          <a:xfrm>
            <a:off x="6231636" y="2930652"/>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0652"/>
            <a:ext cx="91440" cy="92811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138678"/>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13867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022092"/>
            <a:ext cx="4027932" cy="781812"/>
          </a:xfrm>
          <a:prstGeom prst="rect">
            <a:avLst/>
          </a:prstGeom>
          <a:noFill/>
        </p:spPr>
        <p:txBody>
          <a:bodyPr wrap="square" anchor="ctr">
            <a:spAutoFit/>
          </a:bodyPr>
          <a:lstStyle/>
          <a:p>
            <a:pPr algn="l">
              <a:spcAft>
                <a:spcPts val="400"/>
              </a:spcAft>
            </a:pPr>
            <a:r>
              <a:rPr sz="1400" b="0">
                <a:solidFill>
                  <a:srgbClr val="161B26"/>
                </a:solidFill>
                <a:latin typeface="Arial"/>
              </a:rPr>
              <a:t>Price and payment terms</a:t>
            </a:r>
          </a:p>
        </p:txBody>
      </p:sp>
      <p:sp>
        <p:nvSpPr>
          <p:cNvPr id="27" name="Rectangle 26"/>
          <p:cNvSpPr/>
          <p:nvPr/>
        </p:nvSpPr>
        <p:spPr>
          <a:xfrm>
            <a:off x="777240" y="4078224"/>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78224"/>
            <a:ext cx="91440" cy="92811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428625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428625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169664"/>
            <a:ext cx="4027932" cy="781812"/>
          </a:xfrm>
          <a:prstGeom prst="rect">
            <a:avLst/>
          </a:prstGeom>
          <a:noFill/>
        </p:spPr>
        <p:txBody>
          <a:bodyPr wrap="square" anchor="ctr">
            <a:spAutoFit/>
          </a:bodyPr>
          <a:lstStyle/>
          <a:p>
            <a:pPr algn="l">
              <a:spcAft>
                <a:spcPts val="400"/>
              </a:spcAft>
            </a:pPr>
            <a:r>
              <a:rPr sz="1400" b="0">
                <a:solidFill>
                  <a:srgbClr val="161B26"/>
                </a:solidFill>
                <a:latin typeface="Arial"/>
              </a:rPr>
              <a:t>Provisions for termination</a:t>
            </a:r>
          </a:p>
        </p:txBody>
      </p:sp>
      <p:sp>
        <p:nvSpPr>
          <p:cNvPr id="32" name="Rectangle 31"/>
          <p:cNvSpPr/>
          <p:nvPr/>
        </p:nvSpPr>
        <p:spPr>
          <a:xfrm>
            <a:off x="6231636" y="4078224"/>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78224"/>
            <a:ext cx="91440" cy="9281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428625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428625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169664"/>
            <a:ext cx="4027932" cy="781812"/>
          </a:xfrm>
          <a:prstGeom prst="rect">
            <a:avLst/>
          </a:prstGeom>
          <a:noFill/>
        </p:spPr>
        <p:txBody>
          <a:bodyPr wrap="square" anchor="ctr">
            <a:spAutoFit/>
          </a:bodyPr>
          <a:lstStyle/>
          <a:p>
            <a:pPr algn="l">
              <a:spcAft>
                <a:spcPts val="400"/>
              </a:spcAft>
            </a:pPr>
            <a:r>
              <a:rPr sz="1400" b="0">
                <a:solidFill>
                  <a:srgbClr val="161B26"/>
                </a:solidFill>
                <a:latin typeface="Arial"/>
              </a:rPr>
              <a:t>Guarantees and warranties</a:t>
            </a:r>
          </a:p>
        </p:txBody>
      </p:sp>
      <p:sp>
        <p:nvSpPr>
          <p:cNvPr id="37" name="Rectangle 36"/>
          <p:cNvSpPr/>
          <p:nvPr/>
        </p:nvSpPr>
        <p:spPr>
          <a:xfrm>
            <a:off x="777240" y="5225796"/>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25796"/>
            <a:ext cx="91440" cy="9281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14984" y="5433822"/>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14984" y="543382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1" name="TextBox 40"/>
          <p:cNvSpPr txBox="1"/>
          <p:nvPr/>
        </p:nvSpPr>
        <p:spPr>
          <a:xfrm>
            <a:off x="1709928" y="5317236"/>
            <a:ext cx="4027932" cy="781812"/>
          </a:xfrm>
          <a:prstGeom prst="rect">
            <a:avLst/>
          </a:prstGeom>
          <a:noFill/>
        </p:spPr>
        <p:txBody>
          <a:bodyPr wrap="square" anchor="ctr">
            <a:spAutoFit/>
          </a:bodyPr>
          <a:lstStyle/>
          <a:p>
            <a:pPr algn="l">
              <a:spcAft>
                <a:spcPts val="400"/>
              </a:spcAft>
            </a:pPr>
            <a:r>
              <a:rPr sz="1400" b="0">
                <a:solidFill>
                  <a:srgbClr val="161B26"/>
                </a:solidFill>
                <a:latin typeface="Arial"/>
              </a:rPr>
              <a:t>Intellectual property</a:t>
            </a:r>
          </a:p>
        </p:txBody>
      </p:sp>
      <p:sp>
        <p:nvSpPr>
          <p:cNvPr id="42" name="Rectangle 41"/>
          <p:cNvSpPr/>
          <p:nvPr/>
        </p:nvSpPr>
        <p:spPr>
          <a:xfrm>
            <a:off x="6231636" y="5225796"/>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25796"/>
            <a:ext cx="91440" cy="92811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69380" y="5433822"/>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69380" y="543382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6" name="TextBox 45"/>
          <p:cNvSpPr txBox="1"/>
          <p:nvPr/>
        </p:nvSpPr>
        <p:spPr>
          <a:xfrm>
            <a:off x="7164324" y="5317236"/>
            <a:ext cx="4027932" cy="781812"/>
          </a:xfrm>
          <a:prstGeom prst="rect">
            <a:avLst/>
          </a:prstGeom>
          <a:noFill/>
        </p:spPr>
        <p:txBody>
          <a:bodyPr wrap="square" anchor="ctr">
            <a:spAutoFit/>
          </a:bodyPr>
          <a:lstStyle/>
          <a:p>
            <a:pPr algn="l">
              <a:spcAft>
                <a:spcPts val="400"/>
              </a:spcAft>
            </a:pPr>
            <a:r>
              <a:rPr sz="1400" b="0">
                <a:solidFill>
                  <a:srgbClr val="161B26"/>
                </a:solidFill>
                <a:latin typeface="Arial"/>
              </a:rPr>
              <a:t>Security, confidentiality and data privacy</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232</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WHEN THINGS GO WRONG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Managing Contract Disputes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Warranty</a:t>
            </a:r>
          </a:p>
          <a:p>
            <a:pPr algn="l">
              <a:spcAft>
                <a:spcPts val="300"/>
              </a:spcAft>
            </a:pPr>
            <a:r>
              <a:rPr sz="1100" b="0">
                <a:solidFill>
                  <a:srgbClr val="5B6372"/>
                </a:solidFill>
                <a:latin typeface="Arial"/>
              </a:rPr>
              <a:t>A promise, explicit or implied, that goods or services meet a predetermined standard.</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Waiver</a:t>
            </a:r>
          </a:p>
          <a:p>
            <a:pPr algn="l">
              <a:spcAft>
                <a:spcPts val="300"/>
              </a:spcAft>
            </a:pPr>
            <a:r>
              <a:rPr sz="1100" b="0">
                <a:solidFill>
                  <a:srgbClr val="5B6372"/>
                </a:solidFill>
                <a:latin typeface="Arial"/>
              </a:rPr>
              <a:t>One party agrees to forfeit a claim without the other becoming liable.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87952"/>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Breach of contract</a:t>
            </a:r>
          </a:p>
          <a:p>
            <a:pPr algn="l">
              <a:spcAft>
                <a:spcPts val="300"/>
              </a:spcAft>
            </a:pPr>
            <a:r>
              <a:rPr sz="1100" b="0">
                <a:solidFill>
                  <a:srgbClr val="5B6372"/>
                </a:solidFill>
                <a:latin typeface="Arial"/>
              </a:rPr>
              <a:t>Failure to meet some or all obligations — may result in damages or litigation.</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87952"/>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Cease and desist</a:t>
            </a:r>
          </a:p>
          <a:p>
            <a:pPr algn="l">
              <a:spcAft>
                <a:spcPts val="300"/>
              </a:spcAft>
            </a:pPr>
            <a:r>
              <a:rPr sz="1100" b="0">
                <a:solidFill>
                  <a:srgbClr val="5B6372"/>
                </a:solidFill>
                <a:latin typeface="Arial"/>
              </a:rPr>
              <a:t>A letter instructing a party to stop allegedly illegal activity.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233</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ACTIVITY 22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Plan Procurement and Manage Contracts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22</a:t>
            </a:r>
          </a:p>
        </p:txBody>
      </p:sp>
      <p:sp>
        <p:nvSpPr>
          <p:cNvPr id="9" name="TextBox 8"/>
          <p:cNvSpPr txBox="1"/>
          <p:nvPr/>
        </p:nvSpPr>
        <p:spPr>
          <a:xfrm>
            <a:off x="777240" y="2331720"/>
            <a:ext cx="10698480" cy="1554480"/>
          </a:xfrm>
          <a:prstGeom prst="rect">
            <a:avLst/>
          </a:prstGeom>
          <a:noFill/>
        </p:spPr>
        <p:txBody>
          <a:bodyPr wrap="square" anchor="t">
            <a:spAutoFit/>
          </a:bodyPr>
          <a:lstStyle/>
          <a:p>
            <a:pPr algn="l">
              <a:spcAft>
                <a:spcPts val="400"/>
              </a:spcAft>
            </a:pPr>
            <a:r>
              <a:rPr sz="1900" b="0">
                <a:solidFill>
                  <a:srgbClr val="161B26"/>
                </a:solidFill>
                <a:latin typeface="Arial"/>
              </a:rPr>
              <a:t>Procurement transfers risk — but only if you choose the right contract type. You will use GenAI to draft procurement documents and to reason about where risk actually sits in each contract type.</a:t>
            </a:r>
          </a:p>
        </p:txBody>
      </p:sp>
      <p:sp>
        <p:nvSpPr>
          <p:cNvPr id="10" name="Rectangle 9"/>
          <p:cNvSpPr/>
          <p:nvPr/>
        </p:nvSpPr>
        <p:spPr>
          <a:xfrm>
            <a:off x="777240" y="3977639"/>
            <a:ext cx="10634472" cy="17830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60520"/>
            <a:ext cx="10058400" cy="365760"/>
          </a:xfrm>
          <a:prstGeom prst="rect">
            <a:avLst/>
          </a:prstGeom>
          <a:noFill/>
        </p:spPr>
        <p:txBody>
          <a:bodyPr wrap="square" anchor="t">
            <a:spAutoFit/>
          </a:bodyPr>
          <a:lstStyle/>
          <a:p>
            <a:pPr algn="l">
              <a:spcAft>
                <a:spcPts val="400"/>
              </a:spcAft>
            </a:pPr>
            <a:r>
              <a:rPr sz="1300" b="1">
                <a:solidFill>
                  <a:srgbClr val="127A3E"/>
                </a:solidFill>
                <a:latin typeface="Arial"/>
              </a:rPr>
              <a:t>You'll produce</a:t>
            </a:r>
          </a:p>
        </p:txBody>
      </p:sp>
      <p:sp>
        <p:nvSpPr>
          <p:cNvPr id="12" name="TextBox 11"/>
          <p:cNvSpPr txBox="1"/>
          <p:nvPr/>
        </p:nvSpPr>
        <p:spPr>
          <a:xfrm>
            <a:off x="1005840" y="4498848"/>
            <a:ext cx="10149840" cy="685800"/>
          </a:xfrm>
          <a:prstGeom prst="rect">
            <a:avLst/>
          </a:prstGeom>
          <a:noFill/>
        </p:spPr>
        <p:txBody>
          <a:bodyPr wrap="square" anchor="t">
            <a:spAutoFit/>
          </a:bodyPr>
          <a:lstStyle/>
          <a:p>
            <a:pPr algn="l">
              <a:spcAft>
                <a:spcPts val="400"/>
              </a:spcAft>
            </a:pPr>
            <a:r>
              <a:rPr sz="1700" b="1">
                <a:solidFill>
                  <a:srgbClr val="161B26"/>
                </a:solidFill>
                <a:latin typeface="Arial"/>
              </a:rPr>
              <a:t>A procurement strategy with a justified contract type and a drafted RFP outline.</a:t>
            </a:r>
          </a:p>
        </p:txBody>
      </p:sp>
      <p:sp>
        <p:nvSpPr>
          <p:cNvPr id="13" name="TextBox 12"/>
          <p:cNvSpPr txBox="1"/>
          <p:nvPr/>
        </p:nvSpPr>
        <p:spPr>
          <a:xfrm>
            <a:off x="1005840" y="5257800"/>
            <a:ext cx="10241280" cy="4572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GenAI tool · Claude</a:t>
            </a:r>
          </a:p>
        </p:txBody>
      </p:sp>
      <p:sp>
        <p:nvSpPr>
          <p:cNvPr id="14" name="TextBox 13"/>
          <p:cNvSpPr txBox="1"/>
          <p:nvPr/>
        </p:nvSpPr>
        <p:spPr>
          <a:xfrm>
            <a:off x="777240" y="5897880"/>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Step-by-step instructions: see your Learner Guide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234</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03 · ACTIVITY 22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Plan Procurement and Manage Contracts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22</a:t>
            </a:r>
          </a:p>
        </p:txBody>
      </p:sp>
      <p:sp>
        <p:nvSpPr>
          <p:cNvPr id="9" name="TextBox 8"/>
          <p:cNvSpPr txBox="1"/>
          <p:nvPr/>
        </p:nvSpPr>
        <p:spPr>
          <a:xfrm>
            <a:off x="777240" y="2286000"/>
            <a:ext cx="10607040" cy="365760"/>
          </a:xfrm>
          <a:prstGeom prst="rect">
            <a:avLst/>
          </a:prstGeom>
          <a:noFill/>
        </p:spPr>
        <p:txBody>
          <a:bodyPr wrap="square" anchor="t">
            <a:spAutoFit/>
          </a:bodyPr>
          <a:lstStyle/>
          <a:p>
            <a:pPr algn="l">
              <a:spcAft>
                <a:spcPts val="400"/>
              </a:spcAft>
            </a:pPr>
            <a:r>
              <a:rPr sz="1200" b="1">
                <a:solidFill>
                  <a:srgbClr val="7C3AED"/>
                </a:solidFill>
                <a:latin typeface="Arial"/>
              </a:rPr>
              <a:t>PROMPT GenAI WITH</a:t>
            </a:r>
          </a:p>
        </p:txBody>
      </p:sp>
      <p:sp>
        <p:nvSpPr>
          <p:cNvPr id="10" name="Rectangle 9"/>
          <p:cNvSpPr/>
          <p:nvPr/>
        </p:nvSpPr>
        <p:spPr>
          <a:xfrm>
            <a:off x="777240" y="2651760"/>
            <a:ext cx="10634472" cy="19659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88920"/>
            <a:ext cx="10104120" cy="1691640"/>
          </a:xfrm>
          <a:prstGeom prst="rect">
            <a:avLst/>
          </a:prstGeom>
          <a:noFill/>
        </p:spPr>
        <p:txBody>
          <a:bodyPr wrap="square" anchor="ctr">
            <a:spAutoFit/>
          </a:bodyPr>
          <a:lstStyle/>
          <a:p>
            <a:pPr algn="l">
              <a:spcAft>
                <a:spcPts val="400"/>
              </a:spcAft>
            </a:pPr>
            <a:r>
              <a:rPr sz="1600" b="0">
                <a:solidFill>
                  <a:srgbClr val="D6E4FF"/>
                </a:solidFill>
                <a:latin typeface="Arial"/>
              </a:rPr>
              <a:t>Compare Firm Fixed Price, Cost Plus Fixed Fee and Time and Materials for this procurement. State who carries cost-overrun risk, when each contract fits, and recommend one option using the supplied evaluation criteria.</a:t>
            </a:r>
          </a:p>
        </p:txBody>
      </p:sp>
      <p:sp>
        <p:nvSpPr>
          <p:cNvPr id="12" name="Rectangle 11"/>
          <p:cNvSpPr/>
          <p:nvPr/>
        </p:nvSpPr>
        <p:spPr>
          <a:xfrm>
            <a:off x="777240" y="4800600"/>
            <a:ext cx="10634472" cy="1051560"/>
          </a:xfrm>
          <a:prstGeom prst="rect">
            <a:avLst/>
          </a:prstGeom>
          <a:solidFill>
            <a:srgbClr val="FFF4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4919472"/>
            <a:ext cx="10149840" cy="320040"/>
          </a:xfrm>
          <a:prstGeom prst="rect">
            <a:avLst/>
          </a:prstGeom>
          <a:noFill/>
        </p:spPr>
        <p:txBody>
          <a:bodyPr wrap="square" anchor="t">
            <a:spAutoFit/>
          </a:bodyPr>
          <a:lstStyle/>
          <a:p>
            <a:pPr algn="l">
              <a:spcAft>
                <a:spcPts val="400"/>
              </a:spcAft>
            </a:pPr>
            <a:r>
              <a:rPr sz="1200" b="1">
                <a:solidFill>
                  <a:srgbClr val="F59E0B"/>
                </a:solidFill>
                <a:latin typeface="Arial"/>
              </a:rPr>
              <a:t>⚠  THEN CHECK IT</a:t>
            </a:r>
          </a:p>
        </p:txBody>
      </p:sp>
      <p:sp>
        <p:nvSpPr>
          <p:cNvPr id="14" name="TextBox 13"/>
          <p:cNvSpPr txBox="1"/>
          <p:nvPr/>
        </p:nvSpPr>
        <p:spPr>
          <a:xfrm>
            <a:off x="1051560" y="5230368"/>
            <a:ext cx="10149840" cy="548640"/>
          </a:xfrm>
          <a:prstGeom prst="rect">
            <a:avLst/>
          </a:prstGeom>
          <a:noFill/>
        </p:spPr>
        <p:txBody>
          <a:bodyPr wrap="square" anchor="t">
            <a:spAutoFit/>
          </a:bodyPr>
          <a:lstStyle/>
          <a:p>
            <a:pPr algn="l">
              <a:spcAft>
                <a:spcPts val="400"/>
              </a:spcAft>
            </a:pPr>
            <a:r>
              <a:rPr sz="1400" b="0">
                <a:solidFill>
                  <a:srgbClr val="161B26"/>
                </a:solidFill>
                <a:latin typeface="Arial"/>
              </a:rPr>
              <a:t>GenAI gives you a fast first draft. Check every figure, source and assumption before you use it.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235</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22 · CHECK YOUR 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Plan Procurement and Manage Contracts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34472"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9" name="TextBox 8"/>
          <p:cNvSpPr txBox="1"/>
          <p:nvPr/>
        </p:nvSpPr>
        <p:spPr>
          <a:xfrm>
            <a:off x="1097280" y="3017520"/>
            <a:ext cx="9966960" cy="1280160"/>
          </a:xfrm>
          <a:prstGeom prst="rect">
            <a:avLst/>
          </a:prstGeom>
          <a:noFill/>
        </p:spPr>
        <p:txBody>
          <a:bodyPr wrap="square" anchor="t">
            <a:spAutoFit/>
          </a:bodyPr>
          <a:lstStyle/>
          <a:p>
            <a:pPr algn="l">
              <a:spcAft>
                <a:spcPts val="400"/>
              </a:spcAft>
            </a:pPr>
            <a:r>
              <a:rPr sz="1700" b="0">
                <a:solidFill>
                  <a:srgbClr val="161B26"/>
                </a:solidFill>
                <a:latin typeface="Arial"/>
              </a:rPr>
              <a:t>You have the right bid document type, a contract type justified by who should carry scope risk, and a component checklist including IP, data privacy and dispute resolution.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236</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9509760" cy="548640"/>
          </a:xfrm>
          <a:prstGeom prst="rect">
            <a:avLst/>
          </a:prstGeom>
          <a:noFill/>
        </p:spPr>
        <p:txBody>
          <a:bodyPr wrap="square" anchor="t">
            <a:spAutoFit/>
          </a:bodyPr>
          <a:lstStyle/>
          <a:p>
            <a:pPr algn="l">
              <a:spcAft>
                <a:spcPts val="400"/>
              </a:spcAft>
            </a:pPr>
            <a:r>
              <a:rPr sz="1800" b="1">
                <a:solidFill>
                  <a:srgbClr val="1F6FEB"/>
                </a:solidFill>
                <a:latin typeface="Arial"/>
              </a:rPr>
              <a:t>MONITOR &amp; CONTROL</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3800" b="1">
                <a:solidFill>
                  <a:srgbClr val="161B26"/>
                </a:solidFill>
                <a:latin typeface="Arial"/>
              </a:rPr>
              <a:t>Monitor Work, Control Change and Measure Performance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237</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 DO CONTINUOUSLY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Monitoring and Controlling Project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Evaluate project progress against the baseline</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Manage issues and impediments</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Manage changes through integrated change control</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Support project team performance</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Implement ongoing improvements</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Monitor the external business environment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238</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WHY BASELINES MOVE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Causes of Project Change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Inaccurate initial estimates</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New or changed regulations</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Missed requirements</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Specification changes</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Changes to the business case</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External market or technology shifts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239</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FOUR TYPES — ONLY ONE CHANGES A BASELINE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Types of Change Request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Corrective action</a:t>
            </a:r>
          </a:p>
          <a:p>
            <a:pPr algn="l">
              <a:spcAft>
                <a:spcPts val="300"/>
              </a:spcAft>
            </a:pPr>
            <a:r>
              <a:rPr sz="1100" b="0">
                <a:solidFill>
                  <a:srgbClr val="5B6372"/>
                </a:solidFill>
                <a:latin typeface="Arial"/>
              </a:rPr>
              <a:t>Realigns the performance of project work with the project management plan.</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Preventive action</a:t>
            </a:r>
          </a:p>
          <a:p>
            <a:pPr algn="l">
              <a:spcAft>
                <a:spcPts val="300"/>
              </a:spcAft>
            </a:pPr>
            <a:r>
              <a:rPr sz="1100" b="0">
                <a:solidFill>
                  <a:srgbClr val="5B6372"/>
                </a:solidFill>
                <a:latin typeface="Arial"/>
              </a:rPr>
              <a:t>Ensures FUTURE performance aligns with the plan.</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87952"/>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Defect repair</a:t>
            </a:r>
          </a:p>
          <a:p>
            <a:pPr algn="l">
              <a:spcAft>
                <a:spcPts val="300"/>
              </a:spcAft>
            </a:pPr>
            <a:r>
              <a:rPr sz="1100" b="0">
                <a:solidFill>
                  <a:srgbClr val="5B6372"/>
                </a:solidFill>
                <a:latin typeface="Arial"/>
              </a:rPr>
              <a:t>Modifies a non-conformance within the project.</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87952"/>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Change</a:t>
            </a:r>
          </a:p>
          <a:p>
            <a:pPr algn="l">
              <a:spcAft>
                <a:spcPts val="300"/>
              </a:spcAft>
            </a:pPr>
            <a:r>
              <a:rPr sz="1100" b="0">
                <a:solidFill>
                  <a:srgbClr val="5B6372"/>
                </a:solidFill>
                <a:latin typeface="Arial"/>
              </a:rPr>
              <a:t>Modifies a project baseline — this is the one that needs formal approval.</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240</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CONTROLLING CHANGE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Integrated Change Control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Raise the change request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Analyse impacts on scope, schedule, cost, quality and risk</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Record it in the Change Log</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Change Control Board approves, defers or rejects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Communicate the outcome and update baselines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241</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SIX WAYS TO REPORT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Reporting on Performance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Milestone schedule</a:t>
            </a:r>
          </a:p>
          <a:p>
            <a:pPr algn="l">
              <a:spcAft>
                <a:spcPts val="300"/>
              </a:spcAft>
            </a:pPr>
            <a:r>
              <a:rPr sz="1000" b="0">
                <a:solidFill>
                  <a:srgbClr val="5B6372"/>
                </a:solidFill>
                <a:latin typeface="Arial"/>
              </a:rPr>
              <a:t>High-level visualisation of progress against planned dates.</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Quality reports</a:t>
            </a:r>
          </a:p>
          <a:p>
            <a:pPr algn="l">
              <a:spcAft>
                <a:spcPts val="300"/>
              </a:spcAft>
            </a:pPr>
            <a:r>
              <a:rPr sz="1000" b="0">
                <a:solidFill>
                  <a:srgbClr val="5B6372"/>
                </a:solidFill>
                <a:latin typeface="Arial"/>
              </a:rPr>
              <a:t>Charts and reports based on quality metrics.</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22904"/>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Earned value reports</a:t>
            </a:r>
          </a:p>
          <a:p>
            <a:pPr algn="l">
              <a:spcAft>
                <a:spcPts val="300"/>
              </a:spcAft>
            </a:pPr>
            <a:r>
              <a:rPr sz="1000" b="0">
                <a:solidFill>
                  <a:srgbClr val="5B6372"/>
                </a:solidFill>
                <a:latin typeface="Arial"/>
              </a:rPr>
              <a:t>Graphs and values based on the EVM equations.</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22904"/>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Variance analysis</a:t>
            </a:r>
          </a:p>
          <a:p>
            <a:pPr algn="l">
              <a:spcAft>
                <a:spcPts val="300"/>
              </a:spcAft>
            </a:pPr>
            <a:r>
              <a:rPr sz="1000" b="0">
                <a:solidFill>
                  <a:srgbClr val="5B6372"/>
                </a:solidFill>
                <a:latin typeface="Arial"/>
              </a:rPr>
              <a:t>Comparing actual against expected results.</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53000"/>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Work performance reports</a:t>
            </a:r>
          </a:p>
          <a:p>
            <a:pPr algn="l">
              <a:spcAft>
                <a:spcPts val="300"/>
              </a:spcAft>
            </a:pPr>
            <a:r>
              <a:rPr sz="1000" b="0">
                <a:solidFill>
                  <a:srgbClr val="5B6372"/>
                </a:solidFill>
                <a:latin typeface="Arial"/>
              </a:rPr>
              <a:t>The formal status representation.</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53000"/>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Dashboards</a:t>
            </a:r>
          </a:p>
          <a:p>
            <a:pPr algn="l">
              <a:spcAft>
                <a:spcPts val="300"/>
              </a:spcAft>
            </a:pPr>
            <a:r>
              <a:rPr sz="1000" b="0">
                <a:solidFill>
                  <a:srgbClr val="5B6372"/>
                </a:solidFill>
                <a:latin typeface="Arial"/>
              </a:rPr>
              <a:t>Visual progress summaries representing a larger data set.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242</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9509760" cy="548640"/>
          </a:xfrm>
          <a:prstGeom prst="rect">
            <a:avLst/>
          </a:prstGeom>
          <a:noFill/>
        </p:spPr>
        <p:txBody>
          <a:bodyPr wrap="square" anchor="t">
            <a:spAutoFit/>
          </a:bodyPr>
          <a:lstStyle/>
          <a:p>
            <a:pPr algn="l">
              <a:spcAft>
                <a:spcPts val="400"/>
              </a:spcAft>
            </a:pPr>
            <a:r>
              <a:rPr sz="1800" b="1">
                <a:solidFill>
                  <a:srgbClr val="1F6FEB"/>
                </a:solidFill>
                <a:latin typeface="Arial"/>
              </a:rPr>
              <a:t>EARNED VALUE</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3800" b="1">
                <a:solidFill>
                  <a:srgbClr val="161B26"/>
                </a:solidFill>
                <a:latin typeface="Arial"/>
              </a:rPr>
              <a:t>Measure Performance Objectively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243</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EVERYTHING ELSE IS DERIVED FROM THESE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Three Base Values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9482328" cy="1146048"/>
          </a:xfrm>
          <a:prstGeom prst="rect">
            <a:avLst/>
          </a:prstGeom>
          <a:noFill/>
        </p:spPr>
        <p:txBody>
          <a:bodyPr wrap="square" anchor="ctr">
            <a:spAutoFit/>
          </a:bodyPr>
          <a:lstStyle/>
          <a:p>
            <a:pPr algn="l">
              <a:spcAft>
                <a:spcPts val="300"/>
              </a:spcAft>
            </a:pPr>
            <a:r>
              <a:rPr sz="1700" b="1">
                <a:solidFill>
                  <a:srgbClr val="161B26"/>
                </a:solidFill>
                <a:latin typeface="Arial"/>
              </a:rPr>
              <a:t>PV — Planned Value</a:t>
            </a:r>
          </a:p>
          <a:p>
            <a:pPr algn="l">
              <a:spcAft>
                <a:spcPts val="300"/>
              </a:spcAft>
            </a:pPr>
            <a:r>
              <a:rPr sz="1300" b="0">
                <a:solidFill>
                  <a:srgbClr val="5B6372"/>
                </a:solidFill>
                <a:latin typeface="Arial"/>
              </a:rPr>
              <a:t>The authorised budget assigned to the work SCHEDULED to be done by now.</a:t>
            </a:r>
          </a:p>
        </p:txBody>
      </p:sp>
      <p:sp>
        <p:nvSpPr>
          <p:cNvPr id="12" name="Rectangle 11"/>
          <p:cNvSpPr/>
          <p:nvPr/>
        </p:nvSpPr>
        <p:spPr>
          <a:xfrm>
            <a:off x="777240" y="3313176"/>
            <a:ext cx="10634472"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3176"/>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14984" y="3712464"/>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1709928" y="3422904"/>
            <a:ext cx="9482328" cy="1146048"/>
          </a:xfrm>
          <a:prstGeom prst="rect">
            <a:avLst/>
          </a:prstGeom>
          <a:noFill/>
        </p:spPr>
        <p:txBody>
          <a:bodyPr wrap="square" anchor="ctr">
            <a:spAutoFit/>
          </a:bodyPr>
          <a:lstStyle/>
          <a:p>
            <a:pPr algn="l">
              <a:spcAft>
                <a:spcPts val="300"/>
              </a:spcAft>
            </a:pPr>
            <a:r>
              <a:rPr sz="1700" b="1">
                <a:solidFill>
                  <a:srgbClr val="161B26"/>
                </a:solidFill>
                <a:latin typeface="Arial"/>
              </a:rPr>
              <a:t>EV — Earned Value</a:t>
            </a:r>
          </a:p>
          <a:p>
            <a:pPr algn="l">
              <a:spcAft>
                <a:spcPts val="300"/>
              </a:spcAft>
            </a:pPr>
            <a:r>
              <a:rPr sz="1300" b="0">
                <a:solidFill>
                  <a:srgbClr val="5B6372"/>
                </a:solidFill>
                <a:latin typeface="Arial"/>
              </a:rPr>
              <a:t>The budget for the work ACTUALLY COMPLETED, in budget terms.</a:t>
            </a:r>
          </a:p>
        </p:txBody>
      </p:sp>
      <p:sp>
        <p:nvSpPr>
          <p:cNvPr id="17" name="Rectangle 16"/>
          <p:cNvSpPr/>
          <p:nvPr/>
        </p:nvSpPr>
        <p:spPr>
          <a:xfrm>
            <a:off x="777240" y="4843272"/>
            <a:ext cx="10634472"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43272"/>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5242560"/>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953000"/>
            <a:ext cx="9482328" cy="1146048"/>
          </a:xfrm>
          <a:prstGeom prst="rect">
            <a:avLst/>
          </a:prstGeom>
          <a:noFill/>
        </p:spPr>
        <p:txBody>
          <a:bodyPr wrap="square" anchor="ctr">
            <a:spAutoFit/>
          </a:bodyPr>
          <a:lstStyle/>
          <a:p>
            <a:pPr algn="l">
              <a:spcAft>
                <a:spcPts val="300"/>
              </a:spcAft>
            </a:pPr>
            <a:r>
              <a:rPr sz="1700" b="1">
                <a:solidFill>
                  <a:srgbClr val="161B26"/>
                </a:solidFill>
                <a:latin typeface="Arial"/>
              </a:rPr>
              <a:t>AC — Actual Cost</a:t>
            </a:r>
          </a:p>
          <a:p>
            <a:pPr algn="l">
              <a:spcAft>
                <a:spcPts val="300"/>
              </a:spcAft>
            </a:pPr>
            <a:r>
              <a:rPr sz="1300" b="0">
                <a:solidFill>
                  <a:srgbClr val="5B6372"/>
                </a:solidFill>
                <a:latin typeface="Arial"/>
              </a:rPr>
              <a:t>The cost actually INCURRED for the work performed.</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244</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ARE YOU OVER OR BEHIND?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Variance Analysis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36208" y="1783080"/>
            <a:ext cx="517550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36208" y="1783080"/>
            <a:ext cx="517550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011680"/>
            <a:ext cx="4754880" cy="365760"/>
          </a:xfrm>
          <a:prstGeom prst="rect">
            <a:avLst/>
          </a:prstGeom>
          <a:noFill/>
        </p:spPr>
        <p:txBody>
          <a:bodyPr wrap="square" anchor="t">
            <a:spAutoFit/>
          </a:bodyPr>
          <a:lstStyle/>
          <a:p>
            <a:pPr algn="l">
              <a:spcAft>
                <a:spcPts val="400"/>
              </a:spcAft>
            </a:pPr>
            <a:r>
              <a:rPr sz="1700" b="1">
                <a:solidFill>
                  <a:srgbClr val="1F6FEB"/>
                </a:solidFill>
                <a:latin typeface="Arial"/>
              </a:rPr>
              <a:t>Cost</a:t>
            </a:r>
          </a:p>
        </p:txBody>
      </p:sp>
      <p:sp>
        <p:nvSpPr>
          <p:cNvPr id="12" name="TextBox 11"/>
          <p:cNvSpPr txBox="1"/>
          <p:nvPr/>
        </p:nvSpPr>
        <p:spPr>
          <a:xfrm>
            <a:off x="6464808" y="2011680"/>
            <a:ext cx="4663440" cy="365760"/>
          </a:xfrm>
          <a:prstGeom prst="rect">
            <a:avLst/>
          </a:prstGeom>
          <a:noFill/>
        </p:spPr>
        <p:txBody>
          <a:bodyPr wrap="square" anchor="t">
            <a:spAutoFit/>
          </a:bodyPr>
          <a:lstStyle/>
          <a:p>
            <a:pPr algn="l">
              <a:spcAft>
                <a:spcPts val="400"/>
              </a:spcAft>
            </a:pPr>
            <a:r>
              <a:rPr sz="1700" b="1">
                <a:solidFill>
                  <a:srgbClr val="10B981"/>
                </a:solidFill>
                <a:latin typeface="Arial"/>
              </a:rPr>
              <a:t>Schedule</a:t>
            </a:r>
          </a:p>
        </p:txBody>
      </p:sp>
      <p:sp>
        <p:nvSpPr>
          <p:cNvPr id="13" name="TextBox 12"/>
          <p:cNvSpPr txBox="1"/>
          <p:nvPr/>
        </p:nvSpPr>
        <p:spPr>
          <a:xfrm>
            <a:off x="1005840" y="2514600"/>
            <a:ext cx="4754880" cy="3383280"/>
          </a:xfrm>
          <a:prstGeom prst="rect">
            <a:avLst/>
          </a:prstGeom>
          <a:noFill/>
        </p:spPr>
        <p:txBody>
          <a:bodyPr wrap="square">
            <a:spAutoFit/>
          </a:bodyPr>
          <a:lstStyle/>
          <a:p>
            <a:pPr>
              <a:spcAft>
                <a:spcPts val="1000"/>
              </a:spcAft>
            </a:pPr>
            <a:r>
              <a:rPr sz="1500">
                <a:solidFill>
                  <a:srgbClr val="161B26"/>
                </a:solidFill>
                <a:latin typeface="Arial"/>
              </a:rPr>
              <a:t>•  Cost Variance</a:t>
            </a:r>
          </a:p>
          <a:p>
            <a:pPr>
              <a:spcAft>
                <a:spcPts val="1000"/>
              </a:spcAft>
            </a:pPr>
            <a:r>
              <a:rPr sz="1300">
                <a:solidFill>
                  <a:srgbClr val="5B6372"/>
                </a:solidFill>
                <a:latin typeface="Arial"/>
              </a:rPr>
              <a:t>–  CV = EV – AC</a:t>
            </a:r>
          </a:p>
          <a:p>
            <a:pPr>
              <a:spcAft>
                <a:spcPts val="1000"/>
              </a:spcAft>
            </a:pPr>
            <a:r>
              <a:rPr sz="1300">
                <a:solidFill>
                  <a:srgbClr val="5B6372"/>
                </a:solidFill>
                <a:latin typeface="Arial"/>
              </a:rPr>
              <a:t>–  POSITIVE is good — under budget</a:t>
            </a:r>
          </a:p>
          <a:p>
            <a:pPr>
              <a:spcAft>
                <a:spcPts val="1000"/>
              </a:spcAft>
            </a:pPr>
            <a:r>
              <a:rPr sz="1300">
                <a:solidFill>
                  <a:srgbClr val="5B6372"/>
                </a:solidFill>
                <a:latin typeface="Arial"/>
              </a:rPr>
              <a:t>–  NEGATIVE is bad — over budget</a:t>
            </a:r>
          </a:p>
          <a:p>
            <a:pPr>
              <a:spcAft>
                <a:spcPts val="1000"/>
              </a:spcAft>
            </a:pPr>
            <a:r>
              <a:rPr sz="1300">
                <a:solidFill>
                  <a:srgbClr val="5B6372"/>
                </a:solidFill>
                <a:latin typeface="Arial"/>
              </a:rPr>
              <a:t>–  Measured in dollars</a:t>
            </a:r>
          </a:p>
        </p:txBody>
      </p:sp>
      <p:sp>
        <p:nvSpPr>
          <p:cNvPr id="14" name="TextBox 13"/>
          <p:cNvSpPr txBox="1"/>
          <p:nvPr/>
        </p:nvSpPr>
        <p:spPr>
          <a:xfrm>
            <a:off x="6464808" y="2514600"/>
            <a:ext cx="4709160" cy="3383280"/>
          </a:xfrm>
          <a:prstGeom prst="rect">
            <a:avLst/>
          </a:prstGeom>
          <a:noFill/>
        </p:spPr>
        <p:txBody>
          <a:bodyPr wrap="square">
            <a:spAutoFit/>
          </a:bodyPr>
          <a:lstStyle/>
          <a:p>
            <a:pPr>
              <a:spcAft>
                <a:spcPts val="1000"/>
              </a:spcAft>
            </a:pPr>
            <a:r>
              <a:rPr sz="1500">
                <a:solidFill>
                  <a:srgbClr val="161B26"/>
                </a:solidFill>
                <a:latin typeface="Arial"/>
              </a:rPr>
              <a:t>•  Schedule Variance</a:t>
            </a:r>
          </a:p>
          <a:p>
            <a:pPr>
              <a:spcAft>
                <a:spcPts val="1000"/>
              </a:spcAft>
            </a:pPr>
            <a:r>
              <a:rPr sz="1300">
                <a:solidFill>
                  <a:srgbClr val="5B6372"/>
                </a:solidFill>
                <a:latin typeface="Arial"/>
              </a:rPr>
              <a:t>–  SV = EV – PV</a:t>
            </a:r>
          </a:p>
          <a:p>
            <a:pPr>
              <a:spcAft>
                <a:spcPts val="1000"/>
              </a:spcAft>
            </a:pPr>
            <a:r>
              <a:rPr sz="1300">
                <a:solidFill>
                  <a:srgbClr val="5B6372"/>
                </a:solidFill>
                <a:latin typeface="Arial"/>
              </a:rPr>
              <a:t>–  POSITIVE is good — ahead of schedule</a:t>
            </a:r>
          </a:p>
          <a:p>
            <a:pPr>
              <a:spcAft>
                <a:spcPts val="1000"/>
              </a:spcAft>
            </a:pPr>
            <a:r>
              <a:rPr sz="1300">
                <a:solidFill>
                  <a:srgbClr val="5B6372"/>
                </a:solidFill>
                <a:latin typeface="Arial"/>
              </a:rPr>
              <a:t>–  NEGATIVE is bad — behind schedule</a:t>
            </a:r>
          </a:p>
          <a:p>
            <a:pPr>
              <a:spcAft>
                <a:spcPts val="1000"/>
              </a:spcAft>
            </a:pPr>
            <a:r>
              <a:rPr sz="1300">
                <a:solidFill>
                  <a:srgbClr val="5B6372"/>
                </a:solidFill>
                <a:latin typeface="Arial"/>
              </a:rPr>
              <a:t>–  Measured in dollars, not days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245</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RATIOS TELL YOU THE RATE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Performance Indices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36208" y="1783080"/>
            <a:ext cx="517550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36208" y="1783080"/>
            <a:ext cx="517550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011680"/>
            <a:ext cx="4754880" cy="365760"/>
          </a:xfrm>
          <a:prstGeom prst="rect">
            <a:avLst/>
          </a:prstGeom>
          <a:noFill/>
        </p:spPr>
        <p:txBody>
          <a:bodyPr wrap="square" anchor="t">
            <a:spAutoFit/>
          </a:bodyPr>
          <a:lstStyle/>
          <a:p>
            <a:pPr algn="l">
              <a:spcAft>
                <a:spcPts val="400"/>
              </a:spcAft>
            </a:pPr>
            <a:r>
              <a:rPr sz="1700" b="1">
                <a:solidFill>
                  <a:srgbClr val="1F6FEB"/>
                </a:solidFill>
                <a:latin typeface="Arial"/>
              </a:rPr>
              <a:t>Cost</a:t>
            </a:r>
          </a:p>
        </p:txBody>
      </p:sp>
      <p:sp>
        <p:nvSpPr>
          <p:cNvPr id="12" name="TextBox 11"/>
          <p:cNvSpPr txBox="1"/>
          <p:nvPr/>
        </p:nvSpPr>
        <p:spPr>
          <a:xfrm>
            <a:off x="6464808" y="2011680"/>
            <a:ext cx="4663440" cy="365760"/>
          </a:xfrm>
          <a:prstGeom prst="rect">
            <a:avLst/>
          </a:prstGeom>
          <a:noFill/>
        </p:spPr>
        <p:txBody>
          <a:bodyPr wrap="square" anchor="t">
            <a:spAutoFit/>
          </a:bodyPr>
          <a:lstStyle/>
          <a:p>
            <a:pPr algn="l">
              <a:spcAft>
                <a:spcPts val="400"/>
              </a:spcAft>
            </a:pPr>
            <a:r>
              <a:rPr sz="1700" b="1">
                <a:solidFill>
                  <a:srgbClr val="10B981"/>
                </a:solidFill>
                <a:latin typeface="Arial"/>
              </a:rPr>
              <a:t>Schedule</a:t>
            </a:r>
          </a:p>
        </p:txBody>
      </p:sp>
      <p:sp>
        <p:nvSpPr>
          <p:cNvPr id="13" name="TextBox 12"/>
          <p:cNvSpPr txBox="1"/>
          <p:nvPr/>
        </p:nvSpPr>
        <p:spPr>
          <a:xfrm>
            <a:off x="1005840" y="2514600"/>
            <a:ext cx="4754880" cy="3383280"/>
          </a:xfrm>
          <a:prstGeom prst="rect">
            <a:avLst/>
          </a:prstGeom>
          <a:noFill/>
        </p:spPr>
        <p:txBody>
          <a:bodyPr wrap="square">
            <a:spAutoFit/>
          </a:bodyPr>
          <a:lstStyle/>
          <a:p>
            <a:pPr>
              <a:spcAft>
                <a:spcPts val="1000"/>
              </a:spcAft>
            </a:pPr>
            <a:r>
              <a:rPr sz="1400">
                <a:solidFill>
                  <a:srgbClr val="161B26"/>
                </a:solidFill>
                <a:latin typeface="Arial"/>
              </a:rPr>
              <a:t>•  Cost Performance Index</a:t>
            </a:r>
          </a:p>
          <a:p>
            <a:pPr>
              <a:spcAft>
                <a:spcPts val="1000"/>
              </a:spcAft>
            </a:pPr>
            <a:r>
              <a:rPr sz="1200">
                <a:solidFill>
                  <a:srgbClr val="5B6372"/>
                </a:solidFill>
                <a:latin typeface="Arial"/>
              </a:rPr>
              <a:t>–  CPI = EV ÷ AC</a:t>
            </a:r>
          </a:p>
          <a:p>
            <a:pPr>
              <a:spcAft>
                <a:spcPts val="1000"/>
              </a:spcAft>
            </a:pPr>
            <a:r>
              <a:rPr sz="1200">
                <a:solidFill>
                  <a:srgbClr val="5B6372"/>
                </a:solidFill>
                <a:latin typeface="Arial"/>
              </a:rPr>
              <a:t>–  Greater than 1 is good</a:t>
            </a:r>
          </a:p>
          <a:p>
            <a:pPr>
              <a:spcAft>
                <a:spcPts val="1000"/>
              </a:spcAft>
            </a:pPr>
            <a:r>
              <a:rPr sz="1200">
                <a:solidFill>
                  <a:srgbClr val="5B6372"/>
                </a:solidFill>
                <a:latin typeface="Arial"/>
              </a:rPr>
              <a:t>–  Less than 1 means you are over budget</a:t>
            </a:r>
          </a:p>
          <a:p>
            <a:pPr>
              <a:spcAft>
                <a:spcPts val="1000"/>
              </a:spcAft>
            </a:pPr>
            <a:r>
              <a:rPr sz="1200">
                <a:solidFill>
                  <a:srgbClr val="5B6372"/>
                </a:solidFill>
                <a:latin typeface="Arial"/>
              </a:rPr>
              <a:t>–  CPI of 0.84 means you get 84 cents of value per dollar spent</a:t>
            </a:r>
          </a:p>
        </p:txBody>
      </p:sp>
      <p:sp>
        <p:nvSpPr>
          <p:cNvPr id="14" name="TextBox 13"/>
          <p:cNvSpPr txBox="1"/>
          <p:nvPr/>
        </p:nvSpPr>
        <p:spPr>
          <a:xfrm>
            <a:off x="6464808" y="2514600"/>
            <a:ext cx="4709160" cy="3383280"/>
          </a:xfrm>
          <a:prstGeom prst="rect">
            <a:avLst/>
          </a:prstGeom>
          <a:noFill/>
        </p:spPr>
        <p:txBody>
          <a:bodyPr wrap="square">
            <a:spAutoFit/>
          </a:bodyPr>
          <a:lstStyle/>
          <a:p>
            <a:pPr>
              <a:spcAft>
                <a:spcPts val="1000"/>
              </a:spcAft>
            </a:pPr>
            <a:r>
              <a:rPr sz="1400">
                <a:solidFill>
                  <a:srgbClr val="161B26"/>
                </a:solidFill>
                <a:latin typeface="Arial"/>
              </a:rPr>
              <a:t>•  Schedule Performance Index</a:t>
            </a:r>
          </a:p>
          <a:p>
            <a:pPr>
              <a:spcAft>
                <a:spcPts val="1000"/>
              </a:spcAft>
            </a:pPr>
            <a:r>
              <a:rPr sz="1200">
                <a:solidFill>
                  <a:srgbClr val="5B6372"/>
                </a:solidFill>
                <a:latin typeface="Arial"/>
              </a:rPr>
              <a:t>–  SPI = EV ÷ PV</a:t>
            </a:r>
          </a:p>
          <a:p>
            <a:pPr>
              <a:spcAft>
                <a:spcPts val="1000"/>
              </a:spcAft>
            </a:pPr>
            <a:r>
              <a:rPr sz="1200">
                <a:solidFill>
                  <a:srgbClr val="5B6372"/>
                </a:solidFill>
                <a:latin typeface="Arial"/>
              </a:rPr>
              <a:t>–  Greater than 1 is good</a:t>
            </a:r>
          </a:p>
          <a:p>
            <a:pPr>
              <a:spcAft>
                <a:spcPts val="1000"/>
              </a:spcAft>
            </a:pPr>
            <a:r>
              <a:rPr sz="1200">
                <a:solidFill>
                  <a:srgbClr val="5B6372"/>
                </a:solidFill>
                <a:latin typeface="Arial"/>
              </a:rPr>
              <a:t>–  Less than 1 means you are behind schedule</a:t>
            </a:r>
          </a:p>
          <a:p>
            <a:pPr>
              <a:spcAft>
                <a:spcPts val="1000"/>
              </a:spcAft>
            </a:pPr>
            <a:r>
              <a:rPr sz="1200">
                <a:solidFill>
                  <a:srgbClr val="5B6372"/>
                </a:solidFill>
                <a:latin typeface="Arial"/>
              </a:rPr>
              <a:t>–  SPI of 0.80 means you are progressing at 80% of the planned rate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246</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WHERE WILL WE END UP?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Forecasting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BAC — Budget At Completion</a:t>
            </a:r>
          </a:p>
          <a:p>
            <a:pPr algn="l">
              <a:spcAft>
                <a:spcPts val="300"/>
              </a:spcAft>
            </a:pPr>
            <a:r>
              <a:rPr sz="1200" b="0">
                <a:solidFill>
                  <a:srgbClr val="5B6372"/>
                </a:solidFill>
                <a:latin typeface="Arial"/>
              </a:rPr>
              <a:t>The total approved budget for the project.</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EAC — Estimate At Completion</a:t>
            </a:r>
          </a:p>
          <a:p>
            <a:pPr algn="l">
              <a:spcAft>
                <a:spcPts val="300"/>
              </a:spcAft>
            </a:pPr>
            <a:r>
              <a:rPr sz="1200" b="0">
                <a:solidFill>
                  <a:srgbClr val="5B6372"/>
                </a:solidFill>
                <a:latin typeface="Arial"/>
              </a:rPr>
              <a:t>What the project will now cost in total. EAC = BAC ÷ CPI.</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ETC — Estimate To Complete</a:t>
            </a:r>
          </a:p>
          <a:p>
            <a:pPr algn="l">
              <a:spcAft>
                <a:spcPts val="300"/>
              </a:spcAft>
            </a:pPr>
            <a:r>
              <a:rPr sz="1200" b="0">
                <a:solidFill>
                  <a:srgbClr val="5B6372"/>
                </a:solidFill>
                <a:latin typeface="Arial"/>
              </a:rPr>
              <a:t>What remains to be spent. ETC = EAC – AC.</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VAC — Variance At Completion</a:t>
            </a:r>
          </a:p>
          <a:p>
            <a:pPr algn="l">
              <a:spcAft>
                <a:spcPts val="300"/>
              </a:spcAft>
            </a:pPr>
            <a:r>
              <a:rPr sz="1200" b="0">
                <a:solidFill>
                  <a:srgbClr val="5B6372"/>
                </a:solidFill>
                <a:latin typeface="Arial"/>
              </a:rPr>
              <a:t>How far off budget you will finish. VAC = BAC – EAC.</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247</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ACTIVITY 23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Earned Value Analysis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23</a:t>
            </a:r>
          </a:p>
        </p:txBody>
      </p:sp>
      <p:sp>
        <p:nvSpPr>
          <p:cNvPr id="9" name="TextBox 8"/>
          <p:cNvSpPr txBox="1"/>
          <p:nvPr/>
        </p:nvSpPr>
        <p:spPr>
          <a:xfrm>
            <a:off x="777240" y="2331720"/>
            <a:ext cx="10698480" cy="1554480"/>
          </a:xfrm>
          <a:prstGeom prst="rect">
            <a:avLst/>
          </a:prstGeom>
          <a:noFill/>
        </p:spPr>
        <p:txBody>
          <a:bodyPr wrap="square" anchor="t">
            <a:spAutoFit/>
          </a:bodyPr>
          <a:lstStyle/>
          <a:p>
            <a:pPr algn="l">
              <a:spcAft>
                <a:spcPts val="400"/>
              </a:spcAft>
            </a:pPr>
            <a:r>
              <a:rPr sz="1900" b="0">
                <a:solidFill>
                  <a:srgbClr val="161B26"/>
                </a:solidFill>
                <a:latin typeface="Arial"/>
              </a:rPr>
              <a:t>Earned value is the one technique that tells you objectively whether you are ahead or behind, over or under. You will compute it by hand first, then test whether GenAI gets it right.</a:t>
            </a:r>
          </a:p>
        </p:txBody>
      </p:sp>
      <p:sp>
        <p:nvSpPr>
          <p:cNvPr id="10" name="Rectangle 9"/>
          <p:cNvSpPr/>
          <p:nvPr/>
        </p:nvSpPr>
        <p:spPr>
          <a:xfrm>
            <a:off x="777240" y="3977639"/>
            <a:ext cx="10634472" cy="17830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60520"/>
            <a:ext cx="10058400" cy="365760"/>
          </a:xfrm>
          <a:prstGeom prst="rect">
            <a:avLst/>
          </a:prstGeom>
          <a:noFill/>
        </p:spPr>
        <p:txBody>
          <a:bodyPr wrap="square" anchor="t">
            <a:spAutoFit/>
          </a:bodyPr>
          <a:lstStyle/>
          <a:p>
            <a:pPr algn="l">
              <a:spcAft>
                <a:spcPts val="400"/>
              </a:spcAft>
            </a:pPr>
            <a:r>
              <a:rPr sz="1300" b="1">
                <a:solidFill>
                  <a:srgbClr val="127A3E"/>
                </a:solidFill>
                <a:latin typeface="Arial"/>
              </a:rPr>
              <a:t>You'll produce</a:t>
            </a:r>
          </a:p>
        </p:txBody>
      </p:sp>
      <p:sp>
        <p:nvSpPr>
          <p:cNvPr id="12" name="TextBox 11"/>
          <p:cNvSpPr txBox="1"/>
          <p:nvPr/>
        </p:nvSpPr>
        <p:spPr>
          <a:xfrm>
            <a:off x="1005840" y="4498848"/>
            <a:ext cx="10149840" cy="685800"/>
          </a:xfrm>
          <a:prstGeom prst="rect">
            <a:avLst/>
          </a:prstGeom>
          <a:noFill/>
        </p:spPr>
        <p:txBody>
          <a:bodyPr wrap="square" anchor="t">
            <a:spAutoFit/>
          </a:bodyPr>
          <a:lstStyle/>
          <a:p>
            <a:pPr algn="l">
              <a:spcAft>
                <a:spcPts val="400"/>
              </a:spcAft>
            </a:pPr>
            <a:r>
              <a:rPr sz="1700" b="1">
                <a:solidFill>
                  <a:srgbClr val="161B26"/>
                </a:solidFill>
                <a:latin typeface="Arial"/>
              </a:rPr>
              <a:t>A complete earned value analysis with variances, indices and a forecast.</a:t>
            </a:r>
          </a:p>
        </p:txBody>
      </p:sp>
      <p:sp>
        <p:nvSpPr>
          <p:cNvPr id="13" name="TextBox 12"/>
          <p:cNvSpPr txBox="1"/>
          <p:nvPr/>
        </p:nvSpPr>
        <p:spPr>
          <a:xfrm>
            <a:off x="1005840" y="5257800"/>
            <a:ext cx="10241280" cy="4572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GenAI tool · calculator</a:t>
            </a:r>
          </a:p>
        </p:txBody>
      </p:sp>
      <p:sp>
        <p:nvSpPr>
          <p:cNvPr id="14" name="TextBox 13"/>
          <p:cNvSpPr txBox="1"/>
          <p:nvPr/>
        </p:nvSpPr>
        <p:spPr>
          <a:xfrm>
            <a:off x="777240" y="5897880"/>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Step-by-step instructions: see your Learner Guide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248</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03 · ACTIVITY 23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Earned Value Analysis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23</a:t>
            </a:r>
          </a:p>
        </p:txBody>
      </p:sp>
      <p:sp>
        <p:nvSpPr>
          <p:cNvPr id="9" name="TextBox 8"/>
          <p:cNvSpPr txBox="1"/>
          <p:nvPr/>
        </p:nvSpPr>
        <p:spPr>
          <a:xfrm>
            <a:off x="777240" y="2286000"/>
            <a:ext cx="10607040" cy="365760"/>
          </a:xfrm>
          <a:prstGeom prst="rect">
            <a:avLst/>
          </a:prstGeom>
          <a:noFill/>
        </p:spPr>
        <p:txBody>
          <a:bodyPr wrap="square" anchor="t">
            <a:spAutoFit/>
          </a:bodyPr>
          <a:lstStyle/>
          <a:p>
            <a:pPr algn="l">
              <a:spcAft>
                <a:spcPts val="400"/>
              </a:spcAft>
            </a:pPr>
            <a:r>
              <a:rPr sz="1200" b="1">
                <a:solidFill>
                  <a:srgbClr val="7C3AED"/>
                </a:solidFill>
                <a:latin typeface="Arial"/>
              </a:rPr>
              <a:t>PROMPT GenAI WITH</a:t>
            </a:r>
          </a:p>
        </p:txBody>
      </p:sp>
      <p:sp>
        <p:nvSpPr>
          <p:cNvPr id="10" name="Rectangle 9"/>
          <p:cNvSpPr/>
          <p:nvPr/>
        </p:nvSpPr>
        <p:spPr>
          <a:xfrm>
            <a:off x="777240" y="2651760"/>
            <a:ext cx="10634472" cy="19659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88920"/>
            <a:ext cx="10104120" cy="1691640"/>
          </a:xfrm>
          <a:prstGeom prst="rect">
            <a:avLst/>
          </a:prstGeom>
          <a:noFill/>
        </p:spPr>
        <p:txBody>
          <a:bodyPr wrap="square" anchor="ctr">
            <a:spAutoFit/>
          </a:bodyPr>
          <a:lstStyle/>
          <a:p>
            <a:pPr algn="l">
              <a:spcAft>
                <a:spcPts val="400"/>
              </a:spcAft>
            </a:pPr>
            <a:r>
              <a:rPr sz="1600" b="0">
                <a:solidFill>
                  <a:srgbClr val="D6E4FF"/>
                </a:solidFill>
                <a:latin typeface="Arial"/>
              </a:rPr>
              <a:t>Using the supplied baseline, completion and actual-cost data, calculate PV, EV, AC, CV, SV, CPI, SPI, EAC and ETC. Show the formula and substitution for every result, then interpret the project status.</a:t>
            </a:r>
          </a:p>
        </p:txBody>
      </p:sp>
      <p:sp>
        <p:nvSpPr>
          <p:cNvPr id="12" name="Rectangle 11"/>
          <p:cNvSpPr/>
          <p:nvPr/>
        </p:nvSpPr>
        <p:spPr>
          <a:xfrm>
            <a:off x="777240" y="4800600"/>
            <a:ext cx="10634472" cy="1051560"/>
          </a:xfrm>
          <a:prstGeom prst="rect">
            <a:avLst/>
          </a:prstGeom>
          <a:solidFill>
            <a:srgbClr val="FFF4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4919472"/>
            <a:ext cx="10149840" cy="320040"/>
          </a:xfrm>
          <a:prstGeom prst="rect">
            <a:avLst/>
          </a:prstGeom>
          <a:noFill/>
        </p:spPr>
        <p:txBody>
          <a:bodyPr wrap="square" anchor="t">
            <a:spAutoFit/>
          </a:bodyPr>
          <a:lstStyle/>
          <a:p>
            <a:pPr algn="l">
              <a:spcAft>
                <a:spcPts val="400"/>
              </a:spcAft>
            </a:pPr>
            <a:r>
              <a:rPr sz="1200" b="1">
                <a:solidFill>
                  <a:srgbClr val="F59E0B"/>
                </a:solidFill>
                <a:latin typeface="Arial"/>
              </a:rPr>
              <a:t>⚠  THEN CHECK IT</a:t>
            </a:r>
          </a:p>
        </p:txBody>
      </p:sp>
      <p:sp>
        <p:nvSpPr>
          <p:cNvPr id="14" name="TextBox 13"/>
          <p:cNvSpPr txBox="1"/>
          <p:nvPr/>
        </p:nvSpPr>
        <p:spPr>
          <a:xfrm>
            <a:off x="1051560" y="5230368"/>
            <a:ext cx="10149840" cy="548640"/>
          </a:xfrm>
          <a:prstGeom prst="rect">
            <a:avLst/>
          </a:prstGeom>
          <a:noFill/>
        </p:spPr>
        <p:txBody>
          <a:bodyPr wrap="square" anchor="t">
            <a:spAutoFit/>
          </a:bodyPr>
          <a:lstStyle/>
          <a:p>
            <a:pPr algn="l">
              <a:spcAft>
                <a:spcPts val="400"/>
              </a:spcAft>
            </a:pPr>
            <a:r>
              <a:rPr sz="1400" b="0">
                <a:solidFill>
                  <a:srgbClr val="161B26"/>
                </a:solidFill>
                <a:latin typeface="Arial"/>
              </a:rPr>
              <a:t>GenAI gives you a fast first draft. Check every figure, source and assumption before you use it.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249</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23 · CHECK YOUR 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Earned Value Analysis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34472"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9" name="TextBox 8"/>
          <p:cNvSpPr txBox="1"/>
          <p:nvPr/>
        </p:nvSpPr>
        <p:spPr>
          <a:xfrm>
            <a:off x="1097280" y="3017520"/>
            <a:ext cx="9966960" cy="1280160"/>
          </a:xfrm>
          <a:prstGeom prst="rect">
            <a:avLst/>
          </a:prstGeom>
          <a:noFill/>
        </p:spPr>
        <p:txBody>
          <a:bodyPr wrap="square" anchor="t">
            <a:spAutoFit/>
          </a:bodyPr>
          <a:lstStyle/>
          <a:p>
            <a:pPr algn="l">
              <a:spcAft>
                <a:spcPts val="400"/>
              </a:spcAft>
            </a:pPr>
            <a:r>
              <a:rPr sz="1700" b="0">
                <a:solidFill>
                  <a:srgbClr val="161B26"/>
                </a:solidFill>
                <a:latin typeface="Arial"/>
              </a:rPr>
              <a:t>You can compute PV, EV, AC, CV, SV, CPI, SPI and EAC unaided for a fresh scenario, and you found at least one error in the AI's version.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250</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9509760" cy="548640"/>
          </a:xfrm>
          <a:prstGeom prst="rect">
            <a:avLst/>
          </a:prstGeom>
          <a:noFill/>
        </p:spPr>
        <p:txBody>
          <a:bodyPr wrap="square" anchor="t">
            <a:spAutoFit/>
          </a:bodyPr>
          <a:lstStyle/>
          <a:p>
            <a:pPr algn="l">
              <a:spcAft>
                <a:spcPts val="400"/>
              </a:spcAft>
            </a:pPr>
            <a:r>
              <a:rPr sz="1800" b="1">
                <a:solidFill>
                  <a:srgbClr val="1F6FEB"/>
                </a:solidFill>
                <a:latin typeface="Arial"/>
              </a:rPr>
              <a:t>CONTROL QUALITY</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3800" b="1">
                <a:solidFill>
                  <a:srgbClr val="161B26"/>
                </a:solidFill>
                <a:latin typeface="Arial"/>
              </a:rPr>
              <a:t>Control Quality and Close the Project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251</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MAKING SURE IT IS RIGHT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Quality Control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Assess approaches</a:t>
            </a:r>
          </a:p>
          <a:p>
            <a:pPr algn="l">
              <a:spcAft>
                <a:spcPts val="300"/>
              </a:spcAft>
            </a:pPr>
            <a:r>
              <a:rPr sz="1200" b="0">
                <a:solidFill>
                  <a:srgbClr val="5B6372"/>
                </a:solidFill>
                <a:latin typeface="Arial"/>
              </a:rPr>
              <a:t>Evaluate the quality of project approaches and activities.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Inspect and test</a:t>
            </a:r>
          </a:p>
          <a:p>
            <a:pPr algn="l">
              <a:spcAft>
                <a:spcPts val="300"/>
              </a:spcAft>
            </a:pPr>
            <a:r>
              <a:rPr sz="1200" b="0">
                <a:solidFill>
                  <a:srgbClr val="5B6372"/>
                </a:solidFill>
                <a:latin typeface="Arial"/>
              </a:rPr>
              <a:t>Evaluate deliverable quality through inspection and testing.</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Review and audit</a:t>
            </a:r>
          </a:p>
          <a:p>
            <a:pPr algn="l">
              <a:spcAft>
                <a:spcPts val="300"/>
              </a:spcAft>
            </a:pPr>
            <a:r>
              <a:rPr sz="1200" b="0">
                <a:solidFill>
                  <a:srgbClr val="5B6372"/>
                </a:solidFill>
                <a:latin typeface="Arial"/>
              </a:rPr>
              <a:t>Evaluate project activities and processes through reviews and audits.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Detect and prevent</a:t>
            </a:r>
          </a:p>
          <a:p>
            <a:pPr algn="l">
              <a:spcAft>
                <a:spcPts val="300"/>
              </a:spcAft>
            </a:pPr>
            <a:r>
              <a:rPr sz="1200" b="0">
                <a:solidFill>
                  <a:srgbClr val="5B6372"/>
                </a:solidFill>
                <a:latin typeface="Arial"/>
              </a:rPr>
              <a:t>Focus on detecting AND preventing errors and defects.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252</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FIVE STEPS, IN ORDER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Control Quality Process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Use CHECK SHEETS to collect the data</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Plot the data on a HISTOGRAM</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Find the vital few with a PARETO CHART</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Find the root cause with CAUSE-AND-EFFECT analysis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Understand correlation with SCATTER analysis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253</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IS THE PROCESS IN CONTROL?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Control Charts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What it shows</a:t>
            </a:r>
          </a:p>
          <a:p>
            <a:pPr algn="l">
              <a:spcAft>
                <a:spcPts val="300"/>
              </a:spcAft>
            </a:pPr>
            <a:r>
              <a:rPr sz="1000" b="0">
                <a:solidFill>
                  <a:srgbClr val="5B6372"/>
                </a:solidFill>
                <a:latin typeface="Arial"/>
              </a:rPr>
              <a:t>The predictability, behaviour and stability of a process over time.</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Best for</a:t>
            </a:r>
          </a:p>
          <a:p>
            <a:pPr algn="l">
              <a:spcAft>
                <a:spcPts val="300"/>
              </a:spcAft>
            </a:pPr>
            <a:r>
              <a:rPr sz="1000" b="0">
                <a:solidFill>
                  <a:srgbClr val="5B6372"/>
                </a:solidFill>
                <a:latin typeface="Arial"/>
              </a:rPr>
              <a:t>Repetitive processes with predictable results.</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22904"/>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Control limits</a:t>
            </a:r>
          </a:p>
          <a:p>
            <a:pPr algn="l">
              <a:spcAft>
                <a:spcPts val="300"/>
              </a:spcAft>
            </a:pPr>
            <a:r>
              <a:rPr sz="1000" b="0">
                <a:solidFill>
                  <a:srgbClr val="5B6372"/>
                </a:solidFill>
                <a:latin typeface="Arial"/>
              </a:rPr>
              <a:t>Come from the PROCESS — what it actually does.</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22904"/>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Specification limits</a:t>
            </a:r>
          </a:p>
          <a:p>
            <a:pPr algn="l">
              <a:spcAft>
                <a:spcPts val="300"/>
              </a:spcAft>
            </a:pPr>
            <a:r>
              <a:rPr sz="1000" b="0">
                <a:solidFill>
                  <a:srgbClr val="5B6372"/>
                </a:solidFill>
                <a:latin typeface="Arial"/>
              </a:rPr>
              <a:t>Come from the CUSTOMER — what they require. A process can be in control and still fail spec.</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53000"/>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The rule of seven</a:t>
            </a:r>
          </a:p>
          <a:p>
            <a:pPr algn="l">
              <a:spcAft>
                <a:spcPts val="300"/>
              </a:spcAft>
            </a:pPr>
            <a:r>
              <a:rPr sz="1000" b="0">
                <a:solidFill>
                  <a:srgbClr val="5B6372"/>
                </a:solidFill>
                <a:latin typeface="Arial"/>
              </a:rPr>
              <a:t>Seven consecutive points on one side of the mean, or seven rising or falling, indicates a trend.</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53000"/>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Correlation chart</a:t>
            </a:r>
          </a:p>
          <a:p>
            <a:pPr algn="l">
              <a:spcAft>
                <a:spcPts val="300"/>
              </a:spcAft>
            </a:pPr>
            <a:r>
              <a:rPr sz="1000" b="0">
                <a:solidFill>
                  <a:srgbClr val="5B6372"/>
                </a:solidFill>
                <a:latin typeface="Arial"/>
              </a:rPr>
              <a:t>Shows the relationship between two variables — a process element against a quality defect.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254</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ACTIVITY 24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Control Quality with GenAI — Check Sheets and Control Charts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24</a:t>
            </a:r>
          </a:p>
        </p:txBody>
      </p:sp>
      <p:sp>
        <p:nvSpPr>
          <p:cNvPr id="9" name="TextBox 8"/>
          <p:cNvSpPr txBox="1"/>
          <p:nvPr/>
        </p:nvSpPr>
        <p:spPr>
          <a:xfrm>
            <a:off x="777240" y="2331720"/>
            <a:ext cx="10698480" cy="1554480"/>
          </a:xfrm>
          <a:prstGeom prst="rect">
            <a:avLst/>
          </a:prstGeom>
          <a:noFill/>
        </p:spPr>
        <p:txBody>
          <a:bodyPr wrap="square" anchor="t">
            <a:spAutoFit/>
          </a:bodyPr>
          <a:lstStyle/>
          <a:p>
            <a:pPr algn="l">
              <a:spcAft>
                <a:spcPts val="400"/>
              </a:spcAft>
            </a:pPr>
            <a:r>
              <a:rPr sz="1900" b="0">
                <a:solidFill>
                  <a:srgbClr val="161B26"/>
                </a:solidFill>
                <a:latin typeface="Arial"/>
              </a:rPr>
              <a:t>Quality control is about detecting problems from data rather than opinion. You will collect data on a check sheet and plot a control chart, applying the rule of seven.</a:t>
            </a:r>
          </a:p>
        </p:txBody>
      </p:sp>
      <p:sp>
        <p:nvSpPr>
          <p:cNvPr id="10" name="Rectangle 9"/>
          <p:cNvSpPr/>
          <p:nvPr/>
        </p:nvSpPr>
        <p:spPr>
          <a:xfrm>
            <a:off x="777240" y="3977639"/>
            <a:ext cx="10634472" cy="17830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60520"/>
            <a:ext cx="10058400" cy="365760"/>
          </a:xfrm>
          <a:prstGeom prst="rect">
            <a:avLst/>
          </a:prstGeom>
          <a:noFill/>
        </p:spPr>
        <p:txBody>
          <a:bodyPr wrap="square" anchor="t">
            <a:spAutoFit/>
          </a:bodyPr>
          <a:lstStyle/>
          <a:p>
            <a:pPr algn="l">
              <a:spcAft>
                <a:spcPts val="400"/>
              </a:spcAft>
            </a:pPr>
            <a:r>
              <a:rPr sz="1300" b="1">
                <a:solidFill>
                  <a:srgbClr val="127A3E"/>
                </a:solidFill>
                <a:latin typeface="Arial"/>
              </a:rPr>
              <a:t>You'll produce</a:t>
            </a:r>
          </a:p>
        </p:txBody>
      </p:sp>
      <p:sp>
        <p:nvSpPr>
          <p:cNvPr id="12" name="TextBox 11"/>
          <p:cNvSpPr txBox="1"/>
          <p:nvPr/>
        </p:nvSpPr>
        <p:spPr>
          <a:xfrm>
            <a:off x="1005840" y="4498848"/>
            <a:ext cx="10149840" cy="685800"/>
          </a:xfrm>
          <a:prstGeom prst="rect">
            <a:avLst/>
          </a:prstGeom>
          <a:noFill/>
        </p:spPr>
        <p:txBody>
          <a:bodyPr wrap="square" anchor="t">
            <a:spAutoFit/>
          </a:bodyPr>
          <a:lstStyle/>
          <a:p>
            <a:pPr algn="l">
              <a:spcAft>
                <a:spcPts val="400"/>
              </a:spcAft>
            </a:pPr>
            <a:r>
              <a:rPr sz="1700" b="1">
                <a:solidFill>
                  <a:srgbClr val="161B26"/>
                </a:solidFill>
                <a:latin typeface="Arial"/>
              </a:rPr>
              <a:t>A check sheet of collected data and a control chart with limits and a trend assessment.</a:t>
            </a:r>
          </a:p>
        </p:txBody>
      </p:sp>
      <p:sp>
        <p:nvSpPr>
          <p:cNvPr id="13" name="TextBox 12"/>
          <p:cNvSpPr txBox="1"/>
          <p:nvPr/>
        </p:nvSpPr>
        <p:spPr>
          <a:xfrm>
            <a:off x="1005840" y="5257800"/>
            <a:ext cx="10241280" cy="4572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GenAI tool · Check Sheets.xlsx · Control Chart.xlsx</a:t>
            </a:r>
          </a:p>
        </p:txBody>
      </p:sp>
      <p:sp>
        <p:nvSpPr>
          <p:cNvPr id="14" name="TextBox 13"/>
          <p:cNvSpPr txBox="1"/>
          <p:nvPr/>
        </p:nvSpPr>
        <p:spPr>
          <a:xfrm>
            <a:off x="777240" y="5897880"/>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Step-by-step instructions: see your Learner Guide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255</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03 · ACTIVITY 24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Control Quality with GenAI — Check Sheets and Control Charts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24</a:t>
            </a:r>
          </a:p>
        </p:txBody>
      </p:sp>
      <p:sp>
        <p:nvSpPr>
          <p:cNvPr id="9" name="TextBox 8"/>
          <p:cNvSpPr txBox="1"/>
          <p:nvPr/>
        </p:nvSpPr>
        <p:spPr>
          <a:xfrm>
            <a:off x="777240" y="2286000"/>
            <a:ext cx="10607040" cy="365760"/>
          </a:xfrm>
          <a:prstGeom prst="rect">
            <a:avLst/>
          </a:prstGeom>
          <a:noFill/>
        </p:spPr>
        <p:txBody>
          <a:bodyPr wrap="square" anchor="t">
            <a:spAutoFit/>
          </a:bodyPr>
          <a:lstStyle/>
          <a:p>
            <a:pPr algn="l">
              <a:spcAft>
                <a:spcPts val="400"/>
              </a:spcAft>
            </a:pPr>
            <a:r>
              <a:rPr sz="1200" b="1">
                <a:solidFill>
                  <a:srgbClr val="7C3AED"/>
                </a:solidFill>
                <a:latin typeface="Arial"/>
              </a:rPr>
              <a:t>PROMPT GenAI WITH</a:t>
            </a:r>
          </a:p>
        </p:txBody>
      </p:sp>
      <p:sp>
        <p:nvSpPr>
          <p:cNvPr id="10" name="Rectangle 9"/>
          <p:cNvSpPr/>
          <p:nvPr/>
        </p:nvSpPr>
        <p:spPr>
          <a:xfrm>
            <a:off x="777240" y="2651760"/>
            <a:ext cx="10634472" cy="19659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88920"/>
            <a:ext cx="10104120" cy="1691640"/>
          </a:xfrm>
          <a:prstGeom prst="rect">
            <a:avLst/>
          </a:prstGeom>
          <a:noFill/>
        </p:spPr>
        <p:txBody>
          <a:bodyPr wrap="square" anchor="ctr">
            <a:spAutoFit/>
          </a:bodyPr>
          <a:lstStyle/>
          <a:p>
            <a:pPr algn="l">
              <a:spcAft>
                <a:spcPts val="400"/>
              </a:spcAft>
            </a:pPr>
            <a:r>
              <a:rPr sz="1600" b="0">
                <a:solidFill>
                  <a:srgbClr val="D6E4FF"/>
                </a:solidFill>
                <a:latin typeface="Arial"/>
              </a:rPr>
              <a:t>Use the supplied defect log to produce a check-sheet summary and control-chart data. Calculate the centre line and control limits, identify any special-cause signal and explain what additional evidence is needed.</a:t>
            </a:r>
          </a:p>
        </p:txBody>
      </p:sp>
      <p:sp>
        <p:nvSpPr>
          <p:cNvPr id="12" name="Rectangle 11"/>
          <p:cNvSpPr/>
          <p:nvPr/>
        </p:nvSpPr>
        <p:spPr>
          <a:xfrm>
            <a:off x="777240" y="4800600"/>
            <a:ext cx="10634472" cy="1051560"/>
          </a:xfrm>
          <a:prstGeom prst="rect">
            <a:avLst/>
          </a:prstGeom>
          <a:solidFill>
            <a:srgbClr val="FFF4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4919472"/>
            <a:ext cx="10149840" cy="320040"/>
          </a:xfrm>
          <a:prstGeom prst="rect">
            <a:avLst/>
          </a:prstGeom>
          <a:noFill/>
        </p:spPr>
        <p:txBody>
          <a:bodyPr wrap="square" anchor="t">
            <a:spAutoFit/>
          </a:bodyPr>
          <a:lstStyle/>
          <a:p>
            <a:pPr algn="l">
              <a:spcAft>
                <a:spcPts val="400"/>
              </a:spcAft>
            </a:pPr>
            <a:r>
              <a:rPr sz="1200" b="1">
                <a:solidFill>
                  <a:srgbClr val="F59E0B"/>
                </a:solidFill>
                <a:latin typeface="Arial"/>
              </a:rPr>
              <a:t>⚠  THEN CHECK IT</a:t>
            </a:r>
          </a:p>
        </p:txBody>
      </p:sp>
      <p:sp>
        <p:nvSpPr>
          <p:cNvPr id="14" name="TextBox 13"/>
          <p:cNvSpPr txBox="1"/>
          <p:nvPr/>
        </p:nvSpPr>
        <p:spPr>
          <a:xfrm>
            <a:off x="1051560" y="5230368"/>
            <a:ext cx="10149840" cy="548640"/>
          </a:xfrm>
          <a:prstGeom prst="rect">
            <a:avLst/>
          </a:prstGeom>
          <a:noFill/>
        </p:spPr>
        <p:txBody>
          <a:bodyPr wrap="square" anchor="t">
            <a:spAutoFit/>
          </a:bodyPr>
          <a:lstStyle/>
          <a:p>
            <a:pPr algn="l">
              <a:spcAft>
                <a:spcPts val="400"/>
              </a:spcAft>
            </a:pPr>
            <a:r>
              <a:rPr sz="1400" b="0">
                <a:solidFill>
                  <a:srgbClr val="161B26"/>
                </a:solidFill>
                <a:latin typeface="Arial"/>
              </a:rPr>
              <a:t>GenAI gives you a fast first draft. Check every figure, source and assumption before you use it.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256</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24 · CHECK YOUR 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Control Quality with GenAI — Check Sheets and Control Charts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34472"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9" name="TextBox 8"/>
          <p:cNvSpPr txBox="1"/>
          <p:nvPr/>
        </p:nvSpPr>
        <p:spPr>
          <a:xfrm>
            <a:off x="1097280" y="3017520"/>
            <a:ext cx="9966960" cy="1280160"/>
          </a:xfrm>
          <a:prstGeom prst="rect">
            <a:avLst/>
          </a:prstGeom>
          <a:noFill/>
        </p:spPr>
        <p:txBody>
          <a:bodyPr wrap="square" anchor="t">
            <a:spAutoFit/>
          </a:bodyPr>
          <a:lstStyle/>
          <a:p>
            <a:pPr algn="l">
              <a:spcAft>
                <a:spcPts val="400"/>
              </a:spcAft>
            </a:pPr>
            <a:r>
              <a:rPr sz="1700" b="0">
                <a:solidFill>
                  <a:srgbClr val="161B26"/>
                </a:solidFill>
                <a:latin typeface="Arial"/>
              </a:rPr>
              <a:t>Your control chart has a mean and both control limits, you have checked for runs of seven, and you can distinguish control limits from specification limits.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257</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E11D48"/>
                </a:solidFill>
                <a:latin typeface="Arial"/>
              </a:rPr>
              <a:t>RISK IS NOT A ONE-OFF EXERCISE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Monitoring Risk Through Execution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Continuously monitor</a:t>
            </a:r>
          </a:p>
          <a:p>
            <a:pPr algn="l">
              <a:spcAft>
                <a:spcPts val="300"/>
              </a:spcAft>
            </a:pPr>
            <a:r>
              <a:rPr sz="1200" b="0">
                <a:solidFill>
                  <a:srgbClr val="5B6372"/>
                </a:solidFill>
                <a:latin typeface="Arial"/>
              </a:rPr>
              <a:t>Status, probability and impact of every open risk.</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Identify new risks</a:t>
            </a:r>
          </a:p>
          <a:p>
            <a:pPr algn="l">
              <a:spcAft>
                <a:spcPts val="300"/>
              </a:spcAft>
            </a:pPr>
            <a:r>
              <a:rPr sz="1200" b="0">
                <a:solidFill>
                  <a:srgbClr val="5B6372"/>
                </a:solidFill>
                <a:latin typeface="Arial"/>
              </a:rPr>
              <a:t>New risks emerge as the project and its environment change.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Reassess and close</a:t>
            </a:r>
          </a:p>
          <a:p>
            <a:pPr algn="l">
              <a:spcAft>
                <a:spcPts val="300"/>
              </a:spcAft>
            </a:pPr>
            <a:r>
              <a:rPr sz="1200" b="0">
                <a:solidFill>
                  <a:srgbClr val="5B6372"/>
                </a:solidFill>
                <a:latin typeface="Arial"/>
              </a:rPr>
              <a:t>Reassess current risks; close risks that are now outdated.</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Update the reserve</a:t>
            </a:r>
          </a:p>
          <a:p>
            <a:pPr algn="l">
              <a:spcAft>
                <a:spcPts val="300"/>
              </a:spcAft>
            </a:pPr>
            <a:r>
              <a:rPr sz="1200" b="0">
                <a:solidFill>
                  <a:srgbClr val="5B6372"/>
                </a:solidFill>
                <a:latin typeface="Arial"/>
              </a:rPr>
              <a:t>Track how much contingency remains against how much risk remains.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258</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NOT EVERY CLOSURE IS A SUCCESS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Why Projects or Phases Close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Successful completion</a:t>
            </a:r>
          </a:p>
          <a:p>
            <a:pPr algn="l">
              <a:spcAft>
                <a:spcPts val="300"/>
              </a:spcAft>
            </a:pPr>
            <a:r>
              <a:rPr sz="1000" b="0">
                <a:solidFill>
                  <a:srgbClr val="5B6372"/>
                </a:solidFill>
                <a:latin typeface="Arial"/>
              </a:rPr>
              <a:t>Stakeholders accept the deliverables against the acceptance criteria.</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Requirements change</a:t>
            </a:r>
          </a:p>
          <a:p>
            <a:pPr algn="l">
              <a:spcAft>
                <a:spcPts val="300"/>
              </a:spcAft>
            </a:pPr>
            <a:r>
              <a:rPr sz="1000" b="0">
                <a:solidFill>
                  <a:srgbClr val="5B6372"/>
                </a:solidFill>
                <a:latin typeface="Arial"/>
              </a:rPr>
              <a:t>The need the project answered no longer exists.</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22904"/>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No longer feasible</a:t>
            </a:r>
          </a:p>
          <a:p>
            <a:pPr algn="l">
              <a:spcAft>
                <a:spcPts val="300"/>
              </a:spcAft>
            </a:pPr>
            <a:r>
              <a:rPr sz="1000" b="0">
                <a:solidFill>
                  <a:srgbClr val="5B6372"/>
                </a:solidFill>
                <a:latin typeface="Arial"/>
              </a:rPr>
              <a:t>The deliverable cannot be produced as envisaged.</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22904"/>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Business case changes</a:t>
            </a:r>
          </a:p>
          <a:p>
            <a:pPr algn="l">
              <a:spcAft>
                <a:spcPts val="300"/>
              </a:spcAft>
            </a:pPr>
            <a:r>
              <a:rPr sz="1000" b="0">
                <a:solidFill>
                  <a:srgbClr val="5B6372"/>
                </a:solidFill>
                <a:latin typeface="Arial"/>
              </a:rPr>
              <a:t>An internal decision removes the justification.</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53000"/>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Legal or regulatory change</a:t>
            </a:r>
          </a:p>
          <a:p>
            <a:pPr algn="l">
              <a:spcAft>
                <a:spcPts val="300"/>
              </a:spcAft>
            </a:pPr>
            <a:r>
              <a:rPr sz="1000" b="0">
                <a:solidFill>
                  <a:srgbClr val="5B6372"/>
                </a:solidFill>
                <a:latin typeface="Arial"/>
              </a:rPr>
              <a:t>An external change prohibits progress.</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53000"/>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Funding or risk</a:t>
            </a:r>
          </a:p>
          <a:p>
            <a:pPr algn="l">
              <a:spcAft>
                <a:spcPts val="300"/>
              </a:spcAft>
            </a:pPr>
            <a:r>
              <a:rPr sz="1000" b="0">
                <a:solidFill>
                  <a:srgbClr val="5B6372"/>
                </a:solidFill>
                <a:latin typeface="Arial"/>
              </a:rPr>
              <a:t>Financial support ends, or risks make completion impossible.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259</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CLOSURE CHECKLIST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Close Project or Phase — Activities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2811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1991106"/>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199110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781812"/>
          </a:xfrm>
          <a:prstGeom prst="rect">
            <a:avLst/>
          </a:prstGeom>
          <a:noFill/>
        </p:spPr>
        <p:txBody>
          <a:bodyPr wrap="square" anchor="ctr">
            <a:spAutoFit/>
          </a:bodyPr>
          <a:lstStyle/>
          <a:p>
            <a:pPr algn="l">
              <a:spcAft>
                <a:spcPts val="400"/>
              </a:spcAft>
            </a:pPr>
            <a:r>
              <a:rPr sz="1400" b="0">
                <a:solidFill>
                  <a:srgbClr val="161B26"/>
                </a:solidFill>
                <a:latin typeface="Arial"/>
              </a:rPr>
              <a:t>Customer acceptance of the deliverables</a:t>
            </a:r>
          </a:p>
        </p:txBody>
      </p:sp>
      <p:sp>
        <p:nvSpPr>
          <p:cNvPr id="12" name="Rectangle 11"/>
          <p:cNvSpPr/>
          <p:nvPr/>
        </p:nvSpPr>
        <p:spPr>
          <a:xfrm>
            <a:off x="6231636" y="1783080"/>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281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199110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199110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781812"/>
          </a:xfrm>
          <a:prstGeom prst="rect">
            <a:avLst/>
          </a:prstGeom>
          <a:noFill/>
        </p:spPr>
        <p:txBody>
          <a:bodyPr wrap="square" anchor="ctr">
            <a:spAutoFit/>
          </a:bodyPr>
          <a:lstStyle/>
          <a:p>
            <a:pPr algn="l">
              <a:spcAft>
                <a:spcPts val="400"/>
              </a:spcAft>
            </a:pPr>
            <a:r>
              <a:rPr sz="1400" b="0">
                <a:solidFill>
                  <a:srgbClr val="161B26"/>
                </a:solidFill>
                <a:latin typeface="Arial"/>
              </a:rPr>
              <a:t>Transition of the product to the customer</a:t>
            </a:r>
          </a:p>
        </p:txBody>
      </p:sp>
      <p:sp>
        <p:nvSpPr>
          <p:cNvPr id="17" name="Rectangle 16"/>
          <p:cNvSpPr/>
          <p:nvPr/>
        </p:nvSpPr>
        <p:spPr>
          <a:xfrm>
            <a:off x="777240" y="2930652"/>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0652"/>
            <a:ext cx="91440" cy="9281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138678"/>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13867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022092"/>
            <a:ext cx="4027932" cy="781812"/>
          </a:xfrm>
          <a:prstGeom prst="rect">
            <a:avLst/>
          </a:prstGeom>
          <a:noFill/>
        </p:spPr>
        <p:txBody>
          <a:bodyPr wrap="square" anchor="ctr">
            <a:spAutoFit/>
          </a:bodyPr>
          <a:lstStyle/>
          <a:p>
            <a:pPr algn="l">
              <a:spcAft>
                <a:spcPts val="400"/>
              </a:spcAft>
            </a:pPr>
            <a:r>
              <a:rPr sz="1400" b="0">
                <a:solidFill>
                  <a:srgbClr val="161B26"/>
                </a:solidFill>
                <a:latin typeface="Arial"/>
              </a:rPr>
              <a:t>Notify enterprise functions; update organisational process assets</a:t>
            </a:r>
          </a:p>
        </p:txBody>
      </p:sp>
      <p:sp>
        <p:nvSpPr>
          <p:cNvPr id="22" name="Rectangle 21"/>
          <p:cNvSpPr/>
          <p:nvPr/>
        </p:nvSpPr>
        <p:spPr>
          <a:xfrm>
            <a:off x="6231636" y="2930652"/>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0652"/>
            <a:ext cx="91440" cy="92811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138678"/>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13867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022092"/>
            <a:ext cx="4027932" cy="781812"/>
          </a:xfrm>
          <a:prstGeom prst="rect">
            <a:avLst/>
          </a:prstGeom>
          <a:noFill/>
        </p:spPr>
        <p:txBody>
          <a:bodyPr wrap="square" anchor="ctr">
            <a:spAutoFit/>
          </a:bodyPr>
          <a:lstStyle/>
          <a:p>
            <a:pPr algn="l">
              <a:spcAft>
                <a:spcPts val="400"/>
              </a:spcAft>
            </a:pPr>
            <a:r>
              <a:rPr sz="1400" b="0">
                <a:solidFill>
                  <a:srgbClr val="161B26"/>
                </a:solidFill>
                <a:latin typeface="Arial"/>
              </a:rPr>
              <a:t>Prepare the final report</a:t>
            </a:r>
          </a:p>
        </p:txBody>
      </p:sp>
      <p:sp>
        <p:nvSpPr>
          <p:cNvPr id="27" name="Rectangle 26"/>
          <p:cNvSpPr/>
          <p:nvPr/>
        </p:nvSpPr>
        <p:spPr>
          <a:xfrm>
            <a:off x="777240" y="4078224"/>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78224"/>
            <a:ext cx="91440" cy="92811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428625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428625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169664"/>
            <a:ext cx="4027932" cy="781812"/>
          </a:xfrm>
          <a:prstGeom prst="rect">
            <a:avLst/>
          </a:prstGeom>
          <a:noFill/>
        </p:spPr>
        <p:txBody>
          <a:bodyPr wrap="square" anchor="ctr">
            <a:spAutoFit/>
          </a:bodyPr>
          <a:lstStyle/>
          <a:p>
            <a:pPr algn="l">
              <a:spcAft>
                <a:spcPts val="400"/>
              </a:spcAft>
            </a:pPr>
            <a:r>
              <a:rPr sz="1400" b="0">
                <a:solidFill>
                  <a:srgbClr val="161B26"/>
                </a:solidFill>
                <a:latin typeface="Arial"/>
              </a:rPr>
              <a:t>Conclude external obligations — legal, regulatory, contractual</a:t>
            </a:r>
          </a:p>
        </p:txBody>
      </p:sp>
      <p:sp>
        <p:nvSpPr>
          <p:cNvPr id="32" name="Rectangle 31"/>
          <p:cNvSpPr/>
          <p:nvPr/>
        </p:nvSpPr>
        <p:spPr>
          <a:xfrm>
            <a:off x="6231636" y="4078224"/>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78224"/>
            <a:ext cx="91440" cy="9281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428625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428625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169664"/>
            <a:ext cx="4027932" cy="781812"/>
          </a:xfrm>
          <a:prstGeom prst="rect">
            <a:avLst/>
          </a:prstGeom>
          <a:noFill/>
        </p:spPr>
        <p:txBody>
          <a:bodyPr wrap="square" anchor="ctr">
            <a:spAutoFit/>
          </a:bodyPr>
          <a:lstStyle/>
          <a:p>
            <a:pPr algn="l">
              <a:spcAft>
                <a:spcPts val="400"/>
              </a:spcAft>
            </a:pPr>
            <a:r>
              <a:rPr sz="1400" b="0">
                <a:solidFill>
                  <a:srgbClr val="161B26"/>
                </a:solidFill>
                <a:latin typeface="Arial"/>
              </a:rPr>
              <a:t>Close all accounts in the financial system</a:t>
            </a:r>
          </a:p>
        </p:txBody>
      </p:sp>
      <p:sp>
        <p:nvSpPr>
          <p:cNvPr id="37" name="Rectangle 36"/>
          <p:cNvSpPr/>
          <p:nvPr/>
        </p:nvSpPr>
        <p:spPr>
          <a:xfrm>
            <a:off x="777240" y="5225796"/>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25796"/>
            <a:ext cx="91440" cy="9281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14984" y="5433822"/>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14984" y="543382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1" name="TextBox 40"/>
          <p:cNvSpPr txBox="1"/>
          <p:nvPr/>
        </p:nvSpPr>
        <p:spPr>
          <a:xfrm>
            <a:off x="1709928" y="5317236"/>
            <a:ext cx="4027932" cy="781812"/>
          </a:xfrm>
          <a:prstGeom prst="rect">
            <a:avLst/>
          </a:prstGeom>
          <a:noFill/>
        </p:spPr>
        <p:txBody>
          <a:bodyPr wrap="square" anchor="ctr">
            <a:spAutoFit/>
          </a:bodyPr>
          <a:lstStyle/>
          <a:p>
            <a:pPr algn="l">
              <a:spcAft>
                <a:spcPts val="400"/>
              </a:spcAft>
            </a:pPr>
            <a:r>
              <a:rPr sz="1400" b="0">
                <a:solidFill>
                  <a:srgbClr val="161B26"/>
                </a:solidFill>
                <a:latin typeface="Arial"/>
              </a:rPr>
              <a:t>Archive all project information</a:t>
            </a:r>
          </a:p>
        </p:txBody>
      </p:sp>
      <p:sp>
        <p:nvSpPr>
          <p:cNvPr id="42" name="Rectangle 41"/>
          <p:cNvSpPr/>
          <p:nvPr/>
        </p:nvSpPr>
        <p:spPr>
          <a:xfrm>
            <a:off x="6231636" y="5225796"/>
            <a:ext cx="5180076"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25796"/>
            <a:ext cx="91440" cy="92811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69380" y="5433822"/>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69380" y="543382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6" name="TextBox 45"/>
          <p:cNvSpPr txBox="1"/>
          <p:nvPr/>
        </p:nvSpPr>
        <p:spPr>
          <a:xfrm>
            <a:off x="7164324" y="5317236"/>
            <a:ext cx="4027932" cy="781812"/>
          </a:xfrm>
          <a:prstGeom prst="rect">
            <a:avLst/>
          </a:prstGeom>
          <a:noFill/>
        </p:spPr>
        <p:txBody>
          <a:bodyPr wrap="square" anchor="ctr">
            <a:spAutoFit/>
          </a:bodyPr>
          <a:lstStyle/>
          <a:p>
            <a:pPr algn="l">
              <a:spcAft>
                <a:spcPts val="400"/>
              </a:spcAft>
            </a:pPr>
            <a:r>
              <a:rPr sz="1400" b="0">
                <a:solidFill>
                  <a:srgbClr val="161B26"/>
                </a:solidFill>
                <a:latin typeface="Arial"/>
              </a:rPr>
              <a:t>Release resources — people, financial and physical</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260</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MAKING ADOPTION STICK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Transition and Handover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Training</a:t>
            </a:r>
          </a:p>
          <a:p>
            <a:pPr algn="l">
              <a:spcAft>
                <a:spcPts val="300"/>
              </a:spcAft>
            </a:pPr>
            <a:r>
              <a:rPr sz="1200" b="0">
                <a:solidFill>
                  <a:srgbClr val="5B6372"/>
                </a:solidFill>
                <a:latin typeface="Arial"/>
              </a:rPr>
              <a:t>End users need training on the new product or service.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Documentation</a:t>
            </a:r>
          </a:p>
          <a:p>
            <a:pPr algn="l">
              <a:spcAft>
                <a:spcPts val="300"/>
              </a:spcAft>
            </a:pPr>
            <a:r>
              <a:rPr sz="1200" b="0">
                <a:solidFill>
                  <a:srgbClr val="5B6372"/>
                </a:solidFill>
                <a:latin typeface="Arial"/>
              </a:rPr>
              <a:t>The product and deliverable documentation must be handed over.</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Communication</a:t>
            </a:r>
          </a:p>
          <a:p>
            <a:pPr algn="l">
              <a:spcAft>
                <a:spcPts val="300"/>
              </a:spcAft>
            </a:pPr>
            <a:r>
              <a:rPr sz="1200" b="0">
                <a:solidFill>
                  <a:srgbClr val="5B6372"/>
                </a:solidFill>
                <a:latin typeface="Arial"/>
              </a:rPr>
              <a:t>Effective communication between the project team and the organisation.</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Hypercare</a:t>
            </a:r>
          </a:p>
          <a:p>
            <a:pPr algn="l">
              <a:spcAft>
                <a:spcPts val="300"/>
              </a:spcAft>
            </a:pPr>
            <a:r>
              <a:rPr sz="1200" b="0">
                <a:solidFill>
                  <a:srgbClr val="5B6372"/>
                </a:solidFill>
                <a:latin typeface="Arial"/>
              </a:rPr>
              <a:t>Post-implementation support during the period immediately after go-live.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261</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GOES IN THE FINAL REPORT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Finalise Lessons Learned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Scope changes and why they happened</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74520"/>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Schedule impacts and their causes</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04616"/>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Risks and issues that materialised</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04616"/>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Stakeholder relationships</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34712"/>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Vendor relationships and performance</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34712"/>
            <a:ext cx="4027932" cy="1164336"/>
          </a:xfrm>
          <a:prstGeom prst="rect">
            <a:avLst/>
          </a:prstGeom>
          <a:noFill/>
        </p:spPr>
        <p:txBody>
          <a:bodyPr wrap="square" anchor="ctr">
            <a:spAutoFit/>
          </a:bodyPr>
          <a:lstStyle/>
          <a:p>
            <a:pPr algn="l">
              <a:spcAft>
                <a:spcPts val="400"/>
              </a:spcAft>
            </a:pPr>
            <a:r>
              <a:rPr sz="1500" b="0">
                <a:solidFill>
                  <a:srgbClr val="161B26"/>
                </a:solidFill>
                <a:latin typeface="Arial"/>
              </a:rPr>
              <a:t>Artifacts worth reusing and recommendations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262</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ACTIVITY 25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Monitor, Control Change and Close the Project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25</a:t>
            </a:r>
          </a:p>
        </p:txBody>
      </p:sp>
      <p:sp>
        <p:nvSpPr>
          <p:cNvPr id="9" name="TextBox 8"/>
          <p:cNvSpPr txBox="1"/>
          <p:nvPr/>
        </p:nvSpPr>
        <p:spPr>
          <a:xfrm>
            <a:off x="777240" y="2331720"/>
            <a:ext cx="10698480" cy="1554480"/>
          </a:xfrm>
          <a:prstGeom prst="rect">
            <a:avLst/>
          </a:prstGeom>
          <a:noFill/>
        </p:spPr>
        <p:txBody>
          <a:bodyPr wrap="square" anchor="t">
            <a:spAutoFit/>
          </a:bodyPr>
          <a:lstStyle/>
          <a:p>
            <a:pPr algn="l">
              <a:spcAft>
                <a:spcPts val="400"/>
              </a:spcAft>
            </a:pPr>
            <a:r>
              <a:rPr sz="1900" b="0">
                <a:solidFill>
                  <a:srgbClr val="161B26"/>
                </a:solidFill>
                <a:latin typeface="Arial"/>
              </a:rPr>
              <a:t>The final activity runs the end of the project lifecycle: processing a change request through integrated change control, then closing the project and capturing lessons learned with GenAI's help.</a:t>
            </a:r>
          </a:p>
        </p:txBody>
      </p:sp>
      <p:sp>
        <p:nvSpPr>
          <p:cNvPr id="10" name="Rectangle 9"/>
          <p:cNvSpPr/>
          <p:nvPr/>
        </p:nvSpPr>
        <p:spPr>
          <a:xfrm>
            <a:off x="777240" y="3977639"/>
            <a:ext cx="10634472" cy="178308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60520"/>
            <a:ext cx="10058400" cy="365760"/>
          </a:xfrm>
          <a:prstGeom prst="rect">
            <a:avLst/>
          </a:prstGeom>
          <a:noFill/>
        </p:spPr>
        <p:txBody>
          <a:bodyPr wrap="square" anchor="t">
            <a:spAutoFit/>
          </a:bodyPr>
          <a:lstStyle/>
          <a:p>
            <a:pPr algn="l">
              <a:spcAft>
                <a:spcPts val="400"/>
              </a:spcAft>
            </a:pPr>
            <a:r>
              <a:rPr sz="1300" b="1">
                <a:solidFill>
                  <a:srgbClr val="127A3E"/>
                </a:solidFill>
                <a:latin typeface="Arial"/>
              </a:rPr>
              <a:t>You'll produce</a:t>
            </a:r>
          </a:p>
        </p:txBody>
      </p:sp>
      <p:sp>
        <p:nvSpPr>
          <p:cNvPr id="12" name="TextBox 11"/>
          <p:cNvSpPr txBox="1"/>
          <p:nvPr/>
        </p:nvSpPr>
        <p:spPr>
          <a:xfrm>
            <a:off x="1005840" y="4498848"/>
            <a:ext cx="10149840" cy="685800"/>
          </a:xfrm>
          <a:prstGeom prst="rect">
            <a:avLst/>
          </a:prstGeom>
          <a:noFill/>
        </p:spPr>
        <p:txBody>
          <a:bodyPr wrap="square" anchor="t">
            <a:spAutoFit/>
          </a:bodyPr>
          <a:lstStyle/>
          <a:p>
            <a:pPr algn="l">
              <a:spcAft>
                <a:spcPts val="400"/>
              </a:spcAft>
            </a:pPr>
            <a:r>
              <a:rPr sz="1700" b="1">
                <a:solidFill>
                  <a:srgbClr val="161B26"/>
                </a:solidFill>
                <a:latin typeface="Arial"/>
              </a:rPr>
              <a:t>A processed change request with impact analysis, and a project closure report.</a:t>
            </a:r>
          </a:p>
        </p:txBody>
      </p:sp>
      <p:sp>
        <p:nvSpPr>
          <p:cNvPr id="13" name="TextBox 12"/>
          <p:cNvSpPr txBox="1"/>
          <p:nvPr/>
        </p:nvSpPr>
        <p:spPr>
          <a:xfrm>
            <a:off x="1005840" y="5257800"/>
            <a:ext cx="10241280" cy="4572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GenAI tool · Digital AI Transformation Roadmap Studio (alfredang.github.io/digitaltransformation) · Change Request template</a:t>
            </a:r>
          </a:p>
        </p:txBody>
      </p:sp>
      <p:sp>
        <p:nvSpPr>
          <p:cNvPr id="14" name="TextBox 13"/>
          <p:cNvSpPr txBox="1"/>
          <p:nvPr/>
        </p:nvSpPr>
        <p:spPr>
          <a:xfrm>
            <a:off x="777240" y="5897880"/>
            <a:ext cx="10607040" cy="365760"/>
          </a:xfrm>
          <a:prstGeom prst="rect">
            <a:avLst/>
          </a:prstGeom>
          <a:noFill/>
        </p:spPr>
        <p:txBody>
          <a:bodyPr wrap="square" anchor="t">
            <a:spAutoFit/>
          </a:bodyPr>
          <a:lstStyle/>
          <a:p>
            <a:pPr algn="l">
              <a:spcAft>
                <a:spcPts val="400"/>
              </a:spcAft>
            </a:pPr>
            <a:r>
              <a:rPr sz="1200" b="1">
                <a:solidFill>
                  <a:srgbClr val="1F6FEB"/>
                </a:solidFill>
                <a:latin typeface="Arial"/>
              </a:rPr>
              <a:t>Step-by-step instructions: see your Learner Guide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263</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03 · ACTIVITY 25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Monitor, Control Change and Close the Project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783080"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783080" cy="365760"/>
          </a:xfrm>
          <a:prstGeom prst="rect">
            <a:avLst/>
          </a:prstGeom>
          <a:noFill/>
        </p:spPr>
        <p:txBody>
          <a:bodyPr wrap="square" anchor="t">
            <a:spAutoFit/>
          </a:bodyPr>
          <a:lstStyle/>
          <a:p>
            <a:pPr algn="ctr">
              <a:spcAft>
                <a:spcPts val="400"/>
              </a:spcAft>
            </a:pPr>
            <a:r>
              <a:rPr sz="1500" b="1">
                <a:solidFill>
                  <a:srgbClr val="FFFFFF"/>
                </a:solidFill>
                <a:latin typeface="Arial"/>
              </a:rPr>
              <a:t>ACTIVITY 25</a:t>
            </a:r>
          </a:p>
        </p:txBody>
      </p:sp>
      <p:sp>
        <p:nvSpPr>
          <p:cNvPr id="9" name="TextBox 8"/>
          <p:cNvSpPr txBox="1"/>
          <p:nvPr/>
        </p:nvSpPr>
        <p:spPr>
          <a:xfrm>
            <a:off x="777240" y="2286000"/>
            <a:ext cx="10607040" cy="365760"/>
          </a:xfrm>
          <a:prstGeom prst="rect">
            <a:avLst/>
          </a:prstGeom>
          <a:noFill/>
        </p:spPr>
        <p:txBody>
          <a:bodyPr wrap="square" anchor="t">
            <a:spAutoFit/>
          </a:bodyPr>
          <a:lstStyle/>
          <a:p>
            <a:pPr algn="l">
              <a:spcAft>
                <a:spcPts val="400"/>
              </a:spcAft>
            </a:pPr>
            <a:r>
              <a:rPr sz="1200" b="1">
                <a:solidFill>
                  <a:srgbClr val="7C3AED"/>
                </a:solidFill>
                <a:latin typeface="Arial"/>
              </a:rPr>
              <a:t>PROMPT GenAI WITH</a:t>
            </a:r>
          </a:p>
        </p:txBody>
      </p:sp>
      <p:sp>
        <p:nvSpPr>
          <p:cNvPr id="10" name="Rectangle 9"/>
          <p:cNvSpPr/>
          <p:nvPr/>
        </p:nvSpPr>
        <p:spPr>
          <a:xfrm>
            <a:off x="777240" y="2651760"/>
            <a:ext cx="10634472" cy="19659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88920"/>
            <a:ext cx="10104120" cy="1691640"/>
          </a:xfrm>
          <a:prstGeom prst="rect">
            <a:avLst/>
          </a:prstGeom>
          <a:noFill/>
        </p:spPr>
        <p:txBody>
          <a:bodyPr wrap="square" anchor="ctr">
            <a:spAutoFit/>
          </a:bodyPr>
          <a:lstStyle/>
          <a:p>
            <a:pPr algn="l">
              <a:spcAft>
                <a:spcPts val="400"/>
              </a:spcAft>
            </a:pPr>
            <a:r>
              <a:rPr sz="1400" b="0">
                <a:solidFill>
                  <a:srgbClr val="D6E4FF"/>
                </a:solidFill>
                <a:latin typeface="Arial"/>
              </a:rPr>
              <a:t>Analyse each change request for its effect on scope, schedule, cost, quality, resources and risk. State confidence in each estimate, recommend an approve, reject or defer decision, and draft the closure actions for approved changes.</a:t>
            </a:r>
          </a:p>
        </p:txBody>
      </p:sp>
      <p:sp>
        <p:nvSpPr>
          <p:cNvPr id="12" name="Rectangle 11"/>
          <p:cNvSpPr/>
          <p:nvPr/>
        </p:nvSpPr>
        <p:spPr>
          <a:xfrm>
            <a:off x="777240" y="4800600"/>
            <a:ext cx="10634472" cy="1051560"/>
          </a:xfrm>
          <a:prstGeom prst="rect">
            <a:avLst/>
          </a:prstGeom>
          <a:solidFill>
            <a:srgbClr val="FFF4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4919472"/>
            <a:ext cx="10149840" cy="320040"/>
          </a:xfrm>
          <a:prstGeom prst="rect">
            <a:avLst/>
          </a:prstGeom>
          <a:noFill/>
        </p:spPr>
        <p:txBody>
          <a:bodyPr wrap="square" anchor="t">
            <a:spAutoFit/>
          </a:bodyPr>
          <a:lstStyle/>
          <a:p>
            <a:pPr algn="l">
              <a:spcAft>
                <a:spcPts val="400"/>
              </a:spcAft>
            </a:pPr>
            <a:r>
              <a:rPr sz="1200" b="1">
                <a:solidFill>
                  <a:srgbClr val="F59E0B"/>
                </a:solidFill>
                <a:latin typeface="Arial"/>
              </a:rPr>
              <a:t>⚠  THEN CHECK IT</a:t>
            </a:r>
          </a:p>
        </p:txBody>
      </p:sp>
      <p:sp>
        <p:nvSpPr>
          <p:cNvPr id="14" name="TextBox 13"/>
          <p:cNvSpPr txBox="1"/>
          <p:nvPr/>
        </p:nvSpPr>
        <p:spPr>
          <a:xfrm>
            <a:off x="1051560" y="5230368"/>
            <a:ext cx="10149840" cy="548640"/>
          </a:xfrm>
          <a:prstGeom prst="rect">
            <a:avLst/>
          </a:prstGeom>
          <a:noFill/>
        </p:spPr>
        <p:txBody>
          <a:bodyPr wrap="square" anchor="t">
            <a:spAutoFit/>
          </a:bodyPr>
          <a:lstStyle/>
          <a:p>
            <a:pPr algn="l">
              <a:spcAft>
                <a:spcPts val="400"/>
              </a:spcAft>
            </a:pPr>
            <a:r>
              <a:rPr sz="1400" b="0">
                <a:solidFill>
                  <a:srgbClr val="161B26"/>
                </a:solidFill>
                <a:latin typeface="Arial"/>
              </a:rPr>
              <a:t>GenAI gives you a fast first draft. Check every figure, source and assumption before you use it.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264</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25 · CHECK YOUR 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Monitor, Control Change and Close the Project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34472"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9" name="TextBox 8"/>
          <p:cNvSpPr txBox="1"/>
          <p:nvPr/>
        </p:nvSpPr>
        <p:spPr>
          <a:xfrm>
            <a:off x="1097280" y="3017520"/>
            <a:ext cx="9966960" cy="1280160"/>
          </a:xfrm>
          <a:prstGeom prst="rect">
            <a:avLst/>
          </a:prstGeom>
          <a:noFill/>
        </p:spPr>
        <p:txBody>
          <a:bodyPr wrap="square" anchor="t">
            <a:spAutoFit/>
          </a:bodyPr>
          <a:lstStyle/>
          <a:p>
            <a:pPr algn="l">
              <a:spcAft>
                <a:spcPts val="400"/>
              </a:spcAft>
            </a:pPr>
            <a:r>
              <a:rPr sz="1700" b="0">
                <a:solidFill>
                  <a:srgbClr val="161B26"/>
                </a:solidFill>
                <a:latin typeface="Arial"/>
              </a:rPr>
              <a:t>Your change request is correctly classified with impacts on all five dimensions, it has been through the CCB path, and your closure report covers acceptance, transition, contracts, archiving and resource release.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265</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Managing Project Risks with GenAI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Anticipate potential risks to project delivery (A3).</a:t>
            </a:r>
          </a:p>
          <a:p>
            <a:pPr>
              <a:spcAft>
                <a:spcPts val="1000"/>
              </a:spcAft>
            </a:pPr>
            <a:r>
              <a:rPr sz="1600">
                <a:solidFill>
                  <a:srgbClr val="161B26"/>
                </a:solidFill>
                <a:latin typeface="Arial"/>
              </a:rPr>
              <a:t>•  Prioritise risks by probability and impact for further action.</a:t>
            </a:r>
          </a:p>
          <a:p>
            <a:pPr>
              <a:spcAft>
                <a:spcPts val="1000"/>
              </a:spcAft>
            </a:pPr>
            <a:r>
              <a:rPr sz="1600">
                <a:solidFill>
                  <a:srgbClr val="161B26"/>
                </a:solidFill>
                <a:latin typeface="Arial"/>
              </a:rPr>
              <a:t>•  Quantify risk exposure to support a financial decision.</a:t>
            </a:r>
          </a:p>
          <a:p>
            <a:pPr>
              <a:spcAft>
                <a:spcPts val="1000"/>
              </a:spcAft>
            </a:pPr>
            <a:r>
              <a:rPr sz="1600">
                <a:solidFill>
                  <a:srgbClr val="161B26"/>
                </a:solidFill>
                <a:latin typeface="Arial"/>
              </a:rPr>
              <a:t>•  Devise risk mitigation measures to ensure project success (A4).</a:t>
            </a:r>
          </a:p>
          <a:p>
            <a:pPr>
              <a:spcAft>
                <a:spcPts val="1000"/>
              </a:spcAft>
            </a:pPr>
            <a:r>
              <a:rPr sz="1600">
                <a:solidFill>
                  <a:srgbClr val="161B26"/>
                </a:solidFill>
                <a:latin typeface="Arial"/>
              </a:rPr>
              <a:t>•  Select the right contract type and manage procurement risk.</a:t>
            </a:r>
          </a:p>
          <a:p>
            <a:pPr>
              <a:spcAft>
                <a:spcPts val="1000"/>
              </a:spcAft>
            </a:pPr>
            <a:r>
              <a:rPr sz="1600">
                <a:solidFill>
                  <a:srgbClr val="161B26"/>
                </a:solidFill>
                <a:latin typeface="Arial"/>
              </a:rPr>
              <a:t>•  Measure project performance objectively and forecast the outcome.</a:t>
            </a:r>
          </a:p>
          <a:p>
            <a:pPr>
              <a:spcAft>
                <a:spcPts val="1000"/>
              </a:spcAft>
            </a:pPr>
            <a:r>
              <a:rPr sz="1600">
                <a:solidFill>
                  <a:srgbClr val="161B26"/>
                </a:solidFill>
                <a:latin typeface="Arial"/>
              </a:rPr>
              <a:t>•  Detect whether a process is stable and in control.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266</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950976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3800" b="1">
                <a:solidFill>
                  <a:srgbClr val="161B26"/>
                </a:solidFill>
                <a:latin typeface="Arial"/>
              </a:rPr>
              <a:t>Course Summary &amp; Next Steps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267</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2811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1991106"/>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199110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9482328" cy="763524"/>
          </a:xfrm>
          <a:prstGeom prst="rect">
            <a:avLst/>
          </a:prstGeom>
          <a:noFill/>
        </p:spPr>
        <p:txBody>
          <a:bodyPr wrap="square" anchor="ctr">
            <a:spAutoFit/>
          </a:bodyPr>
          <a:lstStyle/>
          <a:p>
            <a:pPr algn="l">
              <a:spcAft>
                <a:spcPts val="300"/>
              </a:spcAft>
            </a:pPr>
            <a:r>
              <a:rPr sz="1500" b="1">
                <a:solidFill>
                  <a:srgbClr val="161B26"/>
                </a:solidFill>
                <a:latin typeface="Arial"/>
              </a:rPr>
              <a:t>LO1 · Initiation &amp; Planning</a:t>
            </a:r>
          </a:p>
          <a:p>
            <a:pPr algn="l">
              <a:spcAft>
                <a:spcPts val="300"/>
              </a:spcAft>
            </a:pPr>
            <a:r>
              <a:rPr sz="1100" b="0">
                <a:solidFill>
                  <a:srgbClr val="5B6372"/>
                </a:solidFill>
                <a:latin typeface="Arial"/>
              </a:rPr>
              <a:t>Charters, business cases, stakeholder maps, RACI, requirements, WBS, schedules and budgets — all built with GenAI.</a:t>
            </a:r>
          </a:p>
        </p:txBody>
      </p:sp>
      <p:sp>
        <p:nvSpPr>
          <p:cNvPr id="12" name="Rectangle 11"/>
          <p:cNvSpPr/>
          <p:nvPr/>
        </p:nvSpPr>
        <p:spPr>
          <a:xfrm>
            <a:off x="777240" y="2930652"/>
            <a:ext cx="10634472"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0652"/>
            <a:ext cx="91440" cy="9281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14984" y="313867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4" y="313867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1709928" y="3040380"/>
            <a:ext cx="9482328" cy="763524"/>
          </a:xfrm>
          <a:prstGeom prst="rect">
            <a:avLst/>
          </a:prstGeom>
          <a:noFill/>
        </p:spPr>
        <p:txBody>
          <a:bodyPr wrap="square" anchor="ctr">
            <a:spAutoFit/>
          </a:bodyPr>
          <a:lstStyle/>
          <a:p>
            <a:pPr algn="l">
              <a:spcAft>
                <a:spcPts val="300"/>
              </a:spcAft>
            </a:pPr>
            <a:r>
              <a:rPr sz="1500" b="1">
                <a:solidFill>
                  <a:srgbClr val="161B26"/>
                </a:solidFill>
                <a:latin typeface="Arial"/>
              </a:rPr>
              <a:t>LO2 · Execution &amp; Delivery</a:t>
            </a:r>
          </a:p>
          <a:p>
            <a:pPr algn="l">
              <a:spcAft>
                <a:spcPts val="300"/>
              </a:spcAft>
            </a:pPr>
            <a:r>
              <a:rPr sz="1100" b="0">
                <a:solidFill>
                  <a:srgbClr val="5B6372"/>
                </a:solidFill>
                <a:latin typeface="Arial"/>
              </a:rPr>
              <a:t>Performance reporting, knowledge capture, root cause analysis, resource and budget optimisation, team and communications.</a:t>
            </a:r>
          </a:p>
        </p:txBody>
      </p:sp>
      <p:sp>
        <p:nvSpPr>
          <p:cNvPr id="17" name="Rectangle 16"/>
          <p:cNvSpPr/>
          <p:nvPr/>
        </p:nvSpPr>
        <p:spPr>
          <a:xfrm>
            <a:off x="777240" y="4078224"/>
            <a:ext cx="10634472"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9281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286250"/>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28625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87952"/>
            <a:ext cx="9482328" cy="763524"/>
          </a:xfrm>
          <a:prstGeom prst="rect">
            <a:avLst/>
          </a:prstGeom>
          <a:noFill/>
        </p:spPr>
        <p:txBody>
          <a:bodyPr wrap="square" anchor="ctr">
            <a:spAutoFit/>
          </a:bodyPr>
          <a:lstStyle/>
          <a:p>
            <a:pPr algn="l">
              <a:spcAft>
                <a:spcPts val="300"/>
              </a:spcAft>
            </a:pPr>
            <a:r>
              <a:rPr sz="1500" b="1">
                <a:solidFill>
                  <a:srgbClr val="161B26"/>
                </a:solidFill>
                <a:latin typeface="Arial"/>
              </a:rPr>
              <a:t>LO3 · Risk &amp; Closure</a:t>
            </a:r>
          </a:p>
          <a:p>
            <a:pPr algn="l">
              <a:spcAft>
                <a:spcPts val="300"/>
              </a:spcAft>
            </a:pPr>
            <a:r>
              <a:rPr sz="1100" b="0">
                <a:solidFill>
                  <a:srgbClr val="5B6372"/>
                </a:solidFill>
                <a:latin typeface="Arial"/>
              </a:rPr>
              <a:t>Risk identification and analysis, response planning, procurement, change control, earned value and project closure.</a:t>
            </a:r>
          </a:p>
        </p:txBody>
      </p:sp>
      <p:sp>
        <p:nvSpPr>
          <p:cNvPr id="22" name="Rectangle 21"/>
          <p:cNvSpPr/>
          <p:nvPr/>
        </p:nvSpPr>
        <p:spPr>
          <a:xfrm>
            <a:off x="777240" y="5225796"/>
            <a:ext cx="10634472" cy="9281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25796"/>
            <a:ext cx="91440" cy="92811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14984" y="5433822"/>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4984" y="543382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1709928" y="5335524"/>
            <a:ext cx="9482328" cy="763524"/>
          </a:xfrm>
          <a:prstGeom prst="rect">
            <a:avLst/>
          </a:prstGeom>
          <a:noFill/>
        </p:spPr>
        <p:txBody>
          <a:bodyPr wrap="square" anchor="ctr">
            <a:spAutoFit/>
          </a:bodyPr>
          <a:lstStyle/>
          <a:p>
            <a:pPr algn="l">
              <a:spcAft>
                <a:spcPts val="300"/>
              </a:spcAft>
            </a:pPr>
            <a:r>
              <a:rPr sz="1500" b="1">
                <a:solidFill>
                  <a:srgbClr val="161B26"/>
                </a:solidFill>
                <a:latin typeface="Arial"/>
              </a:rPr>
              <a:t>The habit that matters</a:t>
            </a:r>
          </a:p>
          <a:p>
            <a:pPr algn="l">
              <a:spcAft>
                <a:spcPts val="300"/>
              </a:spcAft>
            </a:pPr>
            <a:r>
              <a:rPr sz="1100" b="0">
                <a:solidFill>
                  <a:srgbClr val="5B6372"/>
                </a:solidFill>
                <a:latin typeface="Arial"/>
              </a:rPr>
              <a:t>You prompt for a first draft, then verify every figure, source and assumption before it leaves your hands.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268</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Applying This at Work Next Week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823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Start small</a:t>
            </a:r>
          </a:p>
          <a:p>
            <a:pPr algn="l">
              <a:spcAft>
                <a:spcPts val="300"/>
              </a:spcAft>
            </a:pPr>
            <a:r>
              <a:rPr sz="1000" b="0">
                <a:solidFill>
                  <a:srgbClr val="5B6372"/>
                </a:solidFill>
                <a:latin typeface="Arial"/>
              </a:rPr>
              <a:t>Pick one artifact — a status report or a risk register — and draft it with GenAI.</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182368"/>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18236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Reuse your prompt library</a:t>
            </a:r>
          </a:p>
          <a:p>
            <a:pPr algn="l">
              <a:spcAft>
                <a:spcPts val="300"/>
              </a:spcAft>
            </a:pPr>
            <a:r>
              <a:rPr sz="1000" b="0">
                <a:solidFill>
                  <a:srgbClr val="5B6372"/>
                </a:solidFill>
                <a:latin typeface="Arial"/>
              </a:rPr>
              <a:t>The prompts you built in Activity 1 work on your real projects.</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422904"/>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Check your policy</a:t>
            </a:r>
          </a:p>
          <a:p>
            <a:pPr algn="l">
              <a:spcAft>
                <a:spcPts val="300"/>
              </a:spcAft>
            </a:pPr>
            <a:r>
              <a:rPr sz="1000" b="0">
                <a:solidFill>
                  <a:srgbClr val="5B6372"/>
                </a:solidFill>
                <a:latin typeface="Arial"/>
              </a:rPr>
              <a:t>Confirm what your organisation allows you to put into a GenAI tool.</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3712464"/>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3712464"/>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3422904"/>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Keep the ed-tools</a:t>
            </a:r>
          </a:p>
          <a:p>
            <a:pPr algn="l">
              <a:spcAft>
                <a:spcPts val="300"/>
              </a:spcAft>
            </a:pPr>
            <a:r>
              <a:rPr sz="1000" b="0">
                <a:solidFill>
                  <a:srgbClr val="5B6372"/>
                </a:solidFill>
                <a:latin typeface="Arial"/>
              </a:rPr>
              <a:t>RACI, BMC, Design Thinking, Scrum and the Roadmap Studio are free and need no install.</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4256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4953000"/>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Verify everything</a:t>
            </a:r>
          </a:p>
          <a:p>
            <a:pPr algn="l">
              <a:spcAft>
                <a:spcPts val="300"/>
              </a:spcAft>
            </a:pPr>
            <a:r>
              <a:rPr sz="1000" b="0">
                <a:solidFill>
                  <a:srgbClr val="5B6372"/>
                </a:solidFill>
                <a:latin typeface="Arial"/>
              </a:rPr>
              <a:t>Especially arithmetic, sources and anything about a named person.</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69380" y="5242560"/>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9380" y="5242560"/>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164324" y="4953000"/>
            <a:ext cx="4027932" cy="1146048"/>
          </a:xfrm>
          <a:prstGeom prst="rect">
            <a:avLst/>
          </a:prstGeom>
          <a:noFill/>
        </p:spPr>
        <p:txBody>
          <a:bodyPr wrap="square" anchor="ctr">
            <a:spAutoFit/>
          </a:bodyPr>
          <a:lstStyle/>
          <a:p>
            <a:pPr algn="l">
              <a:spcAft>
                <a:spcPts val="300"/>
              </a:spcAft>
            </a:pPr>
            <a:r>
              <a:rPr sz="1400" b="1">
                <a:solidFill>
                  <a:srgbClr val="161B26"/>
                </a:solidFill>
                <a:latin typeface="Arial"/>
              </a:rPr>
              <a:t>Share the practice</a:t>
            </a:r>
          </a:p>
          <a:p>
            <a:pPr algn="l">
              <a:spcAft>
                <a:spcPts val="300"/>
              </a:spcAft>
            </a:pPr>
            <a:r>
              <a:rPr sz="1000" b="0">
                <a:solidFill>
                  <a:srgbClr val="5B6372"/>
                </a:solidFill>
                <a:latin typeface="Arial"/>
              </a:rPr>
              <a:t>Show one colleague the prompting pattern that helped you most.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269</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BEFORE YOU GO</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Course Feedback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Why it matters</a:t>
            </a:r>
          </a:p>
          <a:p>
            <a:pPr algn="l">
              <a:spcAft>
                <a:spcPts val="300"/>
              </a:spcAft>
            </a:pPr>
            <a:r>
              <a:rPr sz="1100" b="0">
                <a:solidFill>
                  <a:srgbClr val="5B6372"/>
                </a:solidFill>
                <a:latin typeface="Arial"/>
              </a:rPr>
              <a:t>Your feedback tells us what worked and what to improve for the next run.</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Where</a:t>
            </a:r>
          </a:p>
          <a:p>
            <a:pPr algn="l">
              <a:spcAft>
                <a:spcPts val="300"/>
              </a:spcAft>
            </a:pPr>
            <a:r>
              <a:rPr sz="1100" b="0">
                <a:solidFill>
                  <a:srgbClr val="5B6372"/>
                </a:solidFill>
                <a:latin typeface="Arial"/>
              </a:rPr>
              <a:t>Complete the feedback form on the LMS at lms-tms.tertiaryinfotech.com</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87952"/>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Your certificate</a:t>
            </a:r>
          </a:p>
          <a:p>
            <a:pPr algn="l">
              <a:spcAft>
                <a:spcPts val="300"/>
              </a:spcAft>
            </a:pPr>
            <a:r>
              <a:rPr sz="1100" b="0">
                <a:solidFill>
                  <a:srgbClr val="5B6372"/>
                </a:solidFill>
                <a:latin typeface="Arial"/>
              </a:rPr>
              <a:t>Your certificate is issued through the same portal.</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87952"/>
            <a:ext cx="4027932" cy="1911096"/>
          </a:xfrm>
          <a:prstGeom prst="rect">
            <a:avLst/>
          </a:prstGeom>
          <a:noFill/>
        </p:spPr>
        <p:txBody>
          <a:bodyPr wrap="square" anchor="ctr">
            <a:spAutoFit/>
          </a:bodyPr>
          <a:lstStyle/>
          <a:p>
            <a:pPr algn="l">
              <a:spcAft>
                <a:spcPts val="300"/>
              </a:spcAft>
            </a:pPr>
            <a:r>
              <a:rPr sz="1500" b="1">
                <a:solidFill>
                  <a:srgbClr val="161B26"/>
                </a:solidFill>
                <a:latin typeface="Arial"/>
              </a:rPr>
              <a:t>When</a:t>
            </a:r>
          </a:p>
          <a:p>
            <a:pPr algn="l">
              <a:spcAft>
                <a:spcPts val="300"/>
              </a:spcAft>
            </a:pPr>
            <a:r>
              <a:rPr sz="1100" b="0">
                <a:solidFill>
                  <a:srgbClr val="5B6372"/>
                </a:solidFill>
                <a:latin typeface="Arial"/>
              </a:rPr>
              <a:t>Please complete it before you leave the classroom.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270</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CONTINUE YOUR LEARNING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Recommended Next Courses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9860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187634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1876348"/>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74520"/>
            <a:ext cx="9482328" cy="552297"/>
          </a:xfrm>
          <a:prstGeom prst="rect">
            <a:avLst/>
          </a:prstGeom>
          <a:noFill/>
        </p:spPr>
        <p:txBody>
          <a:bodyPr wrap="square" anchor="ctr">
            <a:spAutoFit/>
          </a:bodyPr>
          <a:lstStyle/>
          <a:p>
            <a:pPr algn="l">
              <a:spcAft>
                <a:spcPts val="400"/>
              </a:spcAft>
            </a:pPr>
            <a:r>
              <a:rPr sz="1500" b="0">
                <a:solidFill>
                  <a:srgbClr val="161B26"/>
                </a:solidFill>
                <a:latin typeface="Arial"/>
              </a:rPr>
              <a:t>Agile Project Management for Business</a:t>
            </a:r>
          </a:p>
        </p:txBody>
      </p:sp>
      <p:sp>
        <p:nvSpPr>
          <p:cNvPr id="12" name="Rectangle 11"/>
          <p:cNvSpPr/>
          <p:nvPr/>
        </p:nvSpPr>
        <p:spPr>
          <a:xfrm>
            <a:off x="777240" y="2701137"/>
            <a:ext cx="10634472"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1137"/>
            <a:ext cx="91440" cy="69860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14984" y="2794405"/>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4" y="2794405"/>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1709928" y="2792577"/>
            <a:ext cx="9482328" cy="552297"/>
          </a:xfrm>
          <a:prstGeom prst="rect">
            <a:avLst/>
          </a:prstGeom>
          <a:noFill/>
        </p:spPr>
        <p:txBody>
          <a:bodyPr wrap="square" anchor="ctr">
            <a:spAutoFit/>
          </a:bodyPr>
          <a:lstStyle/>
          <a:p>
            <a:pPr algn="l">
              <a:spcAft>
                <a:spcPts val="400"/>
              </a:spcAft>
            </a:pPr>
            <a:r>
              <a:rPr sz="1500" b="0">
                <a:solidFill>
                  <a:srgbClr val="161B26"/>
                </a:solidFill>
                <a:latin typeface="Arial"/>
              </a:rPr>
              <a:t>Mastering Agile Project Management for IT Projects</a:t>
            </a:r>
          </a:p>
        </p:txBody>
      </p:sp>
      <p:sp>
        <p:nvSpPr>
          <p:cNvPr id="17" name="Rectangle 16"/>
          <p:cNvSpPr/>
          <p:nvPr/>
        </p:nvSpPr>
        <p:spPr>
          <a:xfrm>
            <a:off x="777240" y="3619194"/>
            <a:ext cx="10634472"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19194"/>
            <a:ext cx="91440" cy="69860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2"/>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3710634"/>
            <a:ext cx="9482328" cy="552297"/>
          </a:xfrm>
          <a:prstGeom prst="rect">
            <a:avLst/>
          </a:prstGeom>
          <a:noFill/>
        </p:spPr>
        <p:txBody>
          <a:bodyPr wrap="square" anchor="ctr">
            <a:spAutoFit/>
          </a:bodyPr>
          <a:lstStyle/>
          <a:p>
            <a:pPr algn="l">
              <a:spcAft>
                <a:spcPts val="400"/>
              </a:spcAft>
            </a:pPr>
            <a:r>
              <a:rPr sz="1500" b="0">
                <a:solidFill>
                  <a:srgbClr val="161B26"/>
                </a:solidFill>
                <a:latin typeface="Arial"/>
              </a:rPr>
              <a:t>Business Analysis with Generative AI</a:t>
            </a:r>
          </a:p>
        </p:txBody>
      </p:sp>
      <p:sp>
        <p:nvSpPr>
          <p:cNvPr id="22" name="Rectangle 21"/>
          <p:cNvSpPr/>
          <p:nvPr/>
        </p:nvSpPr>
        <p:spPr>
          <a:xfrm>
            <a:off x="777240" y="4537251"/>
            <a:ext cx="10634472"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37251"/>
            <a:ext cx="91440" cy="69860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14984" y="4630519"/>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4984" y="4630519"/>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1709928" y="4628691"/>
            <a:ext cx="9482328" cy="552297"/>
          </a:xfrm>
          <a:prstGeom prst="rect">
            <a:avLst/>
          </a:prstGeom>
          <a:noFill/>
        </p:spPr>
        <p:txBody>
          <a:bodyPr wrap="square" anchor="ctr">
            <a:spAutoFit/>
          </a:bodyPr>
          <a:lstStyle/>
          <a:p>
            <a:pPr algn="l">
              <a:spcAft>
                <a:spcPts val="400"/>
              </a:spcAft>
            </a:pPr>
            <a:r>
              <a:rPr sz="1500" b="0">
                <a:solidFill>
                  <a:srgbClr val="161B26"/>
                </a:solidFill>
                <a:latin typeface="Arial"/>
              </a:rPr>
              <a:t>Data Analytics with Generative AI</a:t>
            </a:r>
          </a:p>
        </p:txBody>
      </p:sp>
      <p:sp>
        <p:nvSpPr>
          <p:cNvPr id="27" name="Rectangle 26"/>
          <p:cNvSpPr/>
          <p:nvPr/>
        </p:nvSpPr>
        <p:spPr>
          <a:xfrm>
            <a:off x="777240" y="5455308"/>
            <a:ext cx="10634472" cy="69860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55308"/>
            <a:ext cx="91440" cy="69860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548576"/>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54857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09928" y="5546748"/>
            <a:ext cx="9482328" cy="552297"/>
          </a:xfrm>
          <a:prstGeom prst="rect">
            <a:avLst/>
          </a:prstGeom>
          <a:noFill/>
        </p:spPr>
        <p:txBody>
          <a:bodyPr wrap="square" anchor="ctr">
            <a:spAutoFit/>
          </a:bodyPr>
          <a:lstStyle/>
          <a:p>
            <a:pPr algn="l">
              <a:spcAft>
                <a:spcPts val="400"/>
              </a:spcAft>
            </a:pPr>
            <a:r>
              <a:rPr sz="1500" b="0">
                <a:solidFill>
                  <a:srgbClr val="161B26"/>
                </a:solidFill>
                <a:latin typeface="Arial"/>
              </a:rPr>
              <a:t>Generative AI for Productivity</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271</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WE'RE HERE TO HELP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6489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09928"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Email</a:t>
            </a:r>
          </a:p>
          <a:p>
            <a:pPr algn="l">
              <a:spcAft>
                <a:spcPts val="300"/>
              </a:spcAft>
            </a:pPr>
            <a:r>
              <a:rPr sz="1200" b="0">
                <a:solidFill>
                  <a:srgbClr val="5B6372"/>
                </a:solidFill>
                <a:latin typeface="Arial"/>
              </a:rPr>
              <a:t>enquiry@tertiaryinfotech.com</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9380" y="256489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9380" y="2564892"/>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164324" y="1892808"/>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Telephone</a:t>
            </a:r>
          </a:p>
          <a:p>
            <a:pPr algn="l">
              <a:spcAft>
                <a:spcPts val="300"/>
              </a:spcAft>
            </a:pPr>
            <a:r>
              <a:rPr sz="1200" b="0">
                <a:solidFill>
                  <a:srgbClr val="5B6372"/>
                </a:solidFill>
                <a:latin typeface="Arial"/>
              </a:rPr>
              <a:t>+65 6100 0613</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0036"/>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09928"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Website</a:t>
            </a:r>
          </a:p>
          <a:p>
            <a:pPr algn="l">
              <a:spcAft>
                <a:spcPts val="300"/>
              </a:spcAft>
            </a:pPr>
            <a:r>
              <a:rPr sz="1200" b="0">
                <a:solidFill>
                  <a:srgbClr val="5B6372"/>
                </a:solidFill>
                <a:latin typeface="Arial"/>
              </a:rPr>
              <a:t>www.tertiarycourses.com.sg</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69380" y="4860036"/>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69380" y="4860036"/>
            <a:ext cx="512064" cy="512064"/>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164324" y="4187952"/>
            <a:ext cx="4027932" cy="1911096"/>
          </a:xfrm>
          <a:prstGeom prst="rect">
            <a:avLst/>
          </a:prstGeom>
          <a:noFill/>
        </p:spPr>
        <p:txBody>
          <a:bodyPr wrap="square" anchor="ctr">
            <a:spAutoFit/>
          </a:bodyPr>
          <a:lstStyle/>
          <a:p>
            <a:pPr algn="l">
              <a:spcAft>
                <a:spcPts val="300"/>
              </a:spcAft>
            </a:pPr>
            <a:r>
              <a:rPr sz="1600" b="1">
                <a:solidFill>
                  <a:srgbClr val="161B26"/>
                </a:solidFill>
                <a:latin typeface="Arial"/>
              </a:rPr>
              <a:t>LMS / TMS</a:t>
            </a:r>
          </a:p>
          <a:p>
            <a:pPr algn="l">
              <a:spcAft>
                <a:spcPts val="300"/>
              </a:spcAft>
            </a:pPr>
            <a:r>
              <a:rPr sz="1200" b="0">
                <a:solidFill>
                  <a:srgbClr val="5B6372"/>
                </a:solidFill>
                <a:latin typeface="Arial"/>
              </a:rPr>
              <a:t>https://lms-tms.tertiaryinfotech.com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272</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SEE YOU AT THE NEXT COURSE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600" b="1">
                <a:solidFill>
                  <a:srgbClr val="161B26"/>
                </a:solidFill>
                <a:latin typeface="Arial"/>
              </a:rPr>
              <a:t>Thank You!</a:t>
            </a:r>
          </a:p>
        </p:txBody>
      </p:sp>
      <p:sp>
        <p:nvSpPr>
          <p:cNvPr id="6" name="TextBox 5"/>
          <p:cNvSpPr txBox="1"/>
          <p:nvPr/>
        </p:nvSpPr>
        <p:spPr>
          <a:xfrm>
            <a:off x="1024128" y="4572000"/>
            <a:ext cx="10058400" cy="1097280"/>
          </a:xfrm>
          <a:prstGeom prst="rect">
            <a:avLst/>
          </a:prstGeom>
          <a:noFill/>
        </p:spPr>
        <p:txBody>
          <a:bodyPr wrap="square" anchor="t">
            <a:spAutoFit/>
          </a:bodyPr>
          <a:lstStyle/>
          <a:p>
            <a:pPr algn="l">
              <a:spcAft>
                <a:spcPts val="400"/>
              </a:spcAft>
            </a:pPr>
            <a:r>
              <a:rPr sz="1900" b="0">
                <a:solidFill>
                  <a:srgbClr val="5B6372"/>
                </a:solidFill>
                <a:latin typeface="Arial"/>
              </a:rPr>
              <a:t>You can now plan, execute and control a project with GenAI as your co-pilot — and you know exactly where its judgement ends and yours begins.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Project Management  ·  C013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