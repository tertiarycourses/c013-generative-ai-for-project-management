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Project Management</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C013</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28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 PROFILE · C013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Assigned Tertiary Infotech Academy Trainer</a:t>
            </a:r>
          </a:p>
          <a:p>
            <a:pPr algn="l">
              <a:spcAft>
                <a:spcPts val="300"/>
              </a:spcAft>
            </a:pPr>
            <a:r>
              <a:rPr sz="1300" b="0">
                <a:solidFill>
                  <a:srgbClr val="5B6372"/>
                </a:solidFill>
                <a:latin typeface="Arial"/>
              </a:rPr>
              <a:t>Project-management and generative-AI facilitator who guides evidence-led planning, delivery, control and hands-on application to the synthetic BeaconWorks scenario.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C013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9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200" b="1">
                <a:solidFill>
                  <a:srgbClr val="1F6FEB"/>
                </a:solidFill>
                <a:latin typeface="Arial"/>
              </a:rPr>
              <a:t>Course page:  https://www.tertiarycourses.com.sg/effective-project-management-with-generative-ai-genai.html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2 Days, 15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Initiate and Plan — establish evidence, authority and an integrated baseline</a:t>
            </a:r>
          </a:p>
          <a:p>
            <a:pPr>
              <a:spcAft>
                <a:spcPts val="1000"/>
              </a:spcAft>
            </a:pPr>
            <a:r>
              <a:rPr sz="1400" b="0">
                <a:solidFill>
                  <a:srgbClr val="5B6372"/>
                </a:solidFill>
                <a:latin typeface="Arial"/>
              </a:rPr>
              <a:t>–  Topic 1: Project Initiation and Planning with GenAI (Labs 1–3)</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Execute, Control and Close — deliver with traceable decisions and responsive controls</a:t>
            </a:r>
          </a:p>
          <a:p>
            <a:pPr>
              <a:spcAft>
                <a:spcPts val="1000"/>
              </a:spcAft>
            </a:pPr>
            <a:r>
              <a:rPr sz="1400" b="0">
                <a:solidFill>
                  <a:srgbClr val="5B6372"/>
                </a:solidFill>
                <a:latin typeface="Arial"/>
              </a:rPr>
              <a:t>–  Topic 2: Project Execution and Delivery with GenAI (Labs 4–6)</a:t>
            </a:r>
          </a:p>
          <a:p>
            <a:pPr>
              <a:spcAft>
                <a:spcPts val="1000"/>
              </a:spcAft>
            </a:pPr>
            <a:r>
              <a:rPr sz="1400" b="0">
                <a:solidFill>
                  <a:srgbClr val="5B6372"/>
                </a:solidFill>
                <a:latin typeface="Arial"/>
              </a:rPr>
              <a:t>–  Topic 3: Manage Project Risks with GenAI (Labs 7–9)</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am–6:30 pm (1-hour lunch; two 15-minute tea breaks; 7.5 instructional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Initiate &amp; Plan</a:t>
            </a:r>
          </a:p>
          <a:p>
            <a:pPr algn="l">
              <a:spcAft>
                <a:spcPts val="300"/>
              </a:spcAft>
            </a:pPr>
            <a:r>
              <a:rPr sz="1300" b="0">
                <a:solidFill>
                  <a:srgbClr val="5B6372"/>
                </a:solidFill>
                <a:latin typeface="Arial"/>
              </a:rPr>
              <a:t>Develop project parameters and an integrated project plan with GenAI according to business requirements.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Execute &amp; Deliver</a:t>
            </a:r>
          </a:p>
          <a:p>
            <a:pPr algn="l">
              <a:spcAft>
                <a:spcPts val="300"/>
              </a:spcAft>
            </a:pPr>
            <a:r>
              <a:rPr sz="1300" b="0">
                <a:solidFill>
                  <a:srgbClr val="5B6372"/>
                </a:solidFill>
                <a:latin typeface="Arial"/>
              </a:rPr>
              <a:t>Resolve project delivery challenges by using GenAI to support people, knowledge, quality, communications, resources and budgets.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Respond &amp; Change</a:t>
            </a:r>
          </a:p>
          <a:p>
            <a:pPr algn="l">
              <a:spcAft>
                <a:spcPts val="300"/>
              </a:spcAft>
            </a:pPr>
            <a:r>
              <a:rPr sz="1300" b="0">
                <a:solidFill>
                  <a:srgbClr val="5B6372"/>
                </a:solidFill>
                <a:latin typeface="Arial"/>
              </a:rPr>
              <a:t>Anticipate, monitor and respond to project risks and changes with GenAI while keeping decisions evidence-led and human-owned.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Control &amp; Close</a:t>
            </a:r>
          </a:p>
          <a:p>
            <a:pPr algn="l">
              <a:spcAft>
                <a:spcPts val="300"/>
              </a:spcAft>
            </a:pPr>
            <a:r>
              <a:rPr sz="1300" b="0">
                <a:solidFill>
                  <a:srgbClr val="5B6372"/>
                </a:solidFill>
                <a:latin typeface="Arial"/>
              </a:rPr>
              <a:t>Control project performance, obtain acceptance and close a project or phase with traceable records and reusable lessons.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Human-Owned GenAI Project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Ground</a:t>
            </a:r>
          </a:p>
          <a:p>
            <a:pPr algn="l">
              <a:spcAft>
                <a:spcPts val="300"/>
              </a:spcAft>
            </a:pPr>
            <a:r>
              <a:rPr sz="1300" b="0">
                <a:solidFill>
                  <a:srgbClr val="5B6372"/>
                </a:solidFill>
                <a:latin typeface="Arial"/>
              </a:rPr>
              <a:t>Use approved project evidence and make the source boundary explicit.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Generate</a:t>
            </a:r>
          </a:p>
          <a:p>
            <a:pPr algn="l">
              <a:spcAft>
                <a:spcPts val="300"/>
              </a:spcAft>
            </a:pPr>
            <a:r>
              <a:rPr sz="1300" b="0">
                <a:solidFill>
                  <a:srgbClr val="5B6372"/>
                </a:solidFill>
                <a:latin typeface="Arial"/>
              </a:rPr>
              <a:t>Ask for options, structures, critiques and transformations—not hidden authority.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Check</a:t>
            </a:r>
          </a:p>
          <a:p>
            <a:pPr algn="l">
              <a:spcAft>
                <a:spcPts val="300"/>
              </a:spcAft>
            </a:pPr>
            <a:r>
              <a:rPr sz="1300" b="0">
                <a:solidFill>
                  <a:srgbClr val="5B6372"/>
                </a:solidFill>
                <a:latin typeface="Arial"/>
              </a:rPr>
              <a:t>Verify facts, calculations, commitments, confidentiality and uncertainty.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Decide</a:t>
            </a:r>
          </a:p>
          <a:p>
            <a:pPr algn="l">
              <a:spcAft>
                <a:spcPts val="300"/>
              </a:spcAft>
            </a:pPr>
            <a:r>
              <a:rPr sz="1300" b="0">
                <a:solidFill>
                  <a:srgbClr val="5B6372"/>
                </a:solidFill>
                <a:latin typeface="Arial"/>
              </a:rPr>
              <a:t>Name the human owner, rationale, approval and update to the project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 Integrated Project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Initiate</a:t>
            </a:r>
          </a:p>
          <a:p>
            <a:pPr algn="l">
              <a:spcAft>
                <a:spcPts val="300"/>
              </a:spcAft>
            </a:pPr>
            <a:r>
              <a:rPr sz="1200" b="0">
                <a:solidFill>
                  <a:srgbClr val="5B6372"/>
                </a:solidFill>
                <a:latin typeface="Arial"/>
              </a:rPr>
              <a:t>Authorise purpose, boundaries, stakeholders and decision rights.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Plan</a:t>
            </a:r>
          </a:p>
          <a:p>
            <a:pPr algn="l">
              <a:spcAft>
                <a:spcPts val="300"/>
              </a:spcAft>
            </a:pPr>
            <a:r>
              <a:rPr sz="1200" b="0">
                <a:solidFill>
                  <a:srgbClr val="5B6372"/>
                </a:solidFill>
                <a:latin typeface="Arial"/>
              </a:rPr>
              <a:t>Integrate scope, schedule, cost, quality, resources, communications, risk and procurement.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Execute</a:t>
            </a:r>
          </a:p>
          <a:p>
            <a:pPr algn="l">
              <a:spcAft>
                <a:spcPts val="300"/>
              </a:spcAft>
            </a:pPr>
            <a:r>
              <a:rPr sz="1200" b="0">
                <a:solidFill>
                  <a:srgbClr val="5B6372"/>
                </a:solidFill>
                <a:latin typeface="Arial"/>
              </a:rPr>
              <a:t>Authorise work, manage people and knowledge, produce and verify deliverables.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a:t>
            </a:r>
          </a:p>
          <a:p>
            <a:pPr algn="l">
              <a:spcAft>
                <a:spcPts val="300"/>
              </a:spcAft>
            </a:pPr>
            <a:r>
              <a:rPr sz="1200" b="0">
                <a:solidFill>
                  <a:srgbClr val="5B6372"/>
                </a:solidFill>
                <a:latin typeface="Arial"/>
              </a:rPr>
              <a:t>Compare evidence with baselines, respond to risk and decide changes.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Close</a:t>
            </a:r>
          </a:p>
          <a:p>
            <a:pPr algn="l">
              <a:spcAft>
                <a:spcPts val="300"/>
              </a:spcAft>
            </a:pPr>
            <a:r>
              <a:rPr sz="1200" b="0">
                <a:solidFill>
                  <a:srgbClr val="5B6372"/>
                </a:solidFill>
                <a:latin typeface="Arial"/>
              </a:rPr>
              <a:t>Accept, transition, archive and convert experience into reusable lessons.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COURSE 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accelerates project thinking; people own project truth.</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generated output is a draft until its evidence, assumptions, calculations and authority are checked.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Initiation Pack</a:t>
            </a:r>
          </a:p>
          <a:p>
            <a:pPr algn="l">
              <a:spcAft>
                <a:spcPts val="300"/>
              </a:spcAft>
            </a:pPr>
            <a:r>
              <a:rPr sz="1200" b="0">
                <a:solidFill>
                  <a:srgbClr val="5B6372"/>
                </a:solidFill>
                <a:latin typeface="Arial"/>
              </a:rPr>
              <a:t>AI working agreement · charter, assumptions and source ledger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Integrated Plan</a:t>
            </a:r>
          </a:p>
          <a:p>
            <a:pPr algn="l">
              <a:spcAft>
                <a:spcPts val="300"/>
              </a:spcAft>
            </a:pPr>
            <a:r>
              <a:rPr sz="1200" b="0">
                <a:solidFill>
                  <a:srgbClr val="5B6372"/>
                </a:solidFill>
                <a:latin typeface="Arial"/>
              </a:rPr>
              <a:t>stakeholder and communications plan · scope, schedule, cost, quality, resource, risk and procurement baseline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Delivery System</a:t>
            </a:r>
          </a:p>
          <a:p>
            <a:pPr algn="l">
              <a:spcAft>
                <a:spcPts val="300"/>
              </a:spcAft>
            </a:pPr>
            <a:r>
              <a:rPr sz="1200" b="0">
                <a:solidFill>
                  <a:srgbClr val="5B6372"/>
                </a:solidFill>
                <a:latin typeface="Arial"/>
              </a:rPr>
              <a:t>work package and decision records · quality, team and status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Control &amp; Closure</a:t>
            </a:r>
          </a:p>
          <a:p>
            <a:pPr algn="l">
              <a:spcAft>
                <a:spcPts val="300"/>
              </a:spcAft>
            </a:pPr>
            <a:r>
              <a:rPr sz="1200" b="0">
                <a:solidFill>
                  <a:srgbClr val="5B6372"/>
                </a:solidFill>
                <a:latin typeface="Arial"/>
              </a:rPr>
              <a:t>risk and change decisions · acceptance, transition and lessons pack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Open the verified synthetic project checkpoint from the prior lab.</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a bounded prompt against supplied evidence and preserve unknowns.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Apply project-management logic, formulas and decision criteria.</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Perform a named human review and record the final decision.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Test the artifact against observable checks and save the next checkpoint.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Project Initiation and Planning with GenAI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AI working method · charter and stakeholders · integrated management plan · scope, schedule, cost, quality, resources, communications, risk and procurement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Day 1 · 3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Project Initiation and Planning with GenAI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Human-owned AI workflow</a:t>
            </a:r>
          </a:p>
          <a:p>
            <a:pPr algn="l">
              <a:spcAft>
                <a:spcPts val="300"/>
              </a:spcAft>
            </a:pPr>
            <a:r>
              <a:rPr sz="1200" b="0">
                <a:solidFill>
                  <a:srgbClr val="5B6372"/>
                </a:solidFill>
                <a:latin typeface="Arial"/>
              </a:rPr>
              <a:t>Use GenAI to propose, structure and challenge; a named project owner validates every decision.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Project charter</a:t>
            </a:r>
          </a:p>
          <a:p>
            <a:pPr algn="l">
              <a:spcAft>
                <a:spcPts val="300"/>
              </a:spcAft>
            </a:pPr>
            <a:r>
              <a:rPr sz="1200" b="0">
                <a:solidFill>
                  <a:srgbClr val="5B6372"/>
                </a:solidFill>
                <a:latin typeface="Arial"/>
              </a:rPr>
              <a:t>Connect the business need, measurable objectives, boundaries, authority and success conditions.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Stakeholder strategy</a:t>
            </a:r>
          </a:p>
          <a:p>
            <a:pPr algn="l">
              <a:spcAft>
                <a:spcPts val="300"/>
              </a:spcAft>
            </a:pPr>
            <a:r>
              <a:rPr sz="1200" b="0">
                <a:solidFill>
                  <a:srgbClr val="5B6372"/>
                </a:solidFill>
                <a:latin typeface="Arial"/>
              </a:rPr>
              <a:t>Separate influence, interest, impact and information needs before choosing an engagement approach.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Integrated baseline</a:t>
            </a:r>
          </a:p>
          <a:p>
            <a:pPr algn="l">
              <a:spcAft>
                <a:spcPts val="300"/>
              </a:spcAft>
            </a:pPr>
            <a:r>
              <a:rPr sz="1200" b="0">
                <a:solidFill>
                  <a:srgbClr val="5B6372"/>
                </a:solidFill>
                <a:latin typeface="Arial"/>
              </a:rPr>
              <a:t>Link deliverables, work packages, dependencies, resources, costs and acceptance evidence.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Management plans</a:t>
            </a:r>
          </a:p>
          <a:p>
            <a:pPr algn="l">
              <a:spcAft>
                <a:spcPts val="300"/>
              </a:spcAft>
            </a:pPr>
            <a:r>
              <a:rPr sz="1200" b="0">
                <a:solidFill>
                  <a:srgbClr val="5B6372"/>
                </a:solidFill>
                <a:latin typeface="Arial"/>
              </a:rPr>
              <a:t>Define how scope, schedule, cost, quality, communications, risks and suppliers will be managed.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Planning uncertainty</a:t>
            </a:r>
          </a:p>
          <a:p>
            <a:pPr algn="l">
              <a:spcAft>
                <a:spcPts val="300"/>
              </a:spcAft>
            </a:pPr>
            <a:r>
              <a:rPr sz="1200" b="0">
                <a:solidFill>
                  <a:srgbClr val="5B6372"/>
                </a:solidFill>
                <a:latin typeface="Arial"/>
              </a:rPr>
              <a:t>Record assumptions, confidence, sources and review triggers instead of hiding uncertainty in polished prose.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GenAI as a Project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generative AI assistant creates likely text, tables and alternatives from the instructions and context it receives. For project work it is best treated as a co-pilot: useful for organising supplied evidence, generating options and challenging a draft, but not an accountable decision-maker or a source of project truth.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Project records affect money, commitments, people and suppliers. Fluency can disguise a missing source, an invented dependency or an unrealistic estimate. A controlled workflow makes the human owner, evidence boundary and review gate visible before an output enters the project record.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Use GenAI as a Project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C-O-S-T-A-R: Context, Objective, Sources, Tasks, Acceptance criteria and Review.</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Delimit approved source material; require the assistant to label facts, assumptions, options and unknowns.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Verify dates, quantities, commitments and names against primary project records before approval.</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Keep a prompt-and-output log for material decisions and remove restricted data before using an AI service.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Use GenAI as a Project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project manager supplies the approved project brief and asks for a charter draft, not a new business case.</a:t>
            </a:r>
          </a:p>
          <a:p>
            <a:pPr>
              <a:spcAft>
                <a:spcPts val="1000"/>
              </a:spcAft>
            </a:pPr>
            <a:r>
              <a:rPr sz="1600" b="0">
                <a:solidFill>
                  <a:srgbClr val="161B26"/>
                </a:solidFill>
                <a:latin typeface="Arial"/>
              </a:rPr>
              <a:t>•  The response includes a source ledger and marks an unstated target date as UNKNOWN.</a:t>
            </a:r>
          </a:p>
          <a:p>
            <a:pPr>
              <a:spcAft>
                <a:spcPts val="1000"/>
              </a:spcAft>
            </a:pPr>
            <a:r>
              <a:rPr sz="1600" b="0">
                <a:solidFill>
                  <a:srgbClr val="161B26"/>
                </a:solidFill>
                <a:latin typeface="Arial"/>
              </a:rPr>
              <a:t>•  The sponsor selects the objective and the project manager records the final wording and rationale.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is to structure, summarise, compare, draft, critique or explore options from approved inputs.</a:t>
            </a:r>
          </a:p>
          <a:p>
            <a:pPr>
              <a:spcAft>
                <a:spcPts val="1000"/>
              </a:spcAft>
            </a:pPr>
            <a:r>
              <a:rPr sz="1400" b="0">
                <a:solidFill>
                  <a:srgbClr val="5B6372"/>
                </a:solidFill>
                <a:latin typeface="Arial"/>
              </a:rPr>
              <a:t>–  A human owner can check the result against evidence and has authority to approve the final record.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would expose confidential, personal or security-sensitive information to an unapproved service.</a:t>
            </a:r>
          </a:p>
          <a:p>
            <a:pPr>
              <a:spcAft>
                <a:spcPts val="1000"/>
              </a:spcAft>
            </a:pPr>
            <a:r>
              <a:rPr sz="1400" b="0">
                <a:solidFill>
                  <a:srgbClr val="5B6372"/>
                </a:solidFill>
                <a:latin typeface="Arial"/>
              </a:rPr>
              <a:t>–  The output would create a commitment, forecast or decision without evidence and named human approval.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Initiate the Project and Develop the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Initiation turns a business need into an authorised project. A practical charter names the purpose, measurable objectives, high-level deliverables, exclusions, constraints, major assumptions, milestone horizon, initial risks, sponsor and project manager authority. It is a decision record, not a detailed plan.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Teams that begin with solution activity before confirming the problem and authority often optimise the wrong work. GenAI can expose ambiguity and draft alternatives, but only the sponsor and accountable leaders can decide which outcome, tolerance and boundary the organisation accepts.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Initiate the Project and Develop the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Trace every objective to the business need and express it with a measure, target and time horizon.</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Separate in-scope deliverables from explicit exclusions and list assumptions that could change the plan.</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Name decision rights: sponsor, project manager, product owner and acceptance authority.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Review the charter for contradictions, unsupported promises and missing success measures before approval.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Initiate the Project and Develop the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Need: reduce customer-service response delays during seasonal peaks.</a:t>
            </a:r>
          </a:p>
          <a:p>
            <a:pPr>
              <a:spcAft>
                <a:spcPts val="1000"/>
              </a:spcAft>
            </a:pPr>
            <a:r>
              <a:rPr sz="1600" b="0">
                <a:solidFill>
                  <a:srgbClr val="161B26"/>
                </a:solidFill>
                <a:latin typeface="Arial"/>
              </a:rPr>
              <a:t>•  Objective: release an approved self-service portal pilot by week 12 within SGD 120,000, with named acceptance checks.</a:t>
            </a:r>
          </a:p>
          <a:p>
            <a:pPr>
              <a:spcAft>
                <a:spcPts val="1000"/>
              </a:spcAft>
            </a:pPr>
            <a:r>
              <a:rPr sz="1600" b="0">
                <a:solidFill>
                  <a:srgbClr val="161B26"/>
                </a:solidFill>
                <a:latin typeface="Arial"/>
              </a:rPr>
              <a:t>•  Exclusion: replacement of the existing case-management platform; this prevents silent expansion.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new project or phase needs shared authority, boundaries and measurable success conditions.</a:t>
            </a:r>
          </a:p>
          <a:p>
            <a:pPr>
              <a:spcAft>
                <a:spcPts val="1000"/>
              </a:spcAft>
            </a:pPr>
            <a:r>
              <a:rPr sz="1400" b="0">
                <a:solidFill>
                  <a:srgbClr val="5B6372"/>
                </a:solidFill>
                <a:latin typeface="Arial"/>
              </a:rPr>
              <a:t>–  Several stakeholders interpret the business need differently and require one approved reference point.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Using a charter as a substitute for detailed requirements, estimates or a delivery plan.</a:t>
            </a:r>
          </a:p>
          <a:p>
            <a:pPr>
              <a:spcAft>
                <a:spcPts val="1000"/>
              </a:spcAft>
            </a:pPr>
            <a:r>
              <a:rPr sz="1400" b="0">
                <a:solidFill>
                  <a:srgbClr val="5B6372"/>
                </a:solidFill>
                <a:latin typeface="Arial"/>
              </a:rPr>
              <a:t>–  Allowing AI-generated objectives or dates to become commitments before sponsor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Identify Stakeholders and Plan Engagement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stakeholder is a person, group or organisation that can affect, be affected by or perceive itself to be affected by the project. Stakeholder planning combines identification, influence and interest analysis, impact, current and desired engagement, information needs, decision rights and an owner for each engagement action.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generic mailing list treats every stakeholder as if the same information and cadence were useful. Analysis helps the team focus attention where decisions, adoption, resistance or operational impact matter, while avoiding unnecessary personal data.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Identify Stakeholders and Plan Engagement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Start with roles and legitimate project needs; collect only information necessary for engagement.</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Map influence and interest, then record current versus desired engagement and the evidence for both.</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Choose a strategy—manage closely, keep satisfied, keep informed or monitor—and assign an action owner.</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Review the map at phase gates and when power, impact or sentiment changes.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Identify Stakeholders and Plan Engagement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service director has high influence and owns acceptance; the support agents have high impact and essential workflow knowledge.</a:t>
            </a:r>
          </a:p>
          <a:p>
            <a:pPr>
              <a:spcAft>
                <a:spcPts val="1000"/>
              </a:spcAft>
            </a:pPr>
            <a:r>
              <a:rPr sz="1600" b="0">
                <a:solidFill>
                  <a:srgbClr val="161B26"/>
                </a:solidFill>
                <a:latin typeface="Arial"/>
              </a:rPr>
              <a:t>•  The plan gives the director a fortnightly decision brief and the agents weekly design reviews with visible action tracking.</a:t>
            </a:r>
          </a:p>
          <a:p>
            <a:pPr>
              <a:spcAft>
                <a:spcPts val="1000"/>
              </a:spcAft>
            </a:pPr>
            <a:r>
              <a:rPr sz="1600" b="0">
                <a:solidFill>
                  <a:srgbClr val="161B26"/>
                </a:solidFill>
                <a:latin typeface="Arial"/>
              </a:rPr>
              <a:t>•  AI suggests message variants from role-based needs; the project manager checks tone and factual accuracy.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Planning approvals, requirements discovery, change adoption, communications and escalation routes.</a:t>
            </a:r>
          </a:p>
          <a:p>
            <a:pPr>
              <a:spcAft>
                <a:spcPts val="1000"/>
              </a:spcAft>
            </a:pPr>
            <a:r>
              <a:rPr sz="1400" b="0">
                <a:solidFill>
                  <a:srgbClr val="5B6372"/>
                </a:solidFill>
                <a:latin typeface="Arial"/>
              </a:rPr>
              <a:t>–  A project affects multiple functions with different concerns or decision rights.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Inferring sensitive traits, private motivations or sentiment without evidence.</a:t>
            </a:r>
          </a:p>
          <a:p>
            <a:pPr>
              <a:spcAft>
                <a:spcPts val="1000"/>
              </a:spcAft>
            </a:pPr>
            <a:r>
              <a:rPr sz="1400" b="0">
                <a:solidFill>
                  <a:srgbClr val="5B6372"/>
                </a:solidFill>
                <a:latin typeface="Arial"/>
              </a:rPr>
              <a:t>–  Treating a power-interest grid as permanent or as a substitute for direct conversation.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Scope with Requirements, Deliverables and a WBS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Scope planning converts needs into agreed requirements, deliverables, acceptance criteria and a work breakdown structure. A WBS decomposes the total project scope into manageable work packages; its dictionary explains each package, owner, boundaries and completion evidence. Decomposition describes outcomes before activities.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schedule or budget built from vague nouns is fragile. The WBS creates a common reference for scope, schedule, cost, risk and responsibility, while acceptance criteria make completion observable. GenAI can find gaps and propose decomposition, but the team must confirm that the WBS covers exactly the approved scope.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Plan Scope with Requirements, Deliverables and a WBS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Translate needs into requirements with source, priority, owner and verifiable acceptance criteria.</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Decompose deliverables until a work package can be estimated, assigned, monitored and accepted.</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Apply the 100-percent rule: children collectively represent the parent scope without unrelated work.</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Create a requirements traceability view from need to requirement, deliverable, verification and acceptance.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Plan Scope with Requirements, Deliverables and a WBS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Deliverable 1.0 Portal Pilot decomposes into 1.1 Content, 1.2 Configuration, 1.3 Integration, 1.4 Testing and 1.5 Launch readiness.</a:t>
            </a:r>
          </a:p>
          <a:p>
            <a:pPr>
              <a:spcAft>
                <a:spcPts val="1000"/>
              </a:spcAft>
            </a:pPr>
            <a:r>
              <a:rPr sz="1600" b="0">
                <a:solidFill>
                  <a:srgbClr val="161B26"/>
                </a:solidFill>
                <a:latin typeface="Arial"/>
              </a:rPr>
              <a:t>•  Work package 1.4 has an owner, test environment, entry criteria, exit evidence and explicit exclusions.</a:t>
            </a:r>
          </a:p>
          <a:p>
            <a:pPr>
              <a:spcAft>
                <a:spcPts val="1000"/>
              </a:spcAft>
            </a:pPr>
            <a:r>
              <a:rPr sz="1600" b="0">
                <a:solidFill>
                  <a:srgbClr val="161B26"/>
                </a:solidFill>
                <a:latin typeface="Arial"/>
              </a:rPr>
              <a:t>•  AI critiques the hierarchy for overlap; the team resolves the final boundary.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Building estimates, assigning ownership, controlling changes or defining acceptance.</a:t>
            </a:r>
          </a:p>
          <a:p>
            <a:pPr>
              <a:spcAft>
                <a:spcPts val="1000"/>
              </a:spcAft>
            </a:pPr>
            <a:r>
              <a:rPr sz="1400" b="0">
                <a:solidFill>
                  <a:srgbClr val="5B6372"/>
                </a:solidFill>
                <a:latin typeface="Arial"/>
              </a:rPr>
              <a:t>–  Requirements need traceability across business, technical and operational work.</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Creating a task list with no deliverable hierarchy or acceptance evidence.</a:t>
            </a:r>
          </a:p>
          <a:p>
            <a:pPr>
              <a:spcAft>
                <a:spcPts val="1000"/>
              </a:spcAft>
            </a:pPr>
            <a:r>
              <a:rPr sz="1400" b="0">
                <a:solidFill>
                  <a:srgbClr val="5B6372"/>
                </a:solidFill>
                <a:latin typeface="Arial"/>
              </a:rPr>
              <a:t>–  Accepting AI-created requirements that cannot be traced to an authorised stakeholder or source.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Credible Schedule and Cost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credible schedule sequences the complete work, uses realistic durations, links dependencies, identifies resources and shows the critical path and margin. A cost baseline time-phases approved estimates so planned value can later be compared with earned value and actual cost. Both baselines depend on the same WBS.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list of dates does not show whether the finish is achievable. Network logic reveals which delay matters, while documented estimate assumptions make uncertainty discussable. GenAI may help normalise data or explore scenarios, but it must not invent durations, rates or dependencies.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Build a Credible Schedule and Cost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Sequence work packages with predecessors and successors; minimise unexplained constraints and open ends.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Estimate duration and cost from documented quantities, rates, analogous data or expert input; record confidence.</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Calculate the longest dependent path and identify activities with zero or low float.</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Time-phase costs, include authorised contingency where appropriate and obtain baseline approval.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Build a Credible Schedule and Cost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Content approval precedes portal configuration; integration test follows both configuration and test-data readiness.</a:t>
            </a:r>
          </a:p>
          <a:p>
            <a:pPr>
              <a:spcAft>
                <a:spcPts val="1000"/>
              </a:spcAft>
            </a:pPr>
            <a:r>
              <a:rPr sz="1600" b="0">
                <a:solidFill>
                  <a:srgbClr val="161B26"/>
                </a:solidFill>
                <a:latin typeface="Arial"/>
              </a:rPr>
              <a:t>•  The critical path runs through content approval, configuration, integration test and acceptance.</a:t>
            </a:r>
          </a:p>
          <a:p>
            <a:pPr>
              <a:spcAft>
                <a:spcPts val="1000"/>
              </a:spcAft>
            </a:pPr>
            <a:r>
              <a:rPr sz="1600" b="0">
                <a:solidFill>
                  <a:srgbClr val="161B26"/>
                </a:solidFill>
                <a:latin typeface="Arial"/>
              </a:rPr>
              <a:t>•  A two-week content delay moves the finish unless the team changes logic, scope or capacity through an approved decision.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Testing whether a target date and budget are realistic and creating a performance reference.</a:t>
            </a:r>
          </a:p>
          <a:p>
            <a:pPr>
              <a:spcAft>
                <a:spcPts val="1000"/>
              </a:spcAft>
            </a:pPr>
            <a:r>
              <a:rPr sz="1400" b="0">
                <a:solidFill>
                  <a:srgbClr val="5B6372"/>
                </a:solidFill>
                <a:latin typeface="Arial"/>
              </a:rPr>
              <a:t>–  Analysing the consequence of delay, resource limits or an approved change.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Using fixed target dates as if they were estimates or hiding uncertainty in a single precise number.</a:t>
            </a:r>
          </a:p>
          <a:p>
            <a:pPr>
              <a:spcAft>
                <a:spcPts val="1000"/>
              </a:spcAft>
            </a:pPr>
            <a:r>
              <a:rPr sz="1400" b="0">
                <a:solidFill>
                  <a:srgbClr val="5B6372"/>
                </a:solidFill>
                <a:latin typeface="Arial"/>
              </a:rPr>
              <a:t>–  Optimising a schedule generated by AI when its logic and source data have not been checked.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Integrate Quality, Resources, Communications, Risk and Procurement Plans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project management plan is an integrated set of baselines and management approaches. Quality planning defines standards, metrics and verification; resource planning defines roles, capacity and responsibility; communications planning matches message to audience and decision; risk planning defines categories, thresholds and response ownership; procurement planning defines make-or-buy, evaluation, contract and supplier controls.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Separate plans can conflict: a compressed schedule may require unavailable specialists; a low-cost supplier may not meet a quality threshold; a reporting cadence may arrive after the decision it supports. Integration checks reveal these trade-offs before execution.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Integrate Quality, Resources, Communications, Risk and Procurement Plans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For each deliverable, link an owner, required capability, quality metric, verification method and acceptance authority.</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Define communication purpose, audience, content, format, cadence, sender and escalation trigger.</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Score threats and opportunities consistently; assign preventive, contingent and fallback actions with owners.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Document supplier evaluation criteria, lead times, interfaces and approval limits before requesting commitments.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Integrate Quality, Resources, Communications, Risk and Procurement Plans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portal needs accessibility review before acceptance; the specialist is available only in week 9.</a:t>
            </a:r>
          </a:p>
          <a:p>
            <a:pPr>
              <a:spcAft>
                <a:spcPts val="1000"/>
              </a:spcAft>
            </a:pPr>
            <a:r>
              <a:rPr sz="1600" b="0">
                <a:solidFill>
                  <a:srgbClr val="161B26"/>
                </a:solidFill>
                <a:latin typeface="Arial"/>
              </a:rPr>
              <a:t>•  The schedule reserves that window, procurement includes the review deliverable and the quality plan names the evidence.</a:t>
            </a:r>
          </a:p>
          <a:p>
            <a:pPr>
              <a:spcAft>
                <a:spcPts val="1000"/>
              </a:spcAft>
            </a:pPr>
            <a:r>
              <a:rPr sz="1600" b="0">
                <a:solidFill>
                  <a:srgbClr val="161B26"/>
                </a:solidFill>
                <a:latin typeface="Arial"/>
              </a:rPr>
              <a:t>•  The risk plan records a trigger and contingency if the specialist becomes unavailable.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Consolidating component plans and checking whether delivery assumptions agree across functions.</a:t>
            </a:r>
          </a:p>
          <a:p>
            <a:pPr>
              <a:spcAft>
                <a:spcPts val="1000"/>
              </a:spcAft>
            </a:pPr>
            <a:r>
              <a:rPr sz="1400" b="0">
                <a:solidFill>
                  <a:srgbClr val="5B6372"/>
                </a:solidFill>
                <a:latin typeface="Arial"/>
              </a:rPr>
              <a:t>–  Preparing the project for execution, governance review or supplier engagement.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Producing isolated documents that do not trace to deliverables, dates, costs and owners.</a:t>
            </a:r>
          </a:p>
          <a:p>
            <a:pPr>
              <a:spcAft>
                <a:spcPts val="1000"/>
              </a:spcAft>
            </a:pPr>
            <a:r>
              <a:rPr sz="1400" b="0">
                <a:solidFill>
                  <a:srgbClr val="5B6372"/>
                </a:solidFill>
                <a:latin typeface="Arial"/>
              </a:rPr>
              <a:t>–  Asking AI to choose a supplier, staff member or response without approved criteria and human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Project Initiation and Planning with GenAI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AI Working Agreement and Project Charter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Stakeholder Engagement and Communications Plan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Integrated Project Management Plan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AI Working Agreement and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open the synthetic BeaconWorks Customer Self-Service Portal brief, define a human-owned GenAI working agreement and turn the approved facts into a project charter. The exercise separates facts, assumptions, options and unknowns so polished language never becomes an unreviewed commitment.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01-initiation/ai-working-agreement.md, project-charter.md and source-ledger.csv containing the approved project parameters, human review gates and traceable evidence.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Inspect evidence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Define AI controls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Draft the charter</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Trace and approve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Text editor · approved AI assistant · beaconworks-project-brief.md · spreadsheet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AI Working Agreement and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500" b="0">
                <a:solidFill>
                  <a:srgbClr val="161B26"/>
                </a:solidFill>
                <a:latin typeface="Arial"/>
              </a:rPr>
              <a:t>The working agreement must contain all six headings and the six-part C-O-S-T-A-R pattern. The charter must contain all 13 requested sections, at least three measurable objectives, an explicit out-of-scope statement, a named document owner and approval owner, plus the status Ready for sponsor review. The source ledger must contain at least seven rows; every material figure and date in the charter must trace to a verified FACT row or be labelled ASSUMPTION or UNKNOWN.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Stakeholder Engagement and Communications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combine the approved charter with the supplied stakeholder inputs. GenAI will help structure and challenge the plan, while you make the final influence, interest, impact and engagement decisions from evidence. The resulting communication matrix starts with the action or decision each audience needs.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02-planning/stakeholder-register.csv and stakeholder-communications-plan.md with eight stakeholder rows, current and desired engagement, owned actions, decision-focused communications and privacy safeguards.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Identify roles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Analyse evidence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Plan engagement</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Design communications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stakeholder-inputs.csv · Lab 1 charter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Stakeholder Engagement and Communications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register must contain exactly eight supplied Stakeholder_ID rows and no added personal data. Every row must have final influence, interest and impact scores; current and desired states; a strategy; an owned action; a review trigger; and evidence or UNKNOWN. The communications plan must contain at least five records and all 12 columns. The two audience drafts must preserve identical project facts and include different purpose-appropriate asks.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Integrated Project Management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the charter, stakeholder plan and supplied work-package inputs to create a WBS-aligned baseline. You will calculate the network and budget yourself, then use GenAI to critique integration gaps across quality, resources, communications, risks and procurement.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02-planning/wbs-and-baseline.csv, integrated-management-plan.md, initial-risk-register.csv and procurement-evaluation-plan.csv with a verified 28-working-day critical path and SGD 120,000 authorised budget.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Decompose scope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Sequence and estimate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Integrate controls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Verify the baseline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planning-inputs.csv · risk-issue-inputs.csv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Integrated Project Management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400" b="0">
                <a:solidFill>
                  <a:srgbClr val="161B26"/>
                </a:solidFill>
                <a:latin typeface="Arial"/>
              </a:rPr>
              <a:t>The baseline must contain ten contiguous work packages, total SGD 105,000 before contingency and show the zero-float path WP-01 -&gt; WP-03 -&gt; WP-04 -&gt; WP-07 -&gt; WP-08 -&gt; WP-10 at 28 working days. Every row must have ES, EF, LS, LF and Total_Float calculated with the stated day-zero convention. The integrated plan must contain all 11 sections and link every work package to an owner, resource role, cost, quality or acceptance evidence and communication or control record. The risk register must contain five cause–event–effect rows with scored exposure, action, trigger, contingency and owner. Procurement criteria weights must total 100 and include written 1, 3 and 5 scoring anchors.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Project Initiation and Planning with GenAI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LO1: develop evidence-led project parameters and an authorised charter draft with GenAI</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LO1: identify stakeholders and plan evidence-led engagement and communications</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LO1: develop an integrated scope, schedule, cost, quality, resource, communication, risk and procurement plan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Project Execution and Delivery with GenAI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direct and manage work · knowledge and decisions · team and resources · quality · communications · stakeholder engagement · evidence-led status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Day 2 morning · 3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Project Execution and Delivery with GenAI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 authorisation</a:t>
            </a:r>
          </a:p>
          <a:p>
            <a:pPr algn="l">
              <a:spcAft>
                <a:spcPts val="300"/>
              </a:spcAft>
            </a:pPr>
            <a:r>
              <a:rPr sz="1200" b="0">
                <a:solidFill>
                  <a:srgbClr val="5B6372"/>
                </a:solidFill>
                <a:latin typeface="Arial"/>
              </a:rPr>
              <a:t>Translate the plan into owned work packages with inputs, constraints and completion evidence.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Team coordination</a:t>
            </a:r>
          </a:p>
          <a:p>
            <a:pPr algn="l">
              <a:spcAft>
                <a:spcPts val="300"/>
              </a:spcAft>
            </a:pPr>
            <a:r>
              <a:rPr sz="1200" b="0">
                <a:solidFill>
                  <a:srgbClr val="5B6372"/>
                </a:solidFill>
                <a:latin typeface="Arial"/>
              </a:rPr>
              <a:t>Make responsibility, capacity, hand-offs, impediments and escalation routes visible.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Knowledge flow</a:t>
            </a:r>
          </a:p>
          <a:p>
            <a:pPr algn="l">
              <a:spcAft>
                <a:spcPts val="300"/>
              </a:spcAft>
            </a:pPr>
            <a:r>
              <a:rPr sz="1200" b="0">
                <a:solidFill>
                  <a:srgbClr val="5B6372"/>
                </a:solidFill>
                <a:latin typeface="Arial"/>
              </a:rPr>
              <a:t>Capture decisions, rationale, assumptions and lessons where the team can reuse them.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Quality at source</a:t>
            </a:r>
          </a:p>
          <a:p>
            <a:pPr algn="l">
              <a:spcAft>
                <a:spcPts val="300"/>
              </a:spcAft>
            </a:pPr>
            <a:r>
              <a:rPr sz="1200" b="0">
                <a:solidFill>
                  <a:srgbClr val="5B6372"/>
                </a:solidFill>
                <a:latin typeface="Arial"/>
              </a:rPr>
              <a:t>Prevent defects with clear criteria and peer checks instead of relying on late inspection.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Purposeful communication</a:t>
            </a:r>
          </a:p>
          <a:p>
            <a:pPr algn="l">
              <a:spcAft>
                <a:spcPts val="300"/>
              </a:spcAft>
            </a:pPr>
            <a:r>
              <a:rPr sz="1200" b="0">
                <a:solidFill>
                  <a:srgbClr val="5B6372"/>
                </a:solidFill>
                <a:latin typeface="Arial"/>
              </a:rPr>
              <a:t>Design each update around the decision or action the audience needs.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Evidence-led reporting</a:t>
            </a:r>
          </a:p>
          <a:p>
            <a:pPr algn="l">
              <a:spcAft>
                <a:spcPts val="300"/>
              </a:spcAft>
            </a:pPr>
            <a:r>
              <a:rPr sz="1200" b="0">
                <a:solidFill>
                  <a:srgbClr val="5B6372"/>
                </a:solidFill>
                <a:latin typeface="Arial"/>
              </a:rPr>
              <a:t>Separate facts, forecasts, decisions, risks and asks; never let narrative outrun the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Direct and Manage Project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Directing and managing work means authorising planned work packages, coordinating execution, producing deliverables, handling issues and implementing approved changes. The plan guides action, while actual results and work-performance data feed monitoring and decisions.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Execution fails when tasks are launched without clear outcomes, prerequisites or completion evidence. A work package brief creates a bounded commitment and lets AI assist with sequencing, checklists and communication without redefining the approved scope.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Direct and Manage Project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Confirm the work package objective, owner, inputs, constraints, dependencies, due date and done criteria.</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Authorise only work that is ready; make blockers and required decisions visible.</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Update actual start, progress evidence, forecast finish, actual cost and issues at an agreed cadence.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Route any proposed baseline change through the change-control process before implementation.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Direct and Manage Project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configuration package starts only after content approval and environment access are confirmed.</a:t>
            </a:r>
          </a:p>
          <a:p>
            <a:pPr>
              <a:spcAft>
                <a:spcPts val="1000"/>
              </a:spcAft>
            </a:pPr>
            <a:r>
              <a:rPr sz="1600" b="0">
                <a:solidFill>
                  <a:srgbClr val="161B26"/>
                </a:solidFill>
                <a:latin typeface="Arial"/>
              </a:rPr>
              <a:t>•  The owner records evidence links and a forecast, not an unsupported percent-complete guess.</a:t>
            </a:r>
          </a:p>
          <a:p>
            <a:pPr>
              <a:spcAft>
                <a:spcPts val="1000"/>
              </a:spcAft>
            </a:pPr>
            <a:r>
              <a:rPr sz="1600" b="0">
                <a:solidFill>
                  <a:srgbClr val="161B26"/>
                </a:solidFill>
                <a:latin typeface="Arial"/>
              </a:rPr>
              <a:t>•  A new reporting feature is logged as a change request rather than inserted into active work.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Converting an approved plan into short, owned units of delivery and coordinating dependencies.</a:t>
            </a:r>
          </a:p>
          <a:p>
            <a:pPr>
              <a:spcAft>
                <a:spcPts val="1000"/>
              </a:spcAft>
            </a:pPr>
            <a:r>
              <a:rPr sz="1400" b="0">
                <a:solidFill>
                  <a:srgbClr val="5B6372"/>
                </a:solidFill>
                <a:latin typeface="Arial"/>
              </a:rPr>
              <a:t>–  Clarifying what can start, what is blocked and what evidence demonstrates completion.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Starting work from an AI-generated list that has not been reconciled to the WBS and baseline.</a:t>
            </a:r>
          </a:p>
          <a:p>
            <a:pPr>
              <a:spcAft>
                <a:spcPts val="1000"/>
              </a:spcAft>
            </a:pPr>
            <a:r>
              <a:rPr sz="1400" b="0">
                <a:solidFill>
                  <a:srgbClr val="5B6372"/>
                </a:solidFill>
                <a:latin typeface="Arial"/>
              </a:rPr>
              <a:t>–  Treating activity volume or polished status text as proof of deliverable progress.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Manage Project Knowledge and Decisions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Project knowledge includes explicit records—plans, decisions, designs and lessons—and tacit experience held by people. Knowledge management makes both usable through structured capture, context, ownership, retrieval and conversation. A decision log records the decision, options, evidence, rationale, owner, date and review trigger.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Meeting summaries without decisions and owners create the illusion of documentation. GenAI can extract candidate actions and themes, but source notes and participant confirmation are needed because a plausible summary can omit a condition or assign the wrong owner.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Manage Project Knowledge and Decisions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Capture source notes first; ask AI to separate decisions, actions, questions, assumptions and risks.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Confirm candidate records with the decision owner and participants before publishing.</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Link each decision to affected requirements, work packages, risks and changes.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Record lessons during delivery with context and evidence, not only at closure.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Manage Project Knowledge and Decisions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design review chooses option B because it meets accessibility and lead-time constraints.</a:t>
            </a:r>
          </a:p>
          <a:p>
            <a:pPr>
              <a:spcAft>
                <a:spcPts val="1000"/>
              </a:spcAft>
            </a:pPr>
            <a:r>
              <a:rPr sz="1600" b="0">
                <a:solidFill>
                  <a:srgbClr val="161B26"/>
                </a:solidFill>
                <a:latin typeface="Arial"/>
              </a:rPr>
              <a:t>•  The log retains rejected options, evidence, decision owner and a review trigger if the supplier date changes.</a:t>
            </a:r>
          </a:p>
          <a:p>
            <a:pPr>
              <a:spcAft>
                <a:spcPts val="1000"/>
              </a:spcAft>
            </a:pPr>
            <a:r>
              <a:rPr sz="1600" b="0">
                <a:solidFill>
                  <a:srgbClr val="161B26"/>
                </a:solidFill>
                <a:latin typeface="Arial"/>
              </a:rPr>
              <a:t>•  The AI summary is corrected against the meeting notes before the action register is updated.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Synthesising meetings, comparing options, onboarding team members or preserving rationale.</a:t>
            </a:r>
          </a:p>
          <a:p>
            <a:pPr>
              <a:spcAft>
                <a:spcPts val="1000"/>
              </a:spcAft>
            </a:pPr>
            <a:r>
              <a:rPr sz="1400" b="0">
                <a:solidFill>
                  <a:srgbClr val="5B6372"/>
                </a:solidFill>
                <a:latin typeface="Arial"/>
              </a:rPr>
              <a:t>–  A project contains hand-offs, repeated decisions or knowledge that could be lost when people change.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Recording confidential discussion in an unapproved service or treating an AI summary as the official record.</a:t>
            </a:r>
          </a:p>
          <a:p>
            <a:pPr>
              <a:spcAft>
                <a:spcPts val="1000"/>
              </a:spcAft>
            </a:pPr>
            <a:r>
              <a:rPr sz="1400" b="0">
                <a:solidFill>
                  <a:srgbClr val="5B6372"/>
                </a:solidFill>
                <a:latin typeface="Arial"/>
              </a:rPr>
              <a:t>–  Capturing lessons as generic advice with no context, consequence or evidence.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Acquire Resources and Manage the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Resource management matches required capability and capacity to scheduled work, then supports people to deliver together. A responsibility view clarifies who is accountable, responsible, consulted and informed; a capacity view compares demand with realistic availability; a team working agreement defines collaboration, escalation and decision norms.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plan can look feasible while over-allocating the same specialist or ignoring operational duties. GenAI can highlight conflicts and draft coaching questions, but staffing, performance and conflict decisions require context, fairness and accountable human judgement.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Acquire Resources and Manage the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Map each work package to required capability, named owner, effort window and availability.</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Resolve over-allocation by changing sequence, scope, capacity or date through authorised decisions.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short coordination cycles to surface impediments, hand-offs and support needs.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Address conflict through facts, interests, options and agreed action; do not infer personality or intent.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Acquire Resources and Manage the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same accessibility specialist is needed by content and test work in week 9.</a:t>
            </a:r>
          </a:p>
          <a:p>
            <a:pPr>
              <a:spcAft>
                <a:spcPts val="1000"/>
              </a:spcAft>
            </a:pPr>
            <a:r>
              <a:rPr sz="1600" b="0">
                <a:solidFill>
                  <a:srgbClr val="161B26"/>
                </a:solidFill>
                <a:latin typeface="Arial"/>
              </a:rPr>
              <a:t>•  The team sequences the reviews and protects the critical-path activity rather than assuming parallel capacity.</a:t>
            </a:r>
          </a:p>
          <a:p>
            <a:pPr>
              <a:spcAft>
                <a:spcPts val="1000"/>
              </a:spcAft>
            </a:pPr>
            <a:r>
              <a:rPr sz="1600" b="0">
                <a:solidFill>
                  <a:srgbClr val="161B26"/>
                </a:solidFill>
                <a:latin typeface="Arial"/>
              </a:rPr>
              <a:t>•  The resource plan records the change and the stakeholder update explains the trade-off.</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Planning or rebalancing capacity, clarifying responsibility and coordinating cross-functional work.</a:t>
            </a:r>
          </a:p>
          <a:p>
            <a:pPr>
              <a:spcAft>
                <a:spcPts val="1000"/>
              </a:spcAft>
            </a:pPr>
            <a:r>
              <a:rPr sz="1400" b="0">
                <a:solidFill>
                  <a:srgbClr val="5B6372"/>
                </a:solidFill>
                <a:latin typeface="Arial"/>
              </a:rPr>
              <a:t>–  A delivery delay may be caused by demand, skill or dependency rather than individual effort.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Using AI to rank people, infer sensitive characteristics or make employment decisions.</a:t>
            </a:r>
          </a:p>
          <a:p>
            <a:pPr>
              <a:spcAft>
                <a:spcPts val="1000"/>
              </a:spcAft>
            </a:pPr>
            <a:r>
              <a:rPr sz="1400" b="0">
                <a:solidFill>
                  <a:srgbClr val="5B6372"/>
                </a:solidFill>
                <a:latin typeface="Arial"/>
              </a:rPr>
              <a:t>–  Treating availability as 100 percent of working time or ignoring operational responsibilities.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Manage Quality and Deliverable Acceptance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Managing quality turns the quality plan into preventive practices, peer review, process checks, defect learning and improvement. Quality control checks deliverable results against criteria; scope validation obtains formal acceptance from the authorised stakeholder. These are related but distinct: a deliverable may meet an internal check yet still need customer acceptance.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Late inspection makes defects expensive and encourages subjective debate. Clear criteria and evidence let the team build quality into the work. GenAI can create checklists and classify defects from approved records, but the criteria and acceptance decision remain human-owned.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Manage Quality and Deliverable Acceptance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Translate each requirement into measurable acceptance criteria and a verification method.</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prevention, peer review and sampling during work; record defects with cause and corrective action.</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Present the deliverable, evidence and known limitations to the authorised acceptance owner.</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Capture accepted, conditionally accepted and rejected outcomes with actions and dates.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Manage Quality and Deliverable Acceptance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portal content must meet the agreed reading level, link integrity and accessibility checks.</a:t>
            </a:r>
          </a:p>
          <a:p>
            <a:pPr>
              <a:spcAft>
                <a:spcPts val="1000"/>
              </a:spcAft>
            </a:pPr>
            <a:r>
              <a:rPr sz="1600" b="0">
                <a:solidFill>
                  <a:srgbClr val="161B26"/>
                </a:solidFill>
                <a:latin typeface="Arial"/>
              </a:rPr>
              <a:t>•  A peer review catches missing alternative text before the acceptance demonstration.</a:t>
            </a:r>
          </a:p>
          <a:p>
            <a:pPr>
              <a:spcAft>
                <a:spcPts val="1000"/>
              </a:spcAft>
            </a:pPr>
            <a:r>
              <a:rPr sz="1600" b="0">
                <a:solidFill>
                  <a:srgbClr val="161B26"/>
                </a:solidFill>
                <a:latin typeface="Arial"/>
              </a:rPr>
              <a:t>•  The service director accepts the pilot after the evidence pack and two minor actions are recorded.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Defining done, preventing rework, preparing a review or obtaining deliverable acceptance.</a:t>
            </a:r>
          </a:p>
          <a:p>
            <a:pPr>
              <a:spcAft>
                <a:spcPts val="1000"/>
              </a:spcAft>
            </a:pPr>
            <a:r>
              <a:rPr sz="1400" b="0">
                <a:solidFill>
                  <a:srgbClr val="5B6372"/>
                </a:solidFill>
                <a:latin typeface="Arial"/>
              </a:rPr>
              <a:t>–  A quality dispute needs objective criteria, evidence and a named decision owner.</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Using an AI score as the sole evidence of quality or silently changing criteria after delivery.</a:t>
            </a:r>
          </a:p>
          <a:p>
            <a:pPr>
              <a:spcAft>
                <a:spcPts val="1000"/>
              </a:spcAft>
            </a:pPr>
            <a:r>
              <a:rPr sz="1400" b="0">
                <a:solidFill>
                  <a:srgbClr val="5B6372"/>
                </a:solidFill>
                <a:latin typeface="Arial"/>
              </a:rPr>
              <a:t>–  Confusing completion of internal work with formal acceptance of the deliverable.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Manage Communications and Stakeholder Engagement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Communication management creates, distributes, stores and retrieves project information for a defined purpose. Stakeholder engagement uses that information plus dialogue, participation and relationship actions to support decisions and adoption. Effective communication is measured by understanding and action, not by the volume of messages sent.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same status dump does not serve a sponsor, delivery team and affected user. GenAI is helpful for transforming one verified evidence set into audience-specific drafts, provided that facts, uncertainty, tone and calls to action are checked before release.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Manage Communications and Stakeholder Engagement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Start with the audience decision or action; include only the evidence needed for it.</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Separate completed facts, current forecast, variance, risks, decisions and asks.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Choose channel and cadence based on urgency, sensitivity, complexity and need for dialogue.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Confirm understanding, record decisions and update the engagement plan from observed response.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Manage Communications and Stakeholder Engagement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team receives a detailed blocker-and-owner view; the sponsor receives trend, tolerance, decision and recommendation.</a:t>
            </a:r>
          </a:p>
          <a:p>
            <a:pPr>
              <a:spcAft>
                <a:spcPts val="1000"/>
              </a:spcAft>
            </a:pPr>
            <a:r>
              <a:rPr sz="1600" b="0">
                <a:solidFill>
                  <a:srgbClr val="161B26"/>
                </a:solidFill>
                <a:latin typeface="Arial"/>
              </a:rPr>
              <a:t>•  Both versions use the same approved weekly data and preserve the same red status.</a:t>
            </a:r>
          </a:p>
          <a:p>
            <a:pPr>
              <a:spcAft>
                <a:spcPts val="1000"/>
              </a:spcAft>
            </a:pPr>
            <a:r>
              <a:rPr sz="1600" b="0">
                <a:solidFill>
                  <a:srgbClr val="161B26"/>
                </a:solidFill>
                <a:latin typeface="Arial"/>
              </a:rPr>
              <a:t>•  The project manager removes unsupported certainty from the AI draft before distribution.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Preparing status updates, decision briefs, change communications or adoption conversations.</a:t>
            </a:r>
          </a:p>
          <a:p>
            <a:pPr>
              <a:spcAft>
                <a:spcPts val="1000"/>
              </a:spcAft>
            </a:pPr>
            <a:r>
              <a:rPr sz="1400" b="0">
                <a:solidFill>
                  <a:srgbClr val="5B6372"/>
                </a:solidFill>
                <a:latin typeface="Arial"/>
              </a:rPr>
              <a:t>–  Several audiences need different levels of detail from the same verified source.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Using AI to manufacture positive sentiment, conceal bad news or impersonate a stakeholder.</a:t>
            </a:r>
          </a:p>
          <a:p>
            <a:pPr>
              <a:spcAft>
                <a:spcPts val="1000"/>
              </a:spcAft>
            </a:pPr>
            <a:r>
              <a:rPr sz="1400" b="0">
                <a:solidFill>
                  <a:srgbClr val="5B6372"/>
                </a:solidFill>
                <a:latin typeface="Arial"/>
              </a:rPr>
              <a:t>–  Sending generated text without checking names, figures, commitments and confidentiality.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Evidence-Led Status and Forecast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Evidence-led reporting reconciles approved baselines, a common status date and verified work, cost, quality, resource, risk, issue and decision records before drafting a message. Earned value uses planned value (PV), earned value (EV) and actual cost (AC) at the same cut-off: schedule variance SV = EV − PV, cost variance CV = EV − AC, SPI = EV ÷ PV and CPI = EV ÷ AC. Forecasts remain assumptions until their method, remaining-work estimate and owner are explicit.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polished status narrative can hide inconsistent dates, double-counted progress or unsupported optimism. A reconciled evidence table makes calculations reproducible and separates completed fact, current variance, forecast, risk, decision and ask. GenAI may transform the verified table for different audiences, but it must not calculate from mixed cut-offs or replace the project manager’s judgement.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Build Evidence-Led Status and Forecast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Freeze one status date and reconcile baseline, completion evidence, actual cost, remaining duration, defects, capacity, risks, issues and decisions.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Calculate PV, EV and AC from approved records; derive SV, CV, SPI and CPI and show units, formulas and rounding.</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Forecast EAC from an explicit assumption—for example BAC ÷ CPI when current cost efficiency is expected to continue—and record ETC and VAC.</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Draft team and sponsor views from the same evidence table; keep status, variance and uncertainty identical while changing detail, decision and ask.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Build Evidence-Led Status and Forecast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At week 8, PV is SGD 72,000, EV is SGD 60,000, AC is SGD 66,000 and BAC is SGD 105,000.</a:t>
            </a:r>
          </a:p>
          <a:p>
            <a:pPr>
              <a:spcAft>
                <a:spcPts val="1000"/>
              </a:spcAft>
            </a:pPr>
            <a:r>
              <a:rPr sz="1600" b="0">
                <a:solidFill>
                  <a:srgbClr val="161B26"/>
                </a:solidFill>
                <a:latin typeface="Arial"/>
              </a:rPr>
              <a:t>•  SV is −SGD 12,000, CV is −SGD 6,000, SPI is 0.83 and CPI is 0.91; if CPI continues, EAC is SGD 115,500.</a:t>
            </a:r>
          </a:p>
          <a:p>
            <a:pPr>
              <a:spcAft>
                <a:spcPts val="1000"/>
              </a:spcAft>
            </a:pPr>
            <a:r>
              <a:rPr sz="1600" b="0">
                <a:solidFill>
                  <a:srgbClr val="161B26"/>
                </a:solidFill>
                <a:latin typeface="Arial"/>
              </a:rPr>
              <a:t>•  The status remains red in both audience versions; the sponsor brief adds the decision needed while the team view adds owners and next-cycle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Preparing a weekly status pack, variance analysis, estimate at completion, recovery recommendation or decision brief.</a:t>
            </a:r>
          </a:p>
          <a:p>
            <a:pPr>
              <a:spcAft>
                <a:spcPts val="1000"/>
              </a:spcAft>
            </a:pPr>
            <a:r>
              <a:rPr sz="1400" b="0">
                <a:solidFill>
                  <a:srgbClr val="5B6372"/>
                </a:solidFill>
                <a:latin typeface="Arial"/>
              </a:rPr>
              <a:t>–  Different audiences need a consistent view of progress, cost, forecast, risk and action from one verified cut-off.</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Calculating earned value from unapproved scope, mixed status dates or progress percentages that lack completion evidence.</a:t>
            </a:r>
          </a:p>
          <a:p>
            <a:pPr>
              <a:spcAft>
                <a:spcPts val="1000"/>
              </a:spcAft>
            </a:pPr>
            <a:r>
              <a:rPr sz="1400" b="0">
                <a:solidFill>
                  <a:srgbClr val="5B6372"/>
                </a:solidFill>
                <a:latin typeface="Arial"/>
              </a:rPr>
              <a:t>–  Using AI narrative confidence to hide an adverse variance, omit uncertainty or make a forecast appear authorised.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Project Execution and Delivery with GenAI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Turn the Baseline into an Executable Delivery System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Manage Team Knowledge, Quality and Stakeholder Delivery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Evidence-Led Project Status Pack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Turn the Baseline into an Executable Delivery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transform the frozen Baseline v1.0 into a delivery board without changing its scope or dates. The exercise distinguishes planned, ready, active, blocked and done work, then creates a detailed brief for portal configuration with prerequisites, acceptance evidence and escalation rules.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03-delivery/delivery-board.csv, work-package-brief-WP-04.md and decision-log.csv that translate the baseline into controlled execution records.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Confirm readiness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Authorise work</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Track evidence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Log decisions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Lab 3 baseline · delivery-events.md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Turn the Baseline into an Executable Delivery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board must contain the same ten work packages, baseline durations and costs as Baseline v1.0. Every Ready or Active row must have readiness evidence, owner, next action and objective progress evidence. The WP-04 brief must contain all 15 requested sections and no added scope. The decision log must contain E02 as Pending decision with at least two viable options, and E03 must be routed to a change request without editing the baseline.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Manage Team Knowledge, Quality and Stakeholder Delivery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process synthetic capacity, meeting and defect evidence without inferring people’s intent. GenAI will extract candidate decisions and actions, while you confirm them against the source and update the resource, decision, quality and stakeholder records.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03-delivery/resource-and-raci-plan.csv, quality-and-acceptance-log.csv, meeting-record-ai-draft.md, meeting-record.md, stakeholder-engagement-update.md and delivery-handoff-checklist.md with confirmed owners and evidence.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Reconcile capacity</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Extract knowledge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Control quality</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Update engagement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delivery-events.md · Lab 2–4 records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Manage Team Knowledge, Quality and Stakeholder Delivery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400" b="0">
                <a:solidFill>
                  <a:srgbClr val="161B26"/>
                </a:solidFill>
                <a:latin typeface="Arial"/>
              </a:rPr>
              <a:t>The resource plan must use one row per resource role and show these E04 results: Accessibility Specialist -2/YES, Integration Engineer 0/NO, Content Lead -2/YES and Support Lead +1/NO for Variance_Days/Conflict. The meeting record must classify at least one decision, action, question, assumption, risk and lesson, each with evidence and confirmation status. The quality log must keep verification result separate from acceptance status and include owners for all corrective actions. The engagement update must use observable evidence and the handoff checklist must be saved as 03-delivery/delivery-handoff-checklist.md and contain all seven required items.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Evidence-Led Project Status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reconcile the baseline, delivery board and supplied week-8 update. You will calculate schedule and cost indicators in the spreadsheet before asking GenAI to draft narrative. The final pack distinguishes fact, forecast, risk, decision and ask for both sponsor and team audiences.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03-delivery/week-08-performance.csv and week-08-status-pack.md containing transparent calculations, source links, a sponsor decision brief and a delivery-team action view.</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Set status date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Calculate variance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Forecast outcome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Tailor the message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weekly-update-inputs.md · Lab 3–5 records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Evidence-Led Project Status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spreadsheet must show SV -SGD 12,000, CV -SGD 6,000, SPI 0.83, CPI 0.91, EAC SGD 115,500, ETC SGD 49,500 and VAC -SGD 10,500. The pack must show a 32-day forecast against the 28-day baseline, apply the stated status threshold consistently, contain source IDs for every material claim, preserve identical facts across sponsor and team views, and include a complete decision request plus nine-item next-cycle checklist.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Project Execution and Delivery with GenAI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direct and manage project work with owned work packages, dependencies and completion evidence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resolve delivery challenges through explicit capacity, knowledge, quality and engagement controls</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communicate project delivery status and budget challenges from verified work-performance evidence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Project Risks with GenAI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risk and issue response · procurement · monitor and control work · integrated change · scope, schedule, cost, quality, resources, communications, stakeholders and closure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Day 2 afternoon · 3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Manage Project Risks with GenAI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 response</a:t>
            </a:r>
          </a:p>
          <a:p>
            <a:pPr algn="l">
              <a:spcAft>
                <a:spcPts val="300"/>
              </a:spcAft>
            </a:pPr>
            <a:r>
              <a:rPr sz="1200" b="0">
                <a:solidFill>
                  <a:srgbClr val="5B6372"/>
                </a:solidFill>
                <a:latin typeface="Arial"/>
              </a:rPr>
              <a:t>Turn priority uncertainty into preventive action, triggers, contingencies, owners and residual exposure.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Integrated control</a:t>
            </a:r>
          </a:p>
          <a:p>
            <a:pPr algn="l">
              <a:spcAft>
                <a:spcPts val="300"/>
              </a:spcAft>
            </a:pPr>
            <a:r>
              <a:rPr sz="1200" b="0">
                <a:solidFill>
                  <a:srgbClr val="5B6372"/>
                </a:solidFill>
                <a:latin typeface="Arial"/>
              </a:rPr>
              <a:t>Compare actual and forecast performance with approved baselines and explain the cause and consequence.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control</a:t>
            </a:r>
          </a:p>
          <a:p>
            <a:pPr algn="l">
              <a:spcAft>
                <a:spcPts val="300"/>
              </a:spcAft>
            </a:pPr>
            <a:r>
              <a:rPr sz="1200" b="0">
                <a:solidFill>
                  <a:srgbClr val="5B6372"/>
                </a:solidFill>
                <a:latin typeface="Arial"/>
              </a:rPr>
              <a:t>Evaluate a proposed change across value, scope, schedule, cost, quality, resources, risk and contracts before deciding.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Forecast discipline</a:t>
            </a:r>
          </a:p>
          <a:p>
            <a:pPr algn="l">
              <a:spcAft>
                <a:spcPts val="300"/>
              </a:spcAft>
            </a:pPr>
            <a:r>
              <a:rPr sz="1200" b="0">
                <a:solidFill>
                  <a:srgbClr val="5B6372"/>
                </a:solidFill>
                <a:latin typeface="Arial"/>
              </a:rPr>
              <a:t>Use transparent formulas and assumptions; treat AI narrative as a draft around verified numbers.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Acceptance and transition</a:t>
            </a:r>
          </a:p>
          <a:p>
            <a:pPr algn="l">
              <a:spcAft>
                <a:spcPts val="300"/>
              </a:spcAft>
            </a:pPr>
            <a:r>
              <a:rPr sz="1200" b="0">
                <a:solidFill>
                  <a:srgbClr val="5B6372"/>
                </a:solidFill>
                <a:latin typeface="Arial"/>
              </a:rPr>
              <a:t>Close only after deliverables, obligations, handover, records and open actions have named owners.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Learning loop</a:t>
            </a:r>
          </a:p>
          <a:p>
            <a:pPr algn="l">
              <a:spcAft>
                <a:spcPts val="300"/>
              </a:spcAft>
            </a:pPr>
            <a:r>
              <a:rPr sz="1200" b="0">
                <a:solidFill>
                  <a:srgbClr val="5B6372"/>
                </a:solidFill>
                <a:latin typeface="Arial"/>
              </a:rPr>
              <a:t>Capture reusable lessons with context, evidence and a future action, then feed them into the next project.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Implement Risk Responses and Manage Issues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risk is an uncertain event or condition that may affect objectives; an issue is a condition that has occurred and needs action. Response planning selects a strategy, owner, preventive action, trigger, contingency and fallback. Implementation executes those actions and checks whether exposure has changed or secondary risks have appeared.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colourful risk register does not reduce exposure. Actionable records connect priority uncertainty to funded, scheduled work and decision triggers. GenAI can challenge causes, consequences and response completeness, but probability, impact and ownership must be grounded in project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Implement Risk Responses and Manage Issues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Write cause–event–effect risk statements and distinguish them from current issues.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Score probability and impact with defined anchors; prioritise by exposure and risk tolerance.</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Choose avoid, mitigate, transfer, accept or escalate for threats; exploit, enhance, share, accept or escalate for opportunities.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Track preventive action, trigger, contingency, residual exposure and owner at each review.</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Implement Risk Responses and Manage Issues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Cause: supplier API access may be delayed; event: test access is unavailable by week 8; effect: integration testing and launch move.</a:t>
            </a:r>
          </a:p>
          <a:p>
            <a:pPr>
              <a:spcAft>
                <a:spcPts val="1000"/>
              </a:spcAft>
            </a:pPr>
            <a:r>
              <a:rPr sz="1600" b="0">
                <a:solidFill>
                  <a:srgbClr val="161B26"/>
                </a:solidFill>
                <a:latin typeface="Arial"/>
              </a:rPr>
              <a:t>•  Mitigation secures a sandbox date; trigger is no confirmed access by Friday; contingency uses a stub for non-production testing.</a:t>
            </a:r>
          </a:p>
          <a:p>
            <a:pPr>
              <a:spcAft>
                <a:spcPts val="1000"/>
              </a:spcAft>
            </a:pPr>
            <a:r>
              <a:rPr sz="1600" b="0">
                <a:solidFill>
                  <a:srgbClr val="161B26"/>
                </a:solidFill>
                <a:latin typeface="Arial"/>
              </a:rPr>
              <a:t>•  When access misses the trigger, the record becomes an issue and the contingency starts.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Preparing risk reviews, selecting response actions or converting a triggered risk into issue work.</a:t>
            </a:r>
          </a:p>
          <a:p>
            <a:pPr>
              <a:spcAft>
                <a:spcPts val="1000"/>
              </a:spcAft>
            </a:pPr>
            <a:r>
              <a:rPr sz="1400" b="0">
                <a:solidFill>
                  <a:srgbClr val="5B6372"/>
                </a:solidFill>
                <a:latin typeface="Arial"/>
              </a:rPr>
              <a:t>–  The team needs a consistent way to compare threats, opportunities and response urgency.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Inventing probabilities from no data or asking AI to own a risk.</a:t>
            </a:r>
          </a:p>
          <a:p>
            <a:pPr>
              <a:spcAft>
                <a:spcPts val="1000"/>
              </a:spcAft>
            </a:pPr>
            <a:r>
              <a:rPr sz="1400" b="0">
                <a:solidFill>
                  <a:srgbClr val="5B6372"/>
                </a:solidFill>
                <a:latin typeface="Arial"/>
              </a:rPr>
              <a:t>–  Listing vague concerns with no cause, effect, trigger, action, date or responsible owner.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Conduct and Control Procurements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Procurement management selects an appropriate sourcing approach, defines requirements and evaluation criteria, obtains authorised offers, manages contract interfaces and monitors supplier performance. Project controls must include supplier deliverables, dependencies, costs, risks, changes, acceptance and obligations.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cheapest offer is not necessarily the best value, and an AI-generated comparison can hide missing criteria or inconsistent evidence. A weighted decision matrix makes approved criteria and evidence visible while preserving accountable commercial judgement.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Conduct and Control Procurements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Confirm make-or-buy rationale, scope, acceptance, lead time, data handling, interfaces and decision authority.</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Define weighted criteria and scoring anchors before reviewing offers.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Score only supplied evidence, record clarifications and apply required commercial and legal review.</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Monitor supplier milestones, quality, invoices, risks, changes and closure obligations against the agreement.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Conduct and Control Procurements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Three accessibility-review offers are compared on capability, approach, lead time, evidence and cost.</a:t>
            </a:r>
          </a:p>
          <a:p>
            <a:pPr>
              <a:spcAft>
                <a:spcPts val="1000"/>
              </a:spcAft>
            </a:pPr>
            <a:r>
              <a:rPr sz="1600" b="0">
                <a:solidFill>
                  <a:srgbClr val="161B26"/>
                </a:solidFill>
                <a:latin typeface="Arial"/>
              </a:rPr>
              <a:t>•  AI extracts comparable fields, but missing evidence receives no invented score and procurement validates the source.</a:t>
            </a:r>
          </a:p>
          <a:p>
            <a:pPr>
              <a:spcAft>
                <a:spcPts val="1000"/>
              </a:spcAft>
            </a:pPr>
            <a:r>
              <a:rPr sz="1600" b="0">
                <a:solidFill>
                  <a:srgbClr val="161B26"/>
                </a:solidFill>
                <a:latin typeface="Arial"/>
              </a:rPr>
              <a:t>•  The selected supplier's dates and acceptance evidence are integrated into the project baseline.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Planning a purchase, comparing offers or monitoring external deliverables and obligations.</a:t>
            </a:r>
          </a:p>
          <a:p>
            <a:pPr>
              <a:spcAft>
                <a:spcPts val="1000"/>
              </a:spcAft>
            </a:pPr>
            <a:r>
              <a:rPr sz="1400" b="0">
                <a:solidFill>
                  <a:srgbClr val="5B6372"/>
                </a:solidFill>
                <a:latin typeface="Arial"/>
              </a:rPr>
              <a:t>–  A supplier dependency affects the critical path, quality, risk or acceptance.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Sharing confidential offers with an unapproved AI service or delegating the award decision to AI.</a:t>
            </a:r>
          </a:p>
          <a:p>
            <a:pPr>
              <a:spcAft>
                <a:spcPts val="1000"/>
              </a:spcAft>
            </a:pPr>
            <a:r>
              <a:rPr sz="1400" b="0">
                <a:solidFill>
                  <a:srgbClr val="5B6372"/>
                </a:solidFill>
                <a:latin typeface="Arial"/>
              </a:rPr>
              <a:t>–  Changing supplier scope informally without authorised project and contract change records.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Monitor and Control Project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Monitoring and control compare actual and forecast results with the approved plan, analyse variance and trends, evaluate consequences and recommend action. Useful control integrates scope, schedule, cost, quality, resources, risks, communications and supplier information at a consistent status date.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Percent complete and traffic-light colours can obscure the basis of a forecast. Controls are credible when they use traceable source data, defined thresholds and transparent calculations. GenAI may explain verified results and find contradictions, but it should not calculate from ambiguous fields or rewrite a red condition as green.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Monitor and Control Project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Set one status date and collect actual starts, finishes, remaining duration, costs, completion evidence and open actions.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Compare against scope, schedule and cost baselines; identify cause, consequence, owner and corrective option.</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trend and forecast measures with stated assumptions; keep source data and narrative linked.</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Escalate forecast breaches and decisions according to tolerance and governance rules.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Monitor and Control Project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At week 8: planned value is SGD 72,000, earned value SGD 60,000 and actual cost SGD 66,000.</a:t>
            </a:r>
          </a:p>
          <a:p>
            <a:pPr>
              <a:spcAft>
                <a:spcPts val="1000"/>
              </a:spcAft>
            </a:pPr>
            <a:r>
              <a:rPr sz="1600" b="0">
                <a:solidFill>
                  <a:srgbClr val="161B26"/>
                </a:solidFill>
                <a:latin typeface="Arial"/>
              </a:rPr>
              <a:t>•  Schedule performance index = 60/72 = 0.83; cost performance index = 60/66 = 0.91.</a:t>
            </a:r>
          </a:p>
          <a:p>
            <a:pPr>
              <a:spcAft>
                <a:spcPts val="1000"/>
              </a:spcAft>
            </a:pPr>
            <a:r>
              <a:rPr sz="1600" b="0">
                <a:solidFill>
                  <a:srgbClr val="161B26"/>
                </a:solidFill>
                <a:latin typeface="Arial"/>
              </a:rPr>
              <a:t>•  The project is behind plan and over cost for the work achieved; the report explains the integration-test dependency and recovery options.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Preparing a status review, diagnosing variance or forecasting whether objectives remain achievable.</a:t>
            </a:r>
          </a:p>
          <a:p>
            <a:pPr>
              <a:spcAft>
                <a:spcPts val="1000"/>
              </a:spcAft>
            </a:pPr>
            <a:r>
              <a:rPr sz="1400" b="0">
                <a:solidFill>
                  <a:srgbClr val="5B6372"/>
                </a:solidFill>
                <a:latin typeface="Arial"/>
              </a:rPr>
              <a:t>–  Several control dimensions must be reconciled before a decision.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Using narrative confidence without source data, a status date or baseline reference.</a:t>
            </a:r>
          </a:p>
          <a:p>
            <a:pPr>
              <a:spcAft>
                <a:spcPts val="1000"/>
              </a:spcAft>
            </a:pPr>
            <a:r>
              <a:rPr sz="1400" b="0">
                <a:solidFill>
                  <a:srgbClr val="5B6372"/>
                </a:solidFill>
                <a:latin typeface="Arial"/>
              </a:rPr>
              <a:t>–  Applying earned-value formulas when scope, schedule and cost are not integrated enough to support them.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Perform Integrated Change Control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Integrated change control records a proposed change, analyses its total impact, obtains a decision from the authorised body and updates affected baselines and records only after approval. It also communicates the decision and verifies implementation. Change control protects value and traceability; it is not a promise to reject change.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small feature can alter design, testing, schedule, cost, support, supplier work and risk. GenAI is useful for building an impact checklist and comparing options, but its proposal must be reconciled with the WBS, schedule, estimates, contracts and stakeholder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Perform Integrated Change Control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Log the request with reason, value, urgency, requester and affected requirement or deliverable.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Analyse options across scope, schedule, cost, quality, resources, risk, procurement, operations and benefits.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Recommend approve, reject, defer or request more information; record decision, authority and rationale.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After approval, update every affected baseline, plan, log, communication and work authorisation.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Perform Integrated Change Control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bilingual FAQ is requested in week 8. The analysis adds content, translation, accessibility checks and support training.</a:t>
            </a:r>
          </a:p>
          <a:p>
            <a:pPr>
              <a:spcAft>
                <a:spcPts val="1000"/>
              </a:spcAft>
            </a:pPr>
            <a:r>
              <a:rPr sz="1600" b="0">
                <a:solidFill>
                  <a:srgbClr val="161B26"/>
                </a:solidFill>
                <a:latin typeface="Arial"/>
              </a:rPr>
              <a:t>•  Option A adds SGD 9,000 and eight working days; option B pilots ten priority articles within tolerance.</a:t>
            </a:r>
          </a:p>
          <a:p>
            <a:pPr>
              <a:spcAft>
                <a:spcPts val="1000"/>
              </a:spcAft>
            </a:pPr>
            <a:r>
              <a:rPr sz="1600" b="0">
                <a:solidFill>
                  <a:srgbClr val="161B26"/>
                </a:solidFill>
                <a:latin typeface="Arial"/>
              </a:rPr>
              <a:t>•  The sponsor approves option B; scope, schedule, cost, risk and stakeholder records are updated together.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requirement, deliverable, baseline, contract or control threshold may change.</a:t>
            </a:r>
          </a:p>
          <a:p>
            <a:pPr>
              <a:spcAft>
                <a:spcPts val="1000"/>
              </a:spcAft>
            </a:pPr>
            <a:r>
              <a:rPr sz="1400" b="0">
                <a:solidFill>
                  <a:srgbClr val="5B6372"/>
                </a:solidFill>
                <a:latin typeface="Arial"/>
              </a:rPr>
              <a:t>–  The team needs a traceable decision and coordinated update across project records.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Implementing the request before authorisation or updating only the schedule while leaving scope and cost unchanged.</a:t>
            </a:r>
          </a:p>
          <a:p>
            <a:pPr>
              <a:spcAft>
                <a:spcPts val="1000"/>
              </a:spcAft>
            </a:pPr>
            <a:r>
              <a:rPr sz="1400" b="0">
                <a:solidFill>
                  <a:srgbClr val="5B6372"/>
                </a:solidFill>
                <a:latin typeface="Arial"/>
              </a:rPr>
              <a:t>–  Treating an AI recommendation as approval or omitting rejected options and rationale.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Control Scope, Schedule, Costs, Quality and Resources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Control maintains alignment between approved baselines and actual work. Scope control prevents unapproved expansion and preserves traceability; schedule control updates logic and forecasts; cost control tracks actuals and estimates; quality control evaluates results; resource control compares required and available capability. Corrective action is integrated because one dimension can shift another.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Local optimisation can worsen the whole project—for example, adding people may increase cost and coordination load without recovering a late dependency. A control decision should state evidence, options, trade-offs and the authorised path.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Control Scope, Schedule, Costs, Quality and Resources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Trace every current work item to approved scope and route additions through change control.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Update remaining duration and dependency logic before forecasting dates; analyse critical and near-critical paths.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Compare budget, actual cost, committed cost and estimate to complete using consistent cut-off dates.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Review defects, capacity, supplier results and risks together before recommending action.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Control Scope, Schedule, Costs, Quality and Resources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Integration testing is late because supplier access moved, not because test effort increased.</a:t>
            </a:r>
          </a:p>
          <a:p>
            <a:pPr>
              <a:spcAft>
                <a:spcPts val="1000"/>
              </a:spcAft>
            </a:pPr>
            <a:r>
              <a:rPr sz="1600" b="0">
                <a:solidFill>
                  <a:srgbClr val="161B26"/>
                </a:solidFill>
                <a:latin typeface="Arial"/>
              </a:rPr>
              <a:t>•  The team protects acceptance criteria, resequences training preparation and uses the authorised stub contingency.</a:t>
            </a:r>
          </a:p>
          <a:p>
            <a:pPr>
              <a:spcAft>
                <a:spcPts val="1000"/>
              </a:spcAft>
            </a:pPr>
            <a:r>
              <a:rPr sz="1600" b="0">
                <a:solidFill>
                  <a:srgbClr val="161B26"/>
                </a:solidFill>
                <a:latin typeface="Arial"/>
              </a:rPr>
              <a:t>•  The forecast, cost impact, residual risk and stakeholder message are updated from the same decision.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Correcting performance, reforecasting, protecting scope or deciding how to use limited capacity.</a:t>
            </a:r>
          </a:p>
          <a:p>
            <a:pPr>
              <a:spcAft>
                <a:spcPts val="1000"/>
              </a:spcAft>
            </a:pPr>
            <a:r>
              <a:rPr sz="1400" b="0">
                <a:solidFill>
                  <a:srgbClr val="5B6372"/>
                </a:solidFill>
                <a:latin typeface="Arial"/>
              </a:rPr>
              <a:t>–  A variance crosses tolerance or affects another baseline dimension.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Changing a baseline to make current performance look acceptable.</a:t>
            </a:r>
          </a:p>
          <a:p>
            <a:pPr>
              <a:spcAft>
                <a:spcPts val="1000"/>
              </a:spcAft>
            </a:pPr>
            <a:r>
              <a:rPr sz="1400" b="0">
                <a:solidFill>
                  <a:srgbClr val="5B6372"/>
                </a:solidFill>
                <a:latin typeface="Arial"/>
              </a:rPr>
              <a:t>–  Recommending action from one metric without analysing consequences for quality, risk, people and value.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Monitor Communications, Stakeholders and Risks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Monitoring checks whether communication is reaching the right people in time, whether stakeholder engagement is moving toward the desired state and whether risk exposure and response effectiveness have changed. The team updates plans from evidence such as decisions delayed, questions repeated, actions missed, sentiment expressed directly and triggers observed.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communication can be sent yet fail to produce understanding or action. Stakeholder and risk conditions also change as delivery progresses. GenAI can cluster feedback and surface contradictions from approved material, but it must not infer hidden motives or treat sentiment labels as facts.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Monitor Communications, Stakeholders and Risks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Compare planned and actual communication by audience, purpose, timing, reach and required action.</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Review current versus desired engagement using direct evidence and update owners and actions.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Re-score risks after responses, identify emerging and secondary risks and close only when criteria are met.</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Escalate when information, engagement or exposure crosses the defined threshold.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Monitor Communications, Stakeholders and Risks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Support agents repeat the same launch-readiness question, showing that the FAQ update did not create understanding.</a:t>
            </a:r>
          </a:p>
          <a:p>
            <a:pPr>
              <a:spcAft>
                <a:spcPts val="1000"/>
              </a:spcAft>
            </a:pPr>
            <a:r>
              <a:rPr sz="1600" b="0">
                <a:solidFill>
                  <a:srgbClr val="161B26"/>
                </a:solidFill>
                <a:latin typeface="Arial"/>
              </a:rPr>
              <a:t>•  The project replaces a one-way email with a live walkthrough and captures unresolved questions.</a:t>
            </a:r>
          </a:p>
          <a:p>
            <a:pPr>
              <a:spcAft>
                <a:spcPts val="1000"/>
              </a:spcAft>
            </a:pPr>
            <a:r>
              <a:rPr sz="1600" b="0">
                <a:solidFill>
                  <a:srgbClr val="161B26"/>
                </a:solidFill>
                <a:latin typeface="Arial"/>
              </a:rPr>
              <a:t>•  The adoption risk score and communication plan are updated after the session.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Checking the effectiveness of a status cycle, change communication, adoption activity or risk response.</a:t>
            </a:r>
          </a:p>
          <a:p>
            <a:pPr>
              <a:spcAft>
                <a:spcPts val="1000"/>
              </a:spcAft>
            </a:pPr>
            <a:r>
              <a:rPr sz="1400" b="0">
                <a:solidFill>
                  <a:srgbClr val="5B6372"/>
                </a:solidFill>
                <a:latin typeface="Arial"/>
              </a:rPr>
              <a:t>–  A stakeholder delay or misunderstanding threatens a milestone or acceptance.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Inferring private attitudes from sparse text or storing unnecessary personal commentary.</a:t>
            </a:r>
          </a:p>
          <a:p>
            <a:pPr>
              <a:spcAft>
                <a:spcPts val="1000"/>
              </a:spcAft>
            </a:pPr>
            <a:r>
              <a:rPr sz="1400" b="0">
                <a:solidFill>
                  <a:srgbClr val="5B6372"/>
                </a:solidFill>
                <a:latin typeface="Arial"/>
              </a:rPr>
              <a:t>–  Closing a risk because an action was completed without checking residual exposure.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Close the Project or Phase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Closure confirms that approved work is complete or formally transferred, acceptance is recorded, contracts and obligations are settled, operations can support the outcome, records are archived, remaining actions have owners and lessons are reusable. Closure may also document an authorised early termination and its consequences.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launch date is not the same as closure. Unaccepted deliverables, open supplier obligations, unsupported operations or undocumented decisions create hidden work and risk. GenAI can help compile a closeout pack from verified records, but each acceptance, financial and contractual fact needs an authoritative source.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It Works — Close the Project or Phase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Reconcile charter objectives, requirements, deliverables, acceptance records and approved changes.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transition, support, data, access, supplier, financial and records-management actions.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Assign every residual action, risk and benefit measure to an operational owner with a date.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Capture lessons as context–action–result–recommendation and publish them where future teams can find them.</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Close the Project or Phase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pilot is accepted with two minor actions transferred to the service owner and dated.</a:t>
            </a:r>
          </a:p>
          <a:p>
            <a:pPr>
              <a:spcAft>
                <a:spcPts val="1000"/>
              </a:spcAft>
            </a:pPr>
            <a:r>
              <a:rPr sz="1600" b="0">
                <a:solidFill>
                  <a:srgbClr val="161B26"/>
                </a:solidFill>
                <a:latin typeface="Arial"/>
              </a:rPr>
              <a:t>•  Supplier acceptance, final invoice, access removal, support runbook and benefits review are recorded.</a:t>
            </a:r>
          </a:p>
          <a:p>
            <a:pPr>
              <a:spcAft>
                <a:spcPts val="1000"/>
              </a:spcAft>
            </a:pPr>
            <a:r>
              <a:rPr sz="1600" b="0">
                <a:solidFill>
                  <a:srgbClr val="161B26"/>
                </a:solidFill>
                <a:latin typeface="Arial"/>
              </a:rPr>
              <a:t>•  A lesson about early content approval includes evidence, consequence and a reusable planning action.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Completing a project or phase, transitioning ownership or documenting an authorised stop.</a:t>
            </a:r>
          </a:p>
          <a:p>
            <a:pPr>
              <a:spcAft>
                <a:spcPts val="1000"/>
              </a:spcAft>
            </a:pPr>
            <a:r>
              <a:rPr sz="1400" b="0">
                <a:solidFill>
                  <a:srgbClr val="5B6372"/>
                </a:solidFill>
                <a:latin typeface="Arial"/>
              </a:rPr>
              <a:t>–  Preparing an evidence pack for sponsor confirmation and future project reuse.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Declaring closure because the team stopped working or because an AI summary says all items are complete.</a:t>
            </a:r>
          </a:p>
          <a:p>
            <a:pPr>
              <a:spcAft>
                <a:spcPts val="1000"/>
              </a:spcAft>
            </a:pPr>
            <a:r>
              <a:rPr sz="1400" b="0">
                <a:solidFill>
                  <a:srgbClr val="5B6372"/>
                </a:solidFill>
                <a:latin typeface="Arial"/>
              </a:rPr>
              <a:t>–  Leaving open actions, risks, benefits or support obligations without named operational owners.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Manage Project Risks with GenAI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Risk, Issue and Procurement Response Cockpit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Integrated Change Control and Baseline Impact Analysis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Close the Project and Capture Reusable Lessons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Risk, Issue and Procurement Response Cockpit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refresh the initial risk register at the week-8 status date, distinguish triggered risks from current issues and compare three synthetic accessibility-review offers against criteria written in Lab 3. GenAI may structure evidence and challenge gaps, but final scores, owners and recommendation remain human-owned.</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04-control/risk-issue-cockpit.csv, procurement-comparison.csv and response-brief.md with current exposure, triggered actions, weighted supplier evidence and integrated project impacts.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Refresh exposure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Trigger responses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Score offers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Integrate actions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risk-issue-inputs.csv · vendor-bids.csv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Risk, Issue and Procurement Response Cockpit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500" b="0">
                <a:solidFill>
                  <a:srgbClr val="161B26"/>
                </a:solidFill>
                <a:latin typeface="Arial"/>
              </a:rPr>
              <a:t>All five initial risks must appear in the cockpit, with week-8 status, trigger result, current or residual exposure, owned action and review point. Conditions that have occurred must have Issue_IDs and must not remain worded only as future uncertainty. Procurement weights must remain unchanged and totals must be Vendor A 3.90, Vendor B 4.10 and Vendor C 3.70. The response brief must recommend—not award—Vendor B, integrate eight impact dimensions and contain the stated monitoring cadence.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Integrated Change Control and Baseline Impact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evaluate a request for bilingual pilot content at week 8. The exercise prevents a useful feature from bypassing scope, schedule, cost, quality, resource, risk, supplier, communication and operational review. You will model options, record the synthetic sponsor decision and publish a traceable Baseline v1.1.</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04-control/change-log.csv, change-impact-analysis-CR-004.md, baseline-v1.1.csv and change-implementation-checklist.md with an approved, fully traced incremental change.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Log the request</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Analyse options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Record the decision</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Update controlled records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change-request-CR-004.md · Labs 3, 6 and 7 records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Integrated Change Control and Baseline Impact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500" b="0">
                <a:solidFill>
                  <a:srgbClr val="161B26"/>
                </a:solidFill>
                <a:latin typeface="Arial"/>
              </a:rPr>
              <a:t>CR-004 must have a complete request record, four analysed options and at least 12 impact dimensions. The analysis must show full scope at +SGD 9,000/+8 days and the approved pilot at +SGD 3,500/+3 days. Baseline v1.1 must show SGD 108,500 work budget, SGD 11,500 remaining contingency, unchanged SGD 120,000 authorised total and 31 working days. The implementation checklist must contain all 12 controlled-record updates with owner, evidence and verifier. Baseline v1.1 must add WP-09A and make WP-10 depend on it, while week8-performance.csv, delivery-board.csv and the week-8 status pack remain frozen and unchanged.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Close the Project and Capture Reusable Lessons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the final synthetic evidence to determine whether the BeaconWorks pilot is ready to close. GenAI will help compile and challenge the pack, while you trace each statement to final records, transfer remaining actions and benefits, and record the synthetic sponsor’s closure decision.</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05-closure/closeout-checklist.csv, project-closeout-report.md, transition-and-benefits-plan.md and lessons-register.csv with formal acceptance, residual ownership and reusable context.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Reconcile completion</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Confirm acceptance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Transition ownership</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Publish lessons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closure-inputs.md · complete Labs 1–8 portfolio</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Close the Project and Capture Reusable Lessons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500" b="0">
                <a:solidFill>
                  <a:srgbClr val="161B26"/>
                </a:solidFill>
                <a:latin typeface="Arial"/>
              </a:rPr>
              <a:t>The checklist must cover all 14 named categories, trace each completion or acceptance to evidence and show no unresolved Closure_Blocker. Every residual action, risk and benefit must have one owner and date in the transition plan. The lessons register must contain at least six evidence-backed C-A-R-R records with reuse triggers. The closeout report must contain all 14 named report sections plus the completed Claim verification table, reconcile final schedule and cost with the supplied evidence, record the sponsor closure decision and point to the final records location.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Manage Project Risks with GenAI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anticipate and implement risk, issue and supplier responses from verified evidence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evaluate and decide a project change across all affected controls with GenAI support</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LO4: validate scope, obtain acceptance, transition ownership and close with traceable records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Initiate &amp; Plan</a:t>
            </a:r>
          </a:p>
          <a:p>
            <a:pPr algn="l">
              <a:spcAft>
                <a:spcPts val="300"/>
              </a:spcAft>
            </a:pPr>
            <a:r>
              <a:rPr sz="1300" b="0">
                <a:solidFill>
                  <a:srgbClr val="5B6372"/>
                </a:solidFill>
                <a:latin typeface="Arial"/>
              </a:rPr>
              <a:t>Develop project parameters and an integrated project plan with GenAI according to business requirements.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Execute &amp; Deliver</a:t>
            </a:r>
          </a:p>
          <a:p>
            <a:pPr algn="l">
              <a:spcAft>
                <a:spcPts val="300"/>
              </a:spcAft>
            </a:pPr>
            <a:r>
              <a:rPr sz="1300" b="0">
                <a:solidFill>
                  <a:srgbClr val="5B6372"/>
                </a:solidFill>
                <a:latin typeface="Arial"/>
              </a:rPr>
              <a:t>Resolve project delivery challenges by using GenAI to support people, knowledge, quality, communications, resources and budgets.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Respond &amp; Change</a:t>
            </a:r>
          </a:p>
          <a:p>
            <a:pPr algn="l">
              <a:spcAft>
                <a:spcPts val="300"/>
              </a:spcAft>
            </a:pPr>
            <a:r>
              <a:rPr sz="1300" b="0">
                <a:solidFill>
                  <a:srgbClr val="5B6372"/>
                </a:solidFill>
                <a:latin typeface="Arial"/>
              </a:rPr>
              <a:t>Anticipate, monitor and respond to project risks and changes with GenAI while keeping decisions evidence-led and human-owned.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Control &amp; Close</a:t>
            </a:r>
          </a:p>
          <a:p>
            <a:pPr algn="l">
              <a:spcAft>
                <a:spcPts val="300"/>
              </a:spcAft>
            </a:pPr>
            <a:r>
              <a:rPr sz="1300" b="0">
                <a:solidFill>
                  <a:srgbClr val="5B6372"/>
                </a:solidFill>
                <a:latin typeface="Arial"/>
              </a:rPr>
              <a:t>Control project performance, obtain acceptance and close a project or phase with traceable records and reusable lessons.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C013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